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1987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10607040" y="731520"/>
            <a:ext cx="329184" cy="329184"/>
          </a:xfrm>
          <a:prstGeom prst="ellipse">
            <a:avLst/>
          </a:prstGeom>
          <a:solidFill>
            <a:srgbClr val="1C7293"/>
          </a:solidFill>
          <a:ln/>
        </p:spPr>
      </p:sp>
      <p:sp>
        <p:nvSpPr>
          <p:cNvPr id="3" name="Shape 1"/>
          <p:cNvSpPr/>
          <p:nvPr/>
        </p:nvSpPr>
        <p:spPr>
          <a:xfrm>
            <a:off x="11247120" y="1371600"/>
            <a:ext cx="182880" cy="182880"/>
          </a:xfrm>
          <a:prstGeom prst="ellipse">
            <a:avLst/>
          </a:prstGeom>
          <a:solidFill>
            <a:srgbClr val="1C7293"/>
          </a:solidFill>
          <a:ln/>
        </p:spPr>
      </p:sp>
      <p:sp>
        <p:nvSpPr>
          <p:cNvPr id="4" name="Shape 2"/>
          <p:cNvSpPr/>
          <p:nvPr/>
        </p:nvSpPr>
        <p:spPr>
          <a:xfrm>
            <a:off x="640080" y="6035040"/>
            <a:ext cx="256032" cy="256032"/>
          </a:xfrm>
          <a:prstGeom prst="ellipse">
            <a:avLst/>
          </a:prstGeom>
          <a:solidFill>
            <a:srgbClr val="1C7293"/>
          </a:solidFill>
          <a:ln/>
        </p:spPr>
      </p:sp>
      <p:sp>
        <p:nvSpPr>
          <p:cNvPr id="5" name="Shape 3"/>
          <p:cNvSpPr/>
          <p:nvPr/>
        </p:nvSpPr>
        <p:spPr>
          <a:xfrm>
            <a:off x="1188720" y="6309360"/>
            <a:ext cx="146304" cy="146304"/>
          </a:xfrm>
          <a:prstGeom prst="ellipse">
            <a:avLst/>
          </a:prstGeom>
          <a:solidFill>
            <a:srgbClr val="1C7293"/>
          </a:solidFill>
          <a:ln/>
        </p:spPr>
      </p:sp>
      <p:sp>
        <p:nvSpPr>
          <p:cNvPr id="6" name="Shape 4"/>
          <p:cNvSpPr/>
          <p:nvPr/>
        </p:nvSpPr>
        <p:spPr>
          <a:xfrm>
            <a:off x="10881360" y="6126480"/>
            <a:ext cx="219456" cy="219456"/>
          </a:xfrm>
          <a:prstGeom prst="ellipse">
            <a:avLst/>
          </a:prstGeom>
          <a:solidFill>
            <a:srgbClr val="1C7293"/>
          </a:solidFill>
          <a:ln/>
        </p:spPr>
      </p:sp>
      <p:pic>
        <p:nvPicPr>
          <p:cNvPr id="7" name="Image 0" descr="preencoded.png"/>
          <p:cNvPicPr>
            <a:picLocks noChangeAspect="1"/>
          </p:cNvPicPr>
          <p:nvPr/>
        </p:nvPicPr>
        <p:blipFill>
          <a:blip r:embed="rId3"/>
          <a:stretch>
            <a:fillRect/>
          </a:stretch>
        </p:blipFill>
        <p:spPr>
          <a:xfrm>
            <a:off x="822960" y="914400"/>
            <a:ext cx="822960" cy="822960"/>
          </a:xfrm>
          <a:prstGeom prst="rect">
            <a:avLst/>
          </a:prstGeom>
        </p:spPr>
      </p:pic>
      <p:sp>
        <p:nvSpPr>
          <p:cNvPr id="8" name="Text 5"/>
          <p:cNvSpPr/>
          <p:nvPr/>
        </p:nvSpPr>
        <p:spPr>
          <a:xfrm>
            <a:off x="822960" y="2286000"/>
            <a:ext cx="10515600" cy="118872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HUMAN ACTIVITY PATTERN DISCOVERY</a:t>
            </a:r>
            <a:endParaRPr lang="en-US" sz="4000" dirty="0"/>
          </a:p>
        </p:txBody>
      </p:sp>
      <p:sp>
        <p:nvSpPr>
          <p:cNvPr id="9" name="Text 6"/>
          <p:cNvSpPr/>
          <p:nvPr/>
        </p:nvSpPr>
        <p:spPr>
          <a:xfrm>
            <a:off x="822960" y="3246120"/>
            <a:ext cx="10515600" cy="548640"/>
          </a:xfrm>
          <a:prstGeom prst="rect">
            <a:avLst/>
          </a:prstGeom>
          <a:noFill/>
          <a:ln/>
        </p:spPr>
        <p:txBody>
          <a:bodyPr wrap="square" rtlCol="0" anchor="ctr"/>
          <a:lstStyle/>
          <a:p>
            <a:pPr marL="0" indent="0">
              <a:buNone/>
            </a:pPr>
            <a:r>
              <a:rPr lang="en-US" sz="2200" dirty="0">
                <a:solidFill>
                  <a:srgbClr val="CADCFC"/>
                </a:solidFill>
                <a:latin typeface="Calibri" pitchFamily="34" charset="0"/>
                <a:ea typeface="Calibri" pitchFamily="34" charset="-122"/>
                <a:cs typeface="Calibri" pitchFamily="34" charset="-120"/>
              </a:rPr>
              <a:t>Using Smartphone Sensor Data</a:t>
            </a:r>
            <a:endParaRPr lang="en-US" sz="2200" dirty="0"/>
          </a:p>
        </p:txBody>
      </p:sp>
      <p:sp>
        <p:nvSpPr>
          <p:cNvPr id="10" name="Shape 7"/>
          <p:cNvSpPr/>
          <p:nvPr/>
        </p:nvSpPr>
        <p:spPr>
          <a:xfrm>
            <a:off x="868680" y="3977640"/>
            <a:ext cx="1188720" cy="32004"/>
          </a:xfrm>
          <a:prstGeom prst="rect">
            <a:avLst/>
          </a:prstGeom>
          <a:solidFill>
            <a:srgbClr val="F2A541"/>
          </a:solidFill>
          <a:ln/>
        </p:spPr>
      </p:sp>
      <p:sp>
        <p:nvSpPr>
          <p:cNvPr id="11" name="Text 8"/>
          <p:cNvSpPr/>
          <p:nvPr/>
        </p:nvSpPr>
        <p:spPr>
          <a:xfrm>
            <a:off x="822960" y="4160520"/>
            <a:ext cx="10515600" cy="457200"/>
          </a:xfrm>
          <a:prstGeom prst="rect">
            <a:avLst/>
          </a:prstGeom>
          <a:noFill/>
          <a:ln/>
        </p:spPr>
        <p:txBody>
          <a:bodyPr wrap="square" rtlCol="0" anchor="ctr"/>
          <a:lstStyle/>
          <a:p>
            <a:pPr marL="0" indent="0">
              <a:buNone/>
            </a:pPr>
            <a:r>
              <a:rPr lang="en-US" sz="1800" i="1" dirty="0">
                <a:solidFill>
                  <a:srgbClr val="1C7293"/>
                </a:solidFill>
                <a:latin typeface="Calibri" pitchFamily="34" charset="0"/>
                <a:ea typeface="Calibri" pitchFamily="34" charset="-122"/>
                <a:cs typeface="Calibri" pitchFamily="34" charset="-120"/>
              </a:rPr>
              <a:t>A Comparative Clustering Analysis</a:t>
            </a:r>
            <a:endParaRPr lang="en-US" sz="1800" dirty="0"/>
          </a:p>
        </p:txBody>
      </p:sp>
      <p:sp>
        <p:nvSpPr>
          <p:cNvPr id="12" name="Text 9"/>
          <p:cNvSpPr/>
          <p:nvPr/>
        </p:nvSpPr>
        <p:spPr>
          <a:xfrm>
            <a:off x="822960" y="6035040"/>
            <a:ext cx="10515600" cy="365760"/>
          </a:xfrm>
          <a:prstGeom prst="rect">
            <a:avLst/>
          </a:prstGeom>
          <a:noFill/>
          <a:ln/>
        </p:spPr>
        <p:txBody>
          <a:bodyPr wrap="square" rtlCol="0" anchor="ctr"/>
          <a:lstStyle/>
          <a:p>
            <a:pPr marL="0" indent="0">
              <a:buNone/>
            </a:pPr>
            <a:r>
              <a:rPr lang="en-US" sz="1300" dirty="0">
                <a:solidFill>
                  <a:srgbClr val="8FA8C4"/>
                </a:solidFill>
                <a:latin typeface="Calibri" pitchFamily="34" charset="0"/>
                <a:ea typeface="Calibri" pitchFamily="34" charset="-122"/>
                <a:cs typeface="Calibri" pitchFamily="34" charset="-120"/>
              </a:rPr>
              <a:t>UCI HAR Dataset  •  10,299 Samples  •  561 Sensor Features  •  6 Activity Labels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9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384048"/>
            <a:ext cx="457200" cy="457200"/>
          </a:xfrm>
          <a:prstGeom prst="rect">
            <a:avLst/>
          </a:prstGeom>
        </p:spPr>
      </p:pic>
      <p:sp>
        <p:nvSpPr>
          <p:cNvPr id="3" name="Text 0"/>
          <p:cNvSpPr/>
          <p:nvPr/>
        </p:nvSpPr>
        <p:spPr>
          <a:xfrm>
            <a:off x="1051560" y="292608"/>
            <a:ext cx="10607040" cy="502920"/>
          </a:xfrm>
          <a:prstGeom prst="rect">
            <a:avLst/>
          </a:prstGeom>
          <a:noFill/>
          <a:ln/>
        </p:spPr>
        <p:txBody>
          <a:bodyPr wrap="square" rtlCol="0" anchor="ctr"/>
          <a:lstStyle/>
          <a:p>
            <a:pPr marL="0" indent="0">
              <a:buNone/>
            </a:pPr>
            <a:r>
              <a:rPr lang="en-US" sz="2700" b="1" dirty="0">
                <a:solidFill>
                  <a:srgbClr val="1B2A3D"/>
                </a:solidFill>
                <a:latin typeface="Cambria" pitchFamily="34" charset="0"/>
                <a:ea typeface="Cambria" pitchFamily="34" charset="-122"/>
                <a:cs typeface="Cambria" pitchFamily="34" charset="-120"/>
              </a:rPr>
              <a:t>Project Overview</a:t>
            </a:r>
            <a:endParaRPr lang="en-US" sz="2700" dirty="0"/>
          </a:p>
        </p:txBody>
      </p:sp>
      <p:sp>
        <p:nvSpPr>
          <p:cNvPr id="4" name="Text 1"/>
          <p:cNvSpPr/>
          <p:nvPr/>
        </p:nvSpPr>
        <p:spPr>
          <a:xfrm>
            <a:off x="1051560" y="749808"/>
            <a:ext cx="10607040" cy="320040"/>
          </a:xfrm>
          <a:prstGeom prst="rect">
            <a:avLst/>
          </a:prstGeom>
          <a:noFill/>
          <a:ln/>
        </p:spPr>
        <p:txBody>
          <a:bodyPr wrap="square" rtlCol="0" anchor="ctr"/>
          <a:lstStyle/>
          <a:p>
            <a:pPr marL="0" indent="0">
              <a:buNone/>
            </a:pPr>
            <a:r>
              <a:rPr lang="en-US" sz="1300" i="1" dirty="0">
                <a:solidFill>
                  <a:srgbClr val="5C7184"/>
                </a:solidFill>
                <a:latin typeface="Calibri" pitchFamily="34" charset="0"/>
                <a:ea typeface="Calibri" pitchFamily="34" charset="-122"/>
                <a:cs typeface="Calibri" pitchFamily="34" charset="-120"/>
              </a:rPr>
              <a:t>What this analysis set out to discover</a:t>
            </a:r>
            <a:endParaRPr lang="en-US" sz="1300" dirty="0"/>
          </a:p>
        </p:txBody>
      </p:sp>
      <p:sp>
        <p:nvSpPr>
          <p:cNvPr id="5" name="Text 2"/>
          <p:cNvSpPr/>
          <p:nvPr/>
        </p:nvSpPr>
        <p:spPr>
          <a:xfrm>
            <a:off x="457200" y="1188720"/>
            <a:ext cx="6766560" cy="2011680"/>
          </a:xfrm>
          <a:prstGeom prst="rect">
            <a:avLst/>
          </a:prstGeom>
          <a:noFill/>
          <a:ln/>
        </p:spPr>
        <p:txBody>
          <a:bodyPr wrap="square" rtlCol="0" anchor="t"/>
          <a:lstStyle/>
          <a:p>
            <a:pPr marL="0" indent="0">
              <a:lnSpc>
                <a:spcPct val="125000"/>
              </a:lnSpc>
              <a:buNone/>
            </a:pPr>
            <a:r>
              <a:rPr lang="en-US" sz="1400" dirty="0">
                <a:solidFill>
                  <a:srgbClr val="1B2A3D"/>
                </a:solidFill>
                <a:latin typeface="Calibri" pitchFamily="34" charset="0"/>
                <a:ea typeface="Calibri" pitchFamily="34" charset="-122"/>
                <a:cs typeface="Calibri" pitchFamily="34" charset="-120"/>
              </a:rPr>
              <a:t>Smartphones carry accelerometers and gyroscopes that continuously record motion. The UCI Human Activity Recognition (HAR) dataset captures 561 engineered signal features per observation, each labeled with one of six activities performed by 30 volunteers. This project asks an unsupervised question: if the activity labels were hidden, would clustering algorithms rediscover six distinct behavioral groups on their own — or something simpler?</a:t>
            </a:r>
            <a:endParaRPr lang="en-US" sz="1400" dirty="0"/>
          </a:p>
        </p:txBody>
      </p:sp>
      <p:sp>
        <p:nvSpPr>
          <p:cNvPr id="6" name="Shape 3"/>
          <p:cNvSpPr/>
          <p:nvPr/>
        </p:nvSpPr>
        <p:spPr>
          <a:xfrm>
            <a:off x="457200" y="3337560"/>
            <a:ext cx="292608" cy="292608"/>
          </a:xfrm>
          <a:prstGeom prst="ellipse">
            <a:avLst/>
          </a:prstGeom>
          <a:solidFill>
            <a:srgbClr val="1C7293"/>
          </a:solidFill>
          <a:ln/>
        </p:spPr>
      </p:sp>
      <p:sp>
        <p:nvSpPr>
          <p:cNvPr id="7" name="Text 4"/>
          <p:cNvSpPr/>
          <p:nvPr/>
        </p:nvSpPr>
        <p:spPr>
          <a:xfrm>
            <a:off x="457200" y="3337560"/>
            <a:ext cx="292608" cy="29260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p:nvPr/>
        </p:nvSpPr>
        <p:spPr>
          <a:xfrm>
            <a:off x="914400" y="3300984"/>
            <a:ext cx="6309360" cy="365760"/>
          </a:xfrm>
          <a:prstGeom prst="rect">
            <a:avLst/>
          </a:prstGeom>
          <a:noFill/>
          <a:ln/>
        </p:spPr>
        <p:txBody>
          <a:bodyPr wrap="square" rtlCol="0" anchor="ctr"/>
          <a:lstStyle/>
          <a:p>
            <a:pPr marL="0" indent="0">
              <a:buNone/>
            </a:pPr>
            <a:r>
              <a:rPr lang="en-US" sz="1250" dirty="0">
                <a:solidFill>
                  <a:srgbClr val="1B2A3D"/>
                </a:solidFill>
                <a:latin typeface="Calibri" pitchFamily="34" charset="0"/>
                <a:ea typeface="Calibri" pitchFamily="34" charset="-122"/>
                <a:cs typeface="Calibri" pitchFamily="34" charset="-120"/>
              </a:rPr>
              <a:t>Explore and validate the merged train/test dataset</a:t>
            </a:r>
            <a:endParaRPr lang="en-US" sz="1250" dirty="0"/>
          </a:p>
        </p:txBody>
      </p:sp>
      <p:sp>
        <p:nvSpPr>
          <p:cNvPr id="9" name="Shape 6"/>
          <p:cNvSpPr/>
          <p:nvPr/>
        </p:nvSpPr>
        <p:spPr>
          <a:xfrm>
            <a:off x="457200" y="3794760"/>
            <a:ext cx="292608" cy="292608"/>
          </a:xfrm>
          <a:prstGeom prst="ellipse">
            <a:avLst/>
          </a:prstGeom>
          <a:solidFill>
            <a:srgbClr val="1C7293"/>
          </a:solidFill>
          <a:ln/>
        </p:spPr>
      </p:sp>
      <p:sp>
        <p:nvSpPr>
          <p:cNvPr id="10" name="Text 7"/>
          <p:cNvSpPr/>
          <p:nvPr/>
        </p:nvSpPr>
        <p:spPr>
          <a:xfrm>
            <a:off x="457200" y="3794760"/>
            <a:ext cx="292608" cy="29260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8"/>
          <p:cNvSpPr/>
          <p:nvPr/>
        </p:nvSpPr>
        <p:spPr>
          <a:xfrm>
            <a:off x="914400" y="3758184"/>
            <a:ext cx="6309360" cy="365760"/>
          </a:xfrm>
          <a:prstGeom prst="rect">
            <a:avLst/>
          </a:prstGeom>
          <a:noFill/>
          <a:ln/>
        </p:spPr>
        <p:txBody>
          <a:bodyPr wrap="square" rtlCol="0" anchor="ctr"/>
          <a:lstStyle/>
          <a:p>
            <a:pPr marL="0" indent="0">
              <a:buNone/>
            </a:pPr>
            <a:r>
              <a:rPr lang="en-US" sz="1250" dirty="0">
                <a:solidFill>
                  <a:srgbClr val="1B2A3D"/>
                </a:solidFill>
                <a:latin typeface="Calibri" pitchFamily="34" charset="0"/>
                <a:ea typeface="Calibri" pitchFamily="34" charset="-122"/>
                <a:cs typeface="Calibri" pitchFamily="34" charset="-120"/>
              </a:rPr>
              <a:t>Reduce dimensionality via PCA and Random Forest feature importance</a:t>
            </a:r>
            <a:endParaRPr lang="en-US" sz="1250" dirty="0"/>
          </a:p>
        </p:txBody>
      </p:sp>
      <p:sp>
        <p:nvSpPr>
          <p:cNvPr id="12" name="Shape 9"/>
          <p:cNvSpPr/>
          <p:nvPr/>
        </p:nvSpPr>
        <p:spPr>
          <a:xfrm>
            <a:off x="457200" y="4251960"/>
            <a:ext cx="292608" cy="292608"/>
          </a:xfrm>
          <a:prstGeom prst="ellipse">
            <a:avLst/>
          </a:prstGeom>
          <a:solidFill>
            <a:srgbClr val="1C7293"/>
          </a:solidFill>
          <a:ln/>
        </p:spPr>
      </p:sp>
      <p:sp>
        <p:nvSpPr>
          <p:cNvPr id="13" name="Text 10"/>
          <p:cNvSpPr/>
          <p:nvPr/>
        </p:nvSpPr>
        <p:spPr>
          <a:xfrm>
            <a:off x="457200" y="4251960"/>
            <a:ext cx="292608" cy="29260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1"/>
          <p:cNvSpPr/>
          <p:nvPr/>
        </p:nvSpPr>
        <p:spPr>
          <a:xfrm>
            <a:off x="914400" y="4215384"/>
            <a:ext cx="6309360" cy="365760"/>
          </a:xfrm>
          <a:prstGeom prst="rect">
            <a:avLst/>
          </a:prstGeom>
          <a:noFill/>
          <a:ln/>
        </p:spPr>
        <p:txBody>
          <a:bodyPr wrap="square" rtlCol="0" anchor="ctr"/>
          <a:lstStyle/>
          <a:p>
            <a:pPr marL="0" indent="0">
              <a:buNone/>
            </a:pPr>
            <a:r>
              <a:rPr lang="en-US" sz="1250" dirty="0">
                <a:solidFill>
                  <a:srgbClr val="1B2A3D"/>
                </a:solidFill>
                <a:latin typeface="Calibri" pitchFamily="34" charset="0"/>
                <a:ea typeface="Calibri" pitchFamily="34" charset="-122"/>
                <a:cs typeface="Calibri" pitchFamily="34" charset="-120"/>
              </a:rPr>
              <a:t>Apply KMeans, Hierarchical, and Gaussian Mixture clustering</a:t>
            </a:r>
            <a:endParaRPr lang="en-US" sz="1250" dirty="0"/>
          </a:p>
        </p:txBody>
      </p:sp>
      <p:sp>
        <p:nvSpPr>
          <p:cNvPr id="15" name="Shape 12"/>
          <p:cNvSpPr/>
          <p:nvPr/>
        </p:nvSpPr>
        <p:spPr>
          <a:xfrm>
            <a:off x="457200" y="4709160"/>
            <a:ext cx="292608" cy="292608"/>
          </a:xfrm>
          <a:prstGeom prst="ellipse">
            <a:avLst/>
          </a:prstGeom>
          <a:solidFill>
            <a:srgbClr val="1C7293"/>
          </a:solidFill>
          <a:ln/>
        </p:spPr>
      </p:sp>
      <p:sp>
        <p:nvSpPr>
          <p:cNvPr id="16" name="Text 13"/>
          <p:cNvSpPr/>
          <p:nvPr/>
        </p:nvSpPr>
        <p:spPr>
          <a:xfrm>
            <a:off x="457200" y="4709160"/>
            <a:ext cx="292608" cy="29260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4"/>
          <p:cNvSpPr/>
          <p:nvPr/>
        </p:nvSpPr>
        <p:spPr>
          <a:xfrm>
            <a:off x="914400" y="4672584"/>
            <a:ext cx="6309360" cy="365760"/>
          </a:xfrm>
          <a:prstGeom prst="rect">
            <a:avLst/>
          </a:prstGeom>
          <a:noFill/>
          <a:ln/>
        </p:spPr>
        <p:txBody>
          <a:bodyPr wrap="square" rtlCol="0" anchor="ctr"/>
          <a:lstStyle/>
          <a:p>
            <a:pPr marL="0" indent="0">
              <a:buNone/>
            </a:pPr>
            <a:r>
              <a:rPr lang="en-US" sz="1250" dirty="0">
                <a:solidFill>
                  <a:srgbClr val="1B2A3D"/>
                </a:solidFill>
                <a:latin typeface="Calibri" pitchFamily="34" charset="0"/>
                <a:ea typeface="Calibri" pitchFamily="34" charset="-122"/>
                <a:cs typeface="Calibri" pitchFamily="34" charset="-120"/>
              </a:rPr>
              <a:t>Validate clusters internally (Silhouette, DBI, CHI) and externally (ARI, NMI)</a:t>
            </a:r>
            <a:endParaRPr lang="en-US" sz="1250" dirty="0"/>
          </a:p>
        </p:txBody>
      </p:sp>
      <p:sp>
        <p:nvSpPr>
          <p:cNvPr id="18" name="Shape 15"/>
          <p:cNvSpPr/>
          <p:nvPr/>
        </p:nvSpPr>
        <p:spPr>
          <a:xfrm>
            <a:off x="457200" y="5166360"/>
            <a:ext cx="292608" cy="292608"/>
          </a:xfrm>
          <a:prstGeom prst="ellipse">
            <a:avLst/>
          </a:prstGeom>
          <a:solidFill>
            <a:srgbClr val="1C7293"/>
          </a:solidFill>
          <a:ln/>
        </p:spPr>
      </p:sp>
      <p:sp>
        <p:nvSpPr>
          <p:cNvPr id="19" name="Text 16"/>
          <p:cNvSpPr/>
          <p:nvPr/>
        </p:nvSpPr>
        <p:spPr>
          <a:xfrm>
            <a:off x="457200" y="5166360"/>
            <a:ext cx="292608" cy="29260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0" name="Text 17"/>
          <p:cNvSpPr/>
          <p:nvPr/>
        </p:nvSpPr>
        <p:spPr>
          <a:xfrm>
            <a:off x="914400" y="5129784"/>
            <a:ext cx="6309360" cy="365760"/>
          </a:xfrm>
          <a:prstGeom prst="rect">
            <a:avLst/>
          </a:prstGeom>
          <a:noFill/>
          <a:ln/>
        </p:spPr>
        <p:txBody>
          <a:bodyPr wrap="square" rtlCol="0" anchor="ctr"/>
          <a:lstStyle/>
          <a:p>
            <a:pPr marL="0" indent="0">
              <a:buNone/>
            </a:pPr>
            <a:r>
              <a:rPr lang="en-US" sz="1250" dirty="0">
                <a:solidFill>
                  <a:srgbClr val="1B2A3D"/>
                </a:solidFill>
                <a:latin typeface="Calibri" pitchFamily="34" charset="0"/>
                <a:ea typeface="Calibri" pitchFamily="34" charset="-122"/>
                <a:cs typeface="Calibri" pitchFamily="34" charset="-120"/>
              </a:rPr>
              <a:t>Interpret what the discovered clusters reveal about human activity</a:t>
            </a:r>
            <a:endParaRPr lang="en-US" sz="1250" dirty="0"/>
          </a:p>
        </p:txBody>
      </p:sp>
      <p:sp>
        <p:nvSpPr>
          <p:cNvPr id="21" name="Shape 18"/>
          <p:cNvSpPr/>
          <p:nvPr/>
        </p:nvSpPr>
        <p:spPr>
          <a:xfrm>
            <a:off x="7498080" y="1188720"/>
            <a:ext cx="2057400" cy="1234440"/>
          </a:xfrm>
          <a:prstGeom prst="roundRect">
            <a:avLst>
              <a:gd name="adj" fmla="val 5926"/>
            </a:avLst>
          </a:prstGeom>
          <a:solidFill>
            <a:srgbClr val="FFFFFF"/>
          </a:solidFill>
          <a:ln/>
          <a:effectLst>
            <a:outerShdw blurRad="101600" dist="38100" dir="2700000" algn="bl" rotWithShape="0">
              <a:srgbClr val="0B2545">
                <a:alpha val="15000"/>
              </a:srgbClr>
            </a:outerShdw>
          </a:effectLst>
        </p:spPr>
      </p:sp>
      <p:sp>
        <p:nvSpPr>
          <p:cNvPr id="22" name="Text 19"/>
          <p:cNvSpPr/>
          <p:nvPr/>
        </p:nvSpPr>
        <p:spPr>
          <a:xfrm>
            <a:off x="7635240" y="1298448"/>
            <a:ext cx="1783080" cy="594360"/>
          </a:xfrm>
          <a:prstGeom prst="rect">
            <a:avLst/>
          </a:prstGeom>
          <a:noFill/>
          <a:ln/>
        </p:spPr>
        <p:txBody>
          <a:bodyPr wrap="square" rtlCol="0" anchor="ctr"/>
          <a:lstStyle/>
          <a:p>
            <a:pPr marL="0" indent="0">
              <a:buNone/>
            </a:pPr>
            <a:r>
              <a:rPr lang="en-US" sz="3000" b="1" dirty="0">
                <a:solidFill>
                  <a:srgbClr val="13315C"/>
                </a:solidFill>
                <a:latin typeface="Cambria" pitchFamily="34" charset="0"/>
                <a:ea typeface="Cambria" pitchFamily="34" charset="-122"/>
                <a:cs typeface="Cambria" pitchFamily="34" charset="-120"/>
              </a:rPr>
              <a:t>10,299</a:t>
            </a:r>
            <a:endParaRPr lang="en-US" sz="3000" dirty="0"/>
          </a:p>
        </p:txBody>
      </p:sp>
      <p:sp>
        <p:nvSpPr>
          <p:cNvPr id="23" name="Text 20"/>
          <p:cNvSpPr/>
          <p:nvPr/>
        </p:nvSpPr>
        <p:spPr>
          <a:xfrm>
            <a:off x="7635240" y="1965960"/>
            <a:ext cx="1783080" cy="365760"/>
          </a:xfrm>
          <a:prstGeom prst="rect">
            <a:avLst/>
          </a:prstGeom>
          <a:noFill/>
          <a:ln/>
        </p:spPr>
        <p:txBody>
          <a:bodyPr wrap="square" rtlCol="0" anchor="ctr"/>
          <a:lstStyle/>
          <a:p>
            <a:pPr marL="0" indent="0">
              <a:buNone/>
            </a:pPr>
            <a:r>
              <a:rPr lang="en-US" sz="1150" dirty="0">
                <a:solidFill>
                  <a:srgbClr val="5C7184"/>
                </a:solidFill>
                <a:latin typeface="Calibri" pitchFamily="34" charset="0"/>
                <a:ea typeface="Calibri" pitchFamily="34" charset="-122"/>
                <a:cs typeface="Calibri" pitchFamily="34" charset="-120"/>
              </a:rPr>
              <a:t>Total Samples</a:t>
            </a:r>
            <a:endParaRPr lang="en-US" sz="1150" dirty="0"/>
          </a:p>
        </p:txBody>
      </p:sp>
      <p:sp>
        <p:nvSpPr>
          <p:cNvPr id="24" name="Shape 21"/>
          <p:cNvSpPr/>
          <p:nvPr/>
        </p:nvSpPr>
        <p:spPr>
          <a:xfrm>
            <a:off x="9738360" y="1188720"/>
            <a:ext cx="2057400" cy="1234440"/>
          </a:xfrm>
          <a:prstGeom prst="roundRect">
            <a:avLst>
              <a:gd name="adj" fmla="val 5926"/>
            </a:avLst>
          </a:prstGeom>
          <a:solidFill>
            <a:srgbClr val="FFFFFF"/>
          </a:solidFill>
          <a:ln/>
          <a:effectLst>
            <a:outerShdw blurRad="101600" dist="38100" dir="2700000" algn="bl" rotWithShape="0">
              <a:srgbClr val="0B2545">
                <a:alpha val="15000"/>
              </a:srgbClr>
            </a:outerShdw>
          </a:effectLst>
        </p:spPr>
      </p:sp>
      <p:sp>
        <p:nvSpPr>
          <p:cNvPr id="25" name="Text 22"/>
          <p:cNvSpPr/>
          <p:nvPr/>
        </p:nvSpPr>
        <p:spPr>
          <a:xfrm>
            <a:off x="9875520" y="1298448"/>
            <a:ext cx="1783080" cy="594360"/>
          </a:xfrm>
          <a:prstGeom prst="rect">
            <a:avLst/>
          </a:prstGeom>
          <a:noFill/>
          <a:ln/>
        </p:spPr>
        <p:txBody>
          <a:bodyPr wrap="square" rtlCol="0" anchor="ctr"/>
          <a:lstStyle/>
          <a:p>
            <a:pPr marL="0" indent="0">
              <a:buNone/>
            </a:pPr>
            <a:r>
              <a:rPr lang="en-US" sz="3000" b="1" dirty="0">
                <a:solidFill>
                  <a:srgbClr val="13315C"/>
                </a:solidFill>
                <a:latin typeface="Cambria" pitchFamily="34" charset="0"/>
                <a:ea typeface="Cambria" pitchFamily="34" charset="-122"/>
                <a:cs typeface="Cambria" pitchFamily="34" charset="-120"/>
              </a:rPr>
              <a:t>561</a:t>
            </a:r>
            <a:endParaRPr lang="en-US" sz="3000" dirty="0"/>
          </a:p>
        </p:txBody>
      </p:sp>
      <p:sp>
        <p:nvSpPr>
          <p:cNvPr id="26" name="Text 23"/>
          <p:cNvSpPr/>
          <p:nvPr/>
        </p:nvSpPr>
        <p:spPr>
          <a:xfrm>
            <a:off x="9875520" y="1965960"/>
            <a:ext cx="1783080" cy="365760"/>
          </a:xfrm>
          <a:prstGeom prst="rect">
            <a:avLst/>
          </a:prstGeom>
          <a:noFill/>
          <a:ln/>
        </p:spPr>
        <p:txBody>
          <a:bodyPr wrap="square" rtlCol="0" anchor="ctr"/>
          <a:lstStyle/>
          <a:p>
            <a:pPr marL="0" indent="0">
              <a:buNone/>
            </a:pPr>
            <a:r>
              <a:rPr lang="en-US" sz="1150" dirty="0">
                <a:solidFill>
                  <a:srgbClr val="5C7184"/>
                </a:solidFill>
                <a:latin typeface="Calibri" pitchFamily="34" charset="0"/>
                <a:ea typeface="Calibri" pitchFamily="34" charset="-122"/>
                <a:cs typeface="Calibri" pitchFamily="34" charset="-120"/>
              </a:rPr>
              <a:t>Sensor Features</a:t>
            </a:r>
            <a:endParaRPr lang="en-US" sz="1150" dirty="0"/>
          </a:p>
        </p:txBody>
      </p:sp>
      <p:sp>
        <p:nvSpPr>
          <p:cNvPr id="27" name="Shape 24"/>
          <p:cNvSpPr/>
          <p:nvPr/>
        </p:nvSpPr>
        <p:spPr>
          <a:xfrm>
            <a:off x="7498080" y="2606040"/>
            <a:ext cx="2057400" cy="1234440"/>
          </a:xfrm>
          <a:prstGeom prst="roundRect">
            <a:avLst>
              <a:gd name="adj" fmla="val 5926"/>
            </a:avLst>
          </a:prstGeom>
          <a:solidFill>
            <a:srgbClr val="FFFFFF"/>
          </a:solidFill>
          <a:ln/>
          <a:effectLst>
            <a:outerShdw blurRad="101600" dist="38100" dir="2700000" algn="bl" rotWithShape="0">
              <a:srgbClr val="0B2545">
                <a:alpha val="15000"/>
              </a:srgbClr>
            </a:outerShdw>
          </a:effectLst>
        </p:spPr>
      </p:sp>
      <p:sp>
        <p:nvSpPr>
          <p:cNvPr id="28" name="Text 25"/>
          <p:cNvSpPr/>
          <p:nvPr/>
        </p:nvSpPr>
        <p:spPr>
          <a:xfrm>
            <a:off x="7635240" y="2715768"/>
            <a:ext cx="1783080" cy="594360"/>
          </a:xfrm>
          <a:prstGeom prst="rect">
            <a:avLst/>
          </a:prstGeom>
          <a:noFill/>
          <a:ln/>
        </p:spPr>
        <p:txBody>
          <a:bodyPr wrap="square" rtlCol="0" anchor="ctr"/>
          <a:lstStyle/>
          <a:p>
            <a:pPr marL="0" indent="0">
              <a:buNone/>
            </a:pPr>
            <a:r>
              <a:rPr lang="en-US" sz="3000" b="1" dirty="0">
                <a:solidFill>
                  <a:srgbClr val="13315C"/>
                </a:solidFill>
                <a:latin typeface="Cambria" pitchFamily="34" charset="0"/>
                <a:ea typeface="Cambria" pitchFamily="34" charset="-122"/>
                <a:cs typeface="Cambria" pitchFamily="34" charset="-120"/>
              </a:rPr>
              <a:t>6</a:t>
            </a:r>
            <a:endParaRPr lang="en-US" sz="3000" dirty="0"/>
          </a:p>
        </p:txBody>
      </p:sp>
      <p:sp>
        <p:nvSpPr>
          <p:cNvPr id="29" name="Text 26"/>
          <p:cNvSpPr/>
          <p:nvPr/>
        </p:nvSpPr>
        <p:spPr>
          <a:xfrm>
            <a:off x="7635240" y="3383280"/>
            <a:ext cx="1783080" cy="365760"/>
          </a:xfrm>
          <a:prstGeom prst="rect">
            <a:avLst/>
          </a:prstGeom>
          <a:noFill/>
          <a:ln/>
        </p:spPr>
        <p:txBody>
          <a:bodyPr wrap="square" rtlCol="0" anchor="ctr"/>
          <a:lstStyle/>
          <a:p>
            <a:pPr marL="0" indent="0">
              <a:buNone/>
            </a:pPr>
            <a:r>
              <a:rPr lang="en-US" sz="1150" dirty="0">
                <a:solidFill>
                  <a:srgbClr val="5C7184"/>
                </a:solidFill>
                <a:latin typeface="Calibri" pitchFamily="34" charset="0"/>
                <a:ea typeface="Calibri" pitchFamily="34" charset="-122"/>
                <a:cs typeface="Calibri" pitchFamily="34" charset="-120"/>
              </a:rPr>
              <a:t>Activity Labels</a:t>
            </a:r>
            <a:endParaRPr lang="en-US" sz="1150" dirty="0"/>
          </a:p>
        </p:txBody>
      </p:sp>
      <p:sp>
        <p:nvSpPr>
          <p:cNvPr id="30" name="Shape 27"/>
          <p:cNvSpPr/>
          <p:nvPr/>
        </p:nvSpPr>
        <p:spPr>
          <a:xfrm>
            <a:off x="9738360" y="2606040"/>
            <a:ext cx="2057400" cy="1234440"/>
          </a:xfrm>
          <a:prstGeom prst="roundRect">
            <a:avLst>
              <a:gd name="adj" fmla="val 5926"/>
            </a:avLst>
          </a:prstGeom>
          <a:solidFill>
            <a:srgbClr val="FFFFFF"/>
          </a:solidFill>
          <a:ln/>
          <a:effectLst>
            <a:outerShdw blurRad="101600" dist="38100" dir="2700000" algn="bl" rotWithShape="0">
              <a:srgbClr val="0B2545">
                <a:alpha val="15000"/>
              </a:srgbClr>
            </a:outerShdw>
          </a:effectLst>
        </p:spPr>
      </p:sp>
      <p:sp>
        <p:nvSpPr>
          <p:cNvPr id="31" name="Text 28"/>
          <p:cNvSpPr/>
          <p:nvPr/>
        </p:nvSpPr>
        <p:spPr>
          <a:xfrm>
            <a:off x="9875520" y="2715768"/>
            <a:ext cx="1783080" cy="594360"/>
          </a:xfrm>
          <a:prstGeom prst="rect">
            <a:avLst/>
          </a:prstGeom>
          <a:noFill/>
          <a:ln/>
        </p:spPr>
        <p:txBody>
          <a:bodyPr wrap="square" rtlCol="0" anchor="ctr"/>
          <a:lstStyle/>
          <a:p>
            <a:pPr marL="0" indent="0">
              <a:buNone/>
            </a:pPr>
            <a:r>
              <a:rPr lang="en-US" sz="3000" b="1" dirty="0">
                <a:solidFill>
                  <a:srgbClr val="13315C"/>
                </a:solidFill>
                <a:latin typeface="Cambria" pitchFamily="34" charset="0"/>
                <a:ea typeface="Cambria" pitchFamily="34" charset="-122"/>
                <a:cs typeface="Cambria" pitchFamily="34" charset="-120"/>
              </a:rPr>
              <a:t>30</a:t>
            </a:r>
            <a:endParaRPr lang="en-US" sz="3000" dirty="0"/>
          </a:p>
        </p:txBody>
      </p:sp>
      <p:sp>
        <p:nvSpPr>
          <p:cNvPr id="32" name="Text 29"/>
          <p:cNvSpPr/>
          <p:nvPr/>
        </p:nvSpPr>
        <p:spPr>
          <a:xfrm>
            <a:off x="9875520" y="3383280"/>
            <a:ext cx="1783080" cy="365760"/>
          </a:xfrm>
          <a:prstGeom prst="rect">
            <a:avLst/>
          </a:prstGeom>
          <a:noFill/>
          <a:ln/>
        </p:spPr>
        <p:txBody>
          <a:bodyPr wrap="square" rtlCol="0" anchor="ctr"/>
          <a:lstStyle/>
          <a:p>
            <a:pPr marL="0" indent="0">
              <a:buNone/>
            </a:pPr>
            <a:r>
              <a:rPr lang="en-US" sz="1150" dirty="0">
                <a:solidFill>
                  <a:srgbClr val="5C7184"/>
                </a:solidFill>
                <a:latin typeface="Calibri" pitchFamily="34" charset="0"/>
                <a:ea typeface="Calibri" pitchFamily="34" charset="-122"/>
                <a:cs typeface="Calibri" pitchFamily="34" charset="-120"/>
              </a:rPr>
              <a:t>Subjects</a:t>
            </a:r>
            <a:endParaRPr lang="en-US" sz="1150" dirty="0"/>
          </a:p>
        </p:txBody>
      </p:sp>
      <p:sp>
        <p:nvSpPr>
          <p:cNvPr id="33" name="Text 30"/>
          <p:cNvSpPr/>
          <p:nvPr/>
        </p:nvSpPr>
        <p:spPr>
          <a:xfrm>
            <a:off x="457200" y="6492240"/>
            <a:ext cx="8229600" cy="228600"/>
          </a:xfrm>
          <a:prstGeom prst="rect">
            <a:avLst/>
          </a:prstGeom>
          <a:noFill/>
          <a:ln/>
        </p:spPr>
        <p:txBody>
          <a:bodyPr wrap="square" rtlCol="0" anchor="ctr"/>
          <a:lstStyle/>
          <a:p>
            <a:pPr marL="0" indent="0">
              <a:buNone/>
            </a:pPr>
            <a:r>
              <a:rPr lang="en-US" sz="900" dirty="0">
                <a:solidFill>
                  <a:srgbClr val="5C7184"/>
                </a:solidFill>
                <a:latin typeface="Calibri" pitchFamily="34" charset="0"/>
                <a:ea typeface="Calibri" pitchFamily="34" charset="-122"/>
                <a:cs typeface="Calibri" pitchFamily="34" charset="-120"/>
              </a:rPr>
              <a:t>Human Activity Pattern Discovery — Clustering Analysis</a:t>
            </a:r>
            <a:endParaRPr lang="en-US" sz="900" dirty="0"/>
          </a:p>
        </p:txBody>
      </p:sp>
      <p:sp>
        <p:nvSpPr>
          <p:cNvPr id="34" name="Text 31"/>
          <p:cNvSpPr/>
          <p:nvPr/>
        </p:nvSpPr>
        <p:spPr>
          <a:xfrm>
            <a:off x="11365992" y="6492240"/>
            <a:ext cx="365760" cy="228600"/>
          </a:xfrm>
          <a:prstGeom prst="rect">
            <a:avLst/>
          </a:prstGeom>
          <a:noFill/>
          <a:ln/>
        </p:spPr>
        <p:txBody>
          <a:bodyPr wrap="square" rtlCol="0" anchor="ctr"/>
          <a:lstStyle/>
          <a:p>
            <a:pPr marL="0" indent="0" algn="r">
              <a:buNone/>
            </a:pPr>
            <a:r>
              <a:rPr lang="en-US" sz="900" dirty="0">
                <a:solidFill>
                  <a:srgbClr val="5C718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9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384048"/>
            <a:ext cx="457200" cy="457200"/>
          </a:xfrm>
          <a:prstGeom prst="rect">
            <a:avLst/>
          </a:prstGeom>
        </p:spPr>
      </p:pic>
      <p:sp>
        <p:nvSpPr>
          <p:cNvPr id="3" name="Text 0"/>
          <p:cNvSpPr/>
          <p:nvPr/>
        </p:nvSpPr>
        <p:spPr>
          <a:xfrm>
            <a:off x="1051560" y="292608"/>
            <a:ext cx="10607040" cy="502920"/>
          </a:xfrm>
          <a:prstGeom prst="rect">
            <a:avLst/>
          </a:prstGeom>
          <a:noFill/>
          <a:ln/>
        </p:spPr>
        <p:txBody>
          <a:bodyPr wrap="square" rtlCol="0" anchor="ctr"/>
          <a:lstStyle/>
          <a:p>
            <a:pPr marL="0" indent="0">
              <a:buNone/>
            </a:pPr>
            <a:r>
              <a:rPr lang="en-US" sz="2700" b="1" dirty="0">
                <a:solidFill>
                  <a:srgbClr val="1B2A3D"/>
                </a:solidFill>
                <a:latin typeface="Cambria" pitchFamily="34" charset="0"/>
                <a:ea typeface="Cambria" pitchFamily="34" charset="-122"/>
                <a:cs typeface="Cambria" pitchFamily="34" charset="-120"/>
              </a:rPr>
              <a:t>Dataset Quality &amp; Activity Distribution</a:t>
            </a:r>
            <a:endParaRPr lang="en-US" sz="2700" dirty="0"/>
          </a:p>
        </p:txBody>
      </p:sp>
      <p:sp>
        <p:nvSpPr>
          <p:cNvPr id="4" name="Text 1"/>
          <p:cNvSpPr/>
          <p:nvPr/>
        </p:nvSpPr>
        <p:spPr>
          <a:xfrm>
            <a:off x="1051560" y="749808"/>
            <a:ext cx="10607040" cy="320040"/>
          </a:xfrm>
          <a:prstGeom prst="rect">
            <a:avLst/>
          </a:prstGeom>
          <a:noFill/>
          <a:ln/>
        </p:spPr>
        <p:txBody>
          <a:bodyPr wrap="square" rtlCol="0" anchor="ctr"/>
          <a:lstStyle/>
          <a:p>
            <a:pPr marL="0" indent="0">
              <a:buNone/>
            </a:pPr>
            <a:r>
              <a:rPr lang="en-US" sz="1300" i="1" dirty="0">
                <a:solidFill>
                  <a:srgbClr val="5C7184"/>
                </a:solidFill>
                <a:latin typeface="Calibri" pitchFamily="34" charset="0"/>
                <a:ea typeface="Calibri" pitchFamily="34" charset="-122"/>
                <a:cs typeface="Calibri" pitchFamily="34" charset="-120"/>
              </a:rPr>
              <a:t>Train + test sets merged into a single 10,299-row dataset</a:t>
            </a:r>
            <a:endParaRPr lang="en-US" sz="1300" dirty="0"/>
          </a:p>
        </p:txBody>
      </p:sp>
      <p:sp>
        <p:nvSpPr>
          <p:cNvPr id="5" name="Shape 2"/>
          <p:cNvSpPr/>
          <p:nvPr/>
        </p:nvSpPr>
        <p:spPr>
          <a:xfrm>
            <a:off x="457200" y="1234440"/>
            <a:ext cx="3200400" cy="868680"/>
          </a:xfrm>
          <a:prstGeom prst="roundRect">
            <a:avLst>
              <a:gd name="adj" fmla="val 8421"/>
            </a:avLst>
          </a:prstGeom>
          <a:solidFill>
            <a:srgbClr val="FFFFFF"/>
          </a:solidFill>
          <a:ln/>
          <a:effectLst>
            <a:outerShdw blurRad="101600" dist="38100" dir="2700000" algn="bl" rotWithShape="0">
              <a:srgbClr val="0B2545">
                <a:alpha val="15000"/>
              </a:srgbClr>
            </a:outerShdw>
          </a:effectLst>
        </p:spPr>
      </p:sp>
      <p:sp>
        <p:nvSpPr>
          <p:cNvPr id="6" name="Text 3"/>
          <p:cNvSpPr/>
          <p:nvPr/>
        </p:nvSpPr>
        <p:spPr>
          <a:xfrm>
            <a:off x="640080" y="1307592"/>
            <a:ext cx="1463040" cy="548640"/>
          </a:xfrm>
          <a:prstGeom prst="rect">
            <a:avLst/>
          </a:prstGeom>
          <a:noFill/>
          <a:ln/>
        </p:spPr>
        <p:txBody>
          <a:bodyPr wrap="square" rtlCol="0" anchor="ctr"/>
          <a:lstStyle/>
          <a:p>
            <a:pPr marL="0" indent="0">
              <a:buNone/>
            </a:pPr>
            <a:r>
              <a:rPr lang="en-US" sz="2200" b="1" dirty="0">
                <a:solidFill>
                  <a:srgbClr val="1C7293"/>
                </a:solidFill>
                <a:latin typeface="Cambria" pitchFamily="34" charset="0"/>
                <a:ea typeface="Cambria" pitchFamily="34" charset="-122"/>
                <a:cs typeface="Cambria" pitchFamily="34" charset="-120"/>
              </a:rPr>
              <a:t>0</a:t>
            </a:r>
            <a:endParaRPr lang="en-US" sz="2200" dirty="0"/>
          </a:p>
        </p:txBody>
      </p:sp>
      <p:sp>
        <p:nvSpPr>
          <p:cNvPr id="7" name="Text 4"/>
          <p:cNvSpPr/>
          <p:nvPr/>
        </p:nvSpPr>
        <p:spPr>
          <a:xfrm>
            <a:off x="2011680" y="1307592"/>
            <a:ext cx="1554480" cy="548640"/>
          </a:xfrm>
          <a:prstGeom prst="rect">
            <a:avLst/>
          </a:prstGeom>
          <a:noFill/>
          <a:ln/>
        </p:spPr>
        <p:txBody>
          <a:bodyPr wrap="square" rtlCol="0" anchor="ctr"/>
          <a:lstStyle/>
          <a:p>
            <a:pPr marL="0" indent="0">
              <a:buNone/>
            </a:pPr>
            <a:r>
              <a:rPr lang="en-US" sz="1150" dirty="0">
                <a:solidFill>
                  <a:srgbClr val="5C7184"/>
                </a:solidFill>
                <a:latin typeface="Calibri" pitchFamily="34" charset="0"/>
                <a:ea typeface="Calibri" pitchFamily="34" charset="-122"/>
                <a:cs typeface="Calibri" pitchFamily="34" charset="-120"/>
              </a:rPr>
              <a:t>Missing Values</a:t>
            </a:r>
            <a:endParaRPr lang="en-US" sz="1150" dirty="0"/>
          </a:p>
        </p:txBody>
      </p:sp>
      <p:sp>
        <p:nvSpPr>
          <p:cNvPr id="8" name="Shape 5"/>
          <p:cNvSpPr/>
          <p:nvPr/>
        </p:nvSpPr>
        <p:spPr>
          <a:xfrm>
            <a:off x="457200" y="2258568"/>
            <a:ext cx="3200400" cy="868680"/>
          </a:xfrm>
          <a:prstGeom prst="roundRect">
            <a:avLst>
              <a:gd name="adj" fmla="val 8421"/>
            </a:avLst>
          </a:prstGeom>
          <a:solidFill>
            <a:srgbClr val="FFFFFF"/>
          </a:solidFill>
          <a:ln/>
          <a:effectLst>
            <a:outerShdw blurRad="101600" dist="38100" dir="2700000" algn="bl" rotWithShape="0">
              <a:srgbClr val="0B2545">
                <a:alpha val="15000"/>
              </a:srgbClr>
            </a:outerShdw>
          </a:effectLst>
        </p:spPr>
      </p:sp>
      <p:sp>
        <p:nvSpPr>
          <p:cNvPr id="9" name="Text 6"/>
          <p:cNvSpPr/>
          <p:nvPr/>
        </p:nvSpPr>
        <p:spPr>
          <a:xfrm>
            <a:off x="640080" y="2331720"/>
            <a:ext cx="1463040" cy="548640"/>
          </a:xfrm>
          <a:prstGeom prst="rect">
            <a:avLst/>
          </a:prstGeom>
          <a:noFill/>
          <a:ln/>
        </p:spPr>
        <p:txBody>
          <a:bodyPr wrap="square" rtlCol="0" anchor="ctr"/>
          <a:lstStyle/>
          <a:p>
            <a:pPr marL="0" indent="0">
              <a:buNone/>
            </a:pPr>
            <a:r>
              <a:rPr lang="en-US" sz="2200" b="1" dirty="0">
                <a:solidFill>
                  <a:srgbClr val="1C7293"/>
                </a:solidFill>
                <a:latin typeface="Cambria" pitchFamily="34" charset="0"/>
                <a:ea typeface="Cambria" pitchFamily="34" charset="-122"/>
                <a:cs typeface="Cambria" pitchFamily="34" charset="-120"/>
              </a:rPr>
              <a:t>0</a:t>
            </a:r>
            <a:endParaRPr lang="en-US" sz="2200" dirty="0"/>
          </a:p>
        </p:txBody>
      </p:sp>
      <p:sp>
        <p:nvSpPr>
          <p:cNvPr id="10" name="Text 7"/>
          <p:cNvSpPr/>
          <p:nvPr/>
        </p:nvSpPr>
        <p:spPr>
          <a:xfrm>
            <a:off x="2011680" y="2331720"/>
            <a:ext cx="1554480" cy="548640"/>
          </a:xfrm>
          <a:prstGeom prst="rect">
            <a:avLst/>
          </a:prstGeom>
          <a:noFill/>
          <a:ln/>
        </p:spPr>
        <p:txBody>
          <a:bodyPr wrap="square" rtlCol="0" anchor="ctr"/>
          <a:lstStyle/>
          <a:p>
            <a:pPr marL="0" indent="0">
              <a:buNone/>
            </a:pPr>
            <a:r>
              <a:rPr lang="en-US" sz="1150" dirty="0">
                <a:solidFill>
                  <a:srgbClr val="5C7184"/>
                </a:solidFill>
                <a:latin typeface="Calibri" pitchFamily="34" charset="0"/>
                <a:ea typeface="Calibri" pitchFamily="34" charset="-122"/>
                <a:cs typeface="Calibri" pitchFamily="34" charset="-120"/>
              </a:rPr>
              <a:t>Duplicate Rows</a:t>
            </a:r>
            <a:endParaRPr lang="en-US" sz="1150" dirty="0"/>
          </a:p>
        </p:txBody>
      </p:sp>
      <p:sp>
        <p:nvSpPr>
          <p:cNvPr id="11" name="Shape 8"/>
          <p:cNvSpPr/>
          <p:nvPr/>
        </p:nvSpPr>
        <p:spPr>
          <a:xfrm>
            <a:off x="457200" y="3282696"/>
            <a:ext cx="3200400" cy="868680"/>
          </a:xfrm>
          <a:prstGeom prst="roundRect">
            <a:avLst>
              <a:gd name="adj" fmla="val 8421"/>
            </a:avLst>
          </a:prstGeom>
          <a:solidFill>
            <a:srgbClr val="FFFFFF"/>
          </a:solidFill>
          <a:ln/>
          <a:effectLst>
            <a:outerShdw blurRad="101600" dist="38100" dir="2700000" algn="bl" rotWithShape="0">
              <a:srgbClr val="0B2545">
                <a:alpha val="15000"/>
              </a:srgbClr>
            </a:outerShdw>
          </a:effectLst>
        </p:spPr>
      </p:sp>
      <p:sp>
        <p:nvSpPr>
          <p:cNvPr id="12" name="Text 9"/>
          <p:cNvSpPr/>
          <p:nvPr/>
        </p:nvSpPr>
        <p:spPr>
          <a:xfrm>
            <a:off x="640080" y="3355848"/>
            <a:ext cx="1463040" cy="548640"/>
          </a:xfrm>
          <a:prstGeom prst="rect">
            <a:avLst/>
          </a:prstGeom>
          <a:noFill/>
          <a:ln/>
        </p:spPr>
        <p:txBody>
          <a:bodyPr wrap="square" rtlCol="0" anchor="ctr"/>
          <a:lstStyle/>
          <a:p>
            <a:pPr marL="0" indent="0">
              <a:buNone/>
            </a:pPr>
            <a:r>
              <a:rPr lang="en-US" sz="2200" b="1" dirty="0">
                <a:solidFill>
                  <a:srgbClr val="1C7293"/>
                </a:solidFill>
                <a:latin typeface="Cambria" pitchFamily="34" charset="0"/>
                <a:ea typeface="Cambria" pitchFamily="34" charset="-122"/>
                <a:cs typeface="Cambria" pitchFamily="34" charset="-120"/>
              </a:rPr>
              <a:t>563</a:t>
            </a:r>
            <a:endParaRPr lang="en-US" sz="2200" dirty="0"/>
          </a:p>
        </p:txBody>
      </p:sp>
      <p:sp>
        <p:nvSpPr>
          <p:cNvPr id="13" name="Text 10"/>
          <p:cNvSpPr/>
          <p:nvPr/>
        </p:nvSpPr>
        <p:spPr>
          <a:xfrm>
            <a:off x="2011680" y="3355848"/>
            <a:ext cx="1554480" cy="548640"/>
          </a:xfrm>
          <a:prstGeom prst="rect">
            <a:avLst/>
          </a:prstGeom>
          <a:noFill/>
          <a:ln/>
        </p:spPr>
        <p:txBody>
          <a:bodyPr wrap="square" rtlCol="0" anchor="ctr"/>
          <a:lstStyle/>
          <a:p>
            <a:pPr marL="0" indent="0">
              <a:buNone/>
            </a:pPr>
            <a:r>
              <a:rPr lang="en-US" sz="1150" dirty="0">
                <a:solidFill>
                  <a:srgbClr val="5C7184"/>
                </a:solidFill>
                <a:latin typeface="Calibri" pitchFamily="34" charset="0"/>
                <a:ea typeface="Calibri" pitchFamily="34" charset="-122"/>
                <a:cs typeface="Calibri" pitchFamily="34" charset="-120"/>
              </a:rPr>
              <a:t>Total Columns</a:t>
            </a:r>
            <a:endParaRPr lang="en-US" sz="1150" dirty="0"/>
          </a:p>
        </p:txBody>
      </p:sp>
      <p:sp>
        <p:nvSpPr>
          <p:cNvPr id="14" name="Shape 11"/>
          <p:cNvSpPr/>
          <p:nvPr/>
        </p:nvSpPr>
        <p:spPr>
          <a:xfrm>
            <a:off x="457200" y="4306824"/>
            <a:ext cx="3200400" cy="868680"/>
          </a:xfrm>
          <a:prstGeom prst="roundRect">
            <a:avLst>
              <a:gd name="adj" fmla="val 8421"/>
            </a:avLst>
          </a:prstGeom>
          <a:solidFill>
            <a:srgbClr val="FFFFFF"/>
          </a:solidFill>
          <a:ln/>
          <a:effectLst>
            <a:outerShdw blurRad="101600" dist="38100" dir="2700000" algn="bl" rotWithShape="0">
              <a:srgbClr val="0B2545">
                <a:alpha val="15000"/>
              </a:srgbClr>
            </a:outerShdw>
          </a:effectLst>
        </p:spPr>
      </p:sp>
      <p:sp>
        <p:nvSpPr>
          <p:cNvPr id="15" name="Text 12"/>
          <p:cNvSpPr/>
          <p:nvPr/>
        </p:nvSpPr>
        <p:spPr>
          <a:xfrm>
            <a:off x="640080" y="4379976"/>
            <a:ext cx="1463040" cy="548640"/>
          </a:xfrm>
          <a:prstGeom prst="rect">
            <a:avLst/>
          </a:prstGeom>
          <a:noFill/>
          <a:ln/>
        </p:spPr>
        <p:txBody>
          <a:bodyPr wrap="square" rtlCol="0" anchor="ctr"/>
          <a:lstStyle/>
          <a:p>
            <a:pPr marL="0" indent="0">
              <a:buNone/>
            </a:pPr>
            <a:r>
              <a:rPr lang="en-US" sz="2200" b="1" dirty="0">
                <a:solidFill>
                  <a:srgbClr val="1C7293"/>
                </a:solidFill>
                <a:latin typeface="Cambria" pitchFamily="34" charset="0"/>
                <a:ea typeface="Cambria" pitchFamily="34" charset="-122"/>
                <a:cs typeface="Cambria" pitchFamily="34" charset="-120"/>
              </a:rPr>
              <a:t>44.2 MB</a:t>
            </a:r>
            <a:endParaRPr lang="en-US" sz="2200" dirty="0"/>
          </a:p>
        </p:txBody>
      </p:sp>
      <p:sp>
        <p:nvSpPr>
          <p:cNvPr id="16" name="Text 13"/>
          <p:cNvSpPr/>
          <p:nvPr/>
        </p:nvSpPr>
        <p:spPr>
          <a:xfrm>
            <a:off x="2011680" y="4379976"/>
            <a:ext cx="1554480" cy="548640"/>
          </a:xfrm>
          <a:prstGeom prst="rect">
            <a:avLst/>
          </a:prstGeom>
          <a:noFill/>
          <a:ln/>
        </p:spPr>
        <p:txBody>
          <a:bodyPr wrap="square" rtlCol="0" anchor="ctr"/>
          <a:lstStyle/>
          <a:p>
            <a:pPr marL="0" indent="0">
              <a:buNone/>
            </a:pPr>
            <a:r>
              <a:rPr lang="en-US" sz="1150" dirty="0">
                <a:solidFill>
                  <a:srgbClr val="5C7184"/>
                </a:solidFill>
                <a:latin typeface="Calibri" pitchFamily="34" charset="0"/>
                <a:ea typeface="Calibri" pitchFamily="34" charset="-122"/>
                <a:cs typeface="Calibri" pitchFamily="34" charset="-120"/>
              </a:rPr>
              <a:t>Memory Footprint</a:t>
            </a:r>
            <a:endParaRPr lang="en-US" sz="1150" dirty="0"/>
          </a:p>
        </p:txBody>
      </p:sp>
      <p:sp>
        <p:nvSpPr>
          <p:cNvPr id="17" name="Shape 14"/>
          <p:cNvSpPr/>
          <p:nvPr/>
        </p:nvSpPr>
        <p:spPr>
          <a:xfrm>
            <a:off x="3977640" y="1188720"/>
            <a:ext cx="7178040" cy="4709160"/>
          </a:xfrm>
          <a:prstGeom prst="roundRect">
            <a:avLst>
              <a:gd name="adj" fmla="val 1553"/>
            </a:avLst>
          </a:prstGeom>
          <a:solidFill>
            <a:srgbClr val="FFFFFF"/>
          </a:solidFill>
          <a:ln/>
          <a:effectLst>
            <a:outerShdw blurRad="101600" dist="38100" dir="2700000" algn="bl" rotWithShape="0">
              <a:srgbClr val="0B2545">
                <a:alpha val="15000"/>
              </a:srgbClr>
            </a:outerShdw>
          </a:effectLst>
        </p:spPr>
      </p:sp>
      <p:pic>
        <p:nvPicPr>
          <p:cNvPr id="18" name="Image 1" descr="cell16_img1.png"/>
          <p:cNvPicPr>
            <a:picLocks noChangeAspect="1"/>
          </p:cNvPicPr>
          <p:nvPr/>
        </p:nvPicPr>
        <p:blipFill>
          <a:blip r:embed="rId4"/>
          <a:stretch>
            <a:fillRect/>
          </a:stretch>
        </p:blipFill>
        <p:spPr>
          <a:xfrm>
            <a:off x="4375453" y="1371600"/>
            <a:ext cx="6382415" cy="4160520"/>
          </a:xfrm>
          <a:prstGeom prst="rect">
            <a:avLst/>
          </a:prstGeom>
        </p:spPr>
      </p:pic>
      <p:sp>
        <p:nvSpPr>
          <p:cNvPr id="19" name="Text 15"/>
          <p:cNvSpPr/>
          <p:nvPr/>
        </p:nvSpPr>
        <p:spPr>
          <a:xfrm>
            <a:off x="4160520" y="5596128"/>
            <a:ext cx="6766560" cy="256032"/>
          </a:xfrm>
          <a:prstGeom prst="rect">
            <a:avLst/>
          </a:prstGeom>
          <a:noFill/>
          <a:ln/>
        </p:spPr>
        <p:txBody>
          <a:bodyPr wrap="square" rtlCol="0" anchor="ctr"/>
          <a:lstStyle/>
          <a:p>
            <a:pPr marL="0" indent="0">
              <a:buNone/>
            </a:pPr>
            <a:r>
              <a:rPr lang="en-US" sz="950" i="1" dirty="0">
                <a:solidFill>
                  <a:srgbClr val="5C7184"/>
                </a:solidFill>
                <a:latin typeface="Calibri" pitchFamily="34" charset="0"/>
                <a:ea typeface="Calibri" pitchFamily="34" charset="-122"/>
                <a:cs typeface="Calibri" pitchFamily="34" charset="-120"/>
              </a:rPr>
              <a:t>Activity counts: LAYING 1,944 · STANDING 1,906 · SITTING 1,777 · WALKING 1,722 · WALKING_UPSTAIRS 1,544 · WALKING_DOWNSTAIRS 1,406</a:t>
            </a:r>
            <a:endParaRPr lang="en-US" sz="950" dirty="0"/>
          </a:p>
        </p:txBody>
      </p:sp>
      <p:sp>
        <p:nvSpPr>
          <p:cNvPr id="20" name="Text 16"/>
          <p:cNvSpPr/>
          <p:nvPr/>
        </p:nvSpPr>
        <p:spPr>
          <a:xfrm>
            <a:off x="457200" y="6492240"/>
            <a:ext cx="8229600" cy="228600"/>
          </a:xfrm>
          <a:prstGeom prst="rect">
            <a:avLst/>
          </a:prstGeom>
          <a:noFill/>
          <a:ln/>
        </p:spPr>
        <p:txBody>
          <a:bodyPr wrap="square" rtlCol="0" anchor="ctr"/>
          <a:lstStyle/>
          <a:p>
            <a:pPr marL="0" indent="0">
              <a:buNone/>
            </a:pPr>
            <a:r>
              <a:rPr lang="en-US" sz="900" dirty="0">
                <a:solidFill>
                  <a:srgbClr val="5C7184"/>
                </a:solidFill>
                <a:latin typeface="Calibri" pitchFamily="34" charset="0"/>
                <a:ea typeface="Calibri" pitchFamily="34" charset="-122"/>
                <a:cs typeface="Calibri" pitchFamily="34" charset="-120"/>
              </a:rPr>
              <a:t>Human Activity Pattern Discovery — Clustering Analysis</a:t>
            </a:r>
            <a:endParaRPr lang="en-US" sz="900" dirty="0"/>
          </a:p>
        </p:txBody>
      </p:sp>
      <p:sp>
        <p:nvSpPr>
          <p:cNvPr id="21" name="Text 17"/>
          <p:cNvSpPr/>
          <p:nvPr/>
        </p:nvSpPr>
        <p:spPr>
          <a:xfrm>
            <a:off x="11365992" y="6492240"/>
            <a:ext cx="365760" cy="228600"/>
          </a:xfrm>
          <a:prstGeom prst="rect">
            <a:avLst/>
          </a:prstGeom>
          <a:noFill/>
          <a:ln/>
        </p:spPr>
        <p:txBody>
          <a:bodyPr wrap="square" rtlCol="0" anchor="ctr"/>
          <a:lstStyle/>
          <a:p>
            <a:pPr marL="0" indent="0" algn="r">
              <a:buNone/>
            </a:pPr>
            <a:r>
              <a:rPr lang="en-US" sz="900" dirty="0">
                <a:solidFill>
                  <a:srgbClr val="5C718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9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384048"/>
            <a:ext cx="457200" cy="457200"/>
          </a:xfrm>
          <a:prstGeom prst="rect">
            <a:avLst/>
          </a:prstGeom>
        </p:spPr>
      </p:pic>
      <p:sp>
        <p:nvSpPr>
          <p:cNvPr id="3" name="Text 0"/>
          <p:cNvSpPr/>
          <p:nvPr/>
        </p:nvSpPr>
        <p:spPr>
          <a:xfrm>
            <a:off x="1051560" y="292608"/>
            <a:ext cx="10607040" cy="502920"/>
          </a:xfrm>
          <a:prstGeom prst="rect">
            <a:avLst/>
          </a:prstGeom>
          <a:noFill/>
          <a:ln/>
        </p:spPr>
        <p:txBody>
          <a:bodyPr wrap="square" rtlCol="0" anchor="ctr"/>
          <a:lstStyle/>
          <a:p>
            <a:pPr marL="0" indent="0">
              <a:buNone/>
            </a:pPr>
            <a:r>
              <a:rPr lang="en-US" sz="2700" b="1" dirty="0">
                <a:solidFill>
                  <a:srgbClr val="1B2A3D"/>
                </a:solidFill>
                <a:latin typeface="Cambria" pitchFamily="34" charset="0"/>
                <a:ea typeface="Cambria" pitchFamily="34" charset="-122"/>
                <a:cs typeface="Cambria" pitchFamily="34" charset="-120"/>
              </a:rPr>
              <a:t>Dimensionality Reduction with PCA</a:t>
            </a:r>
            <a:endParaRPr lang="en-US" sz="2700" dirty="0"/>
          </a:p>
        </p:txBody>
      </p:sp>
      <p:sp>
        <p:nvSpPr>
          <p:cNvPr id="4" name="Text 1"/>
          <p:cNvSpPr/>
          <p:nvPr/>
        </p:nvSpPr>
        <p:spPr>
          <a:xfrm>
            <a:off x="1051560" y="749808"/>
            <a:ext cx="10607040" cy="320040"/>
          </a:xfrm>
          <a:prstGeom prst="rect">
            <a:avLst/>
          </a:prstGeom>
          <a:noFill/>
          <a:ln/>
        </p:spPr>
        <p:txBody>
          <a:bodyPr wrap="square" rtlCol="0" anchor="ctr"/>
          <a:lstStyle/>
          <a:p>
            <a:pPr marL="0" indent="0">
              <a:buNone/>
            </a:pPr>
            <a:r>
              <a:rPr lang="en-US" sz="1300" i="1" dirty="0">
                <a:solidFill>
                  <a:srgbClr val="5C7184"/>
                </a:solidFill>
                <a:latin typeface="Calibri" pitchFamily="34" charset="0"/>
                <a:ea typeface="Calibri" pitchFamily="34" charset="-122"/>
                <a:cs typeface="Calibri" pitchFamily="34" charset="-120"/>
              </a:rPr>
              <a:t>Compressing 561 correlated sensor features down to their essential signal</a:t>
            </a:r>
            <a:endParaRPr lang="en-US" sz="1300" dirty="0"/>
          </a:p>
        </p:txBody>
      </p:sp>
      <p:sp>
        <p:nvSpPr>
          <p:cNvPr id="5" name="Shape 2"/>
          <p:cNvSpPr/>
          <p:nvPr/>
        </p:nvSpPr>
        <p:spPr>
          <a:xfrm>
            <a:off x="457200" y="1188720"/>
            <a:ext cx="6309360" cy="4480560"/>
          </a:xfrm>
          <a:prstGeom prst="roundRect">
            <a:avLst>
              <a:gd name="adj" fmla="val 1633"/>
            </a:avLst>
          </a:prstGeom>
          <a:solidFill>
            <a:srgbClr val="FFFFFF"/>
          </a:solidFill>
          <a:ln/>
          <a:effectLst>
            <a:outerShdw blurRad="101600" dist="38100" dir="2700000" algn="bl" rotWithShape="0">
              <a:srgbClr val="0B2545">
                <a:alpha val="15000"/>
              </a:srgbClr>
            </a:outerShdw>
          </a:effectLst>
        </p:spPr>
      </p:sp>
      <p:pic>
        <p:nvPicPr>
          <p:cNvPr id="6" name="Image 1" descr="cell19_img2.png"/>
          <p:cNvPicPr>
            <a:picLocks noChangeAspect="1"/>
          </p:cNvPicPr>
          <p:nvPr/>
        </p:nvPicPr>
        <p:blipFill>
          <a:blip r:embed="rId4"/>
          <a:stretch>
            <a:fillRect/>
          </a:stretch>
        </p:blipFill>
        <p:spPr>
          <a:xfrm>
            <a:off x="594360" y="1371600"/>
            <a:ext cx="6035040" cy="4056338"/>
          </a:xfrm>
          <a:prstGeom prst="rect">
            <a:avLst/>
          </a:prstGeom>
        </p:spPr>
      </p:pic>
      <p:sp>
        <p:nvSpPr>
          <p:cNvPr id="7" name="Shape 3"/>
          <p:cNvSpPr/>
          <p:nvPr/>
        </p:nvSpPr>
        <p:spPr>
          <a:xfrm>
            <a:off x="7040880" y="1188720"/>
            <a:ext cx="4663440" cy="2011680"/>
          </a:xfrm>
          <a:prstGeom prst="roundRect">
            <a:avLst>
              <a:gd name="adj" fmla="val 3636"/>
            </a:avLst>
          </a:prstGeom>
          <a:solidFill>
            <a:srgbClr val="13315C"/>
          </a:solidFill>
          <a:ln/>
          <a:effectLst>
            <a:outerShdw blurRad="101600" dist="38100" dir="2700000" algn="bl" rotWithShape="0">
              <a:srgbClr val="0B2545">
                <a:alpha val="15000"/>
              </a:srgbClr>
            </a:outerShdw>
          </a:effectLst>
        </p:spPr>
      </p:sp>
      <p:sp>
        <p:nvSpPr>
          <p:cNvPr id="8" name="Text 4"/>
          <p:cNvSpPr/>
          <p:nvPr/>
        </p:nvSpPr>
        <p:spPr>
          <a:xfrm>
            <a:off x="7223760" y="1371600"/>
            <a:ext cx="4297680" cy="822960"/>
          </a:xfrm>
          <a:prstGeom prst="rect">
            <a:avLst/>
          </a:prstGeom>
          <a:noFill/>
          <a:ln/>
        </p:spPr>
        <p:txBody>
          <a:bodyPr wrap="square" rtlCol="0" anchor="ctr"/>
          <a:lstStyle/>
          <a:p>
            <a:pPr marL="0" indent="0">
              <a:buNone/>
            </a:pPr>
            <a:r>
              <a:rPr lang="en-US" sz="3600" b="1" dirty="0">
                <a:solidFill>
                  <a:srgbClr val="F2A541"/>
                </a:solidFill>
                <a:latin typeface="Cambria" pitchFamily="34" charset="0"/>
                <a:ea typeface="Cambria" pitchFamily="34" charset="-122"/>
                <a:cs typeface="Cambria" pitchFamily="34" charset="-120"/>
              </a:rPr>
              <a:t>561 → 105</a:t>
            </a:r>
            <a:endParaRPr lang="en-US" sz="3600" dirty="0"/>
          </a:p>
        </p:txBody>
      </p:sp>
      <p:sp>
        <p:nvSpPr>
          <p:cNvPr id="9" name="Text 5"/>
          <p:cNvSpPr/>
          <p:nvPr/>
        </p:nvSpPr>
        <p:spPr>
          <a:xfrm>
            <a:off x="7223760" y="2148840"/>
            <a:ext cx="4297680" cy="91440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components needed to retain 95% of the dataset's variance — a ~81% reduction in dimensionality.</a:t>
            </a:r>
            <a:endParaRPr lang="en-US" sz="1250" dirty="0"/>
          </a:p>
        </p:txBody>
      </p:sp>
      <p:sp>
        <p:nvSpPr>
          <p:cNvPr id="10" name="Text 6"/>
          <p:cNvSpPr/>
          <p:nvPr/>
        </p:nvSpPr>
        <p:spPr>
          <a:xfrm>
            <a:off x="7040880" y="3429000"/>
            <a:ext cx="4663440" cy="2194560"/>
          </a:xfrm>
          <a:prstGeom prst="rect">
            <a:avLst/>
          </a:prstGeom>
          <a:noFill/>
          <a:ln/>
        </p:spPr>
        <p:txBody>
          <a:bodyPr wrap="square" rtlCol="0" anchor="t"/>
          <a:lstStyle/>
          <a:p>
            <a:pPr marL="0" indent="0">
              <a:lnSpc>
                <a:spcPct val="125000"/>
              </a:lnSpc>
              <a:buNone/>
            </a:pPr>
            <a:r>
              <a:rPr lang="en-US" sz="1300" dirty="0">
                <a:solidFill>
                  <a:srgbClr val="1B2A3D"/>
                </a:solidFill>
                <a:latin typeface="Calibri" pitchFamily="34" charset="0"/>
                <a:ea typeface="Calibri" pitchFamily="34" charset="-122"/>
                <a:cs typeface="Calibri" pitchFamily="34" charset="-120"/>
              </a:rPr>
              <a:t>The red dashed line marks the 95% variance threshold. The steep early rise confirms heavy redundancy among the 561 raw features (many are derived from the same X/Y/Z accelerometer and gyroscope signals), so a much smaller set of components captures nearly all the information.</a:t>
            </a:r>
            <a:endParaRPr lang="en-US" sz="1300" dirty="0"/>
          </a:p>
        </p:txBody>
      </p:sp>
      <p:sp>
        <p:nvSpPr>
          <p:cNvPr id="11" name="Text 7"/>
          <p:cNvSpPr/>
          <p:nvPr/>
        </p:nvSpPr>
        <p:spPr>
          <a:xfrm>
            <a:off x="457200" y="6492240"/>
            <a:ext cx="8229600" cy="228600"/>
          </a:xfrm>
          <a:prstGeom prst="rect">
            <a:avLst/>
          </a:prstGeom>
          <a:noFill/>
          <a:ln/>
        </p:spPr>
        <p:txBody>
          <a:bodyPr wrap="square" rtlCol="0" anchor="ctr"/>
          <a:lstStyle/>
          <a:p>
            <a:pPr marL="0" indent="0">
              <a:buNone/>
            </a:pPr>
            <a:r>
              <a:rPr lang="en-US" sz="900" dirty="0">
                <a:solidFill>
                  <a:srgbClr val="5C7184"/>
                </a:solidFill>
                <a:latin typeface="Calibri" pitchFamily="34" charset="0"/>
                <a:ea typeface="Calibri" pitchFamily="34" charset="-122"/>
                <a:cs typeface="Calibri" pitchFamily="34" charset="-120"/>
              </a:rPr>
              <a:t>Human Activity Pattern Discovery — Clustering Analysis</a:t>
            </a:r>
            <a:endParaRPr lang="en-US" sz="900" dirty="0"/>
          </a:p>
        </p:txBody>
      </p:sp>
      <p:sp>
        <p:nvSpPr>
          <p:cNvPr id="12" name="Text 8"/>
          <p:cNvSpPr/>
          <p:nvPr/>
        </p:nvSpPr>
        <p:spPr>
          <a:xfrm>
            <a:off x="11365992" y="6492240"/>
            <a:ext cx="365760" cy="228600"/>
          </a:xfrm>
          <a:prstGeom prst="rect">
            <a:avLst/>
          </a:prstGeom>
          <a:noFill/>
          <a:ln/>
        </p:spPr>
        <p:txBody>
          <a:bodyPr wrap="square" rtlCol="0" anchor="ctr"/>
          <a:lstStyle/>
          <a:p>
            <a:pPr marL="0" indent="0" algn="r">
              <a:buNone/>
            </a:pPr>
            <a:r>
              <a:rPr lang="en-US" sz="900" dirty="0">
                <a:solidFill>
                  <a:srgbClr val="5C718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5F9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384048"/>
            <a:ext cx="457200" cy="457200"/>
          </a:xfrm>
          <a:prstGeom prst="rect">
            <a:avLst/>
          </a:prstGeom>
        </p:spPr>
      </p:pic>
      <p:sp>
        <p:nvSpPr>
          <p:cNvPr id="3" name="Text 0"/>
          <p:cNvSpPr/>
          <p:nvPr/>
        </p:nvSpPr>
        <p:spPr>
          <a:xfrm>
            <a:off x="1051560" y="292608"/>
            <a:ext cx="10607040" cy="502920"/>
          </a:xfrm>
          <a:prstGeom prst="rect">
            <a:avLst/>
          </a:prstGeom>
          <a:noFill/>
          <a:ln/>
        </p:spPr>
        <p:txBody>
          <a:bodyPr wrap="square" rtlCol="0" anchor="ctr"/>
          <a:lstStyle/>
          <a:p>
            <a:pPr marL="0" indent="0">
              <a:buNone/>
            </a:pPr>
            <a:r>
              <a:rPr lang="en-US" sz="2700" b="1" dirty="0">
                <a:solidFill>
                  <a:srgbClr val="1B2A3D"/>
                </a:solidFill>
                <a:latin typeface="Cambria" pitchFamily="34" charset="0"/>
                <a:ea typeface="Cambria" pitchFamily="34" charset="-122"/>
                <a:cs typeface="Cambria" pitchFamily="34" charset="-120"/>
              </a:rPr>
              <a:t>Feature Importance (Random Forest)</a:t>
            </a:r>
            <a:endParaRPr lang="en-US" sz="2700" dirty="0"/>
          </a:p>
        </p:txBody>
      </p:sp>
      <p:sp>
        <p:nvSpPr>
          <p:cNvPr id="4" name="Text 1"/>
          <p:cNvSpPr/>
          <p:nvPr/>
        </p:nvSpPr>
        <p:spPr>
          <a:xfrm>
            <a:off x="1051560" y="749808"/>
            <a:ext cx="10607040" cy="320040"/>
          </a:xfrm>
          <a:prstGeom prst="rect">
            <a:avLst/>
          </a:prstGeom>
          <a:noFill/>
          <a:ln/>
        </p:spPr>
        <p:txBody>
          <a:bodyPr wrap="square" rtlCol="0" anchor="ctr"/>
          <a:lstStyle/>
          <a:p>
            <a:pPr marL="0" indent="0">
              <a:buNone/>
            </a:pPr>
            <a:r>
              <a:rPr lang="en-US" sz="1300" i="1" dirty="0">
                <a:solidFill>
                  <a:srgbClr val="5C7184"/>
                </a:solidFill>
                <a:latin typeface="Calibri" pitchFamily="34" charset="0"/>
                <a:ea typeface="Calibri" pitchFamily="34" charset="-122"/>
                <a:cs typeface="Calibri" pitchFamily="34" charset="-120"/>
              </a:rPr>
              <a:t>Identifying which sensor signals matter most for distinguishing activities</a:t>
            </a:r>
            <a:endParaRPr lang="en-US" sz="1300" dirty="0"/>
          </a:p>
        </p:txBody>
      </p:sp>
      <p:sp>
        <p:nvSpPr>
          <p:cNvPr id="5" name="Shape 2"/>
          <p:cNvSpPr/>
          <p:nvPr/>
        </p:nvSpPr>
        <p:spPr>
          <a:xfrm>
            <a:off x="457200" y="1188720"/>
            <a:ext cx="6583680" cy="4846320"/>
          </a:xfrm>
          <a:prstGeom prst="roundRect">
            <a:avLst>
              <a:gd name="adj" fmla="val 1509"/>
            </a:avLst>
          </a:prstGeom>
          <a:solidFill>
            <a:srgbClr val="FFFFFF"/>
          </a:solidFill>
          <a:ln/>
          <a:effectLst>
            <a:outerShdw blurRad="101600" dist="38100" dir="2700000" algn="bl" rotWithShape="0">
              <a:srgbClr val="0B2545">
                <a:alpha val="15000"/>
              </a:srgbClr>
            </a:outerShdw>
          </a:effectLst>
        </p:spPr>
      </p:sp>
      <p:pic>
        <p:nvPicPr>
          <p:cNvPr id="6" name="Image 1" descr="cell23_img4.png"/>
          <p:cNvPicPr>
            <a:picLocks noChangeAspect="1"/>
          </p:cNvPicPr>
          <p:nvPr/>
        </p:nvPicPr>
        <p:blipFill>
          <a:blip r:embed="rId4"/>
          <a:stretch>
            <a:fillRect/>
          </a:stretch>
        </p:blipFill>
        <p:spPr>
          <a:xfrm>
            <a:off x="594360" y="1325880"/>
            <a:ext cx="6309360" cy="4184353"/>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15200" y="1188720"/>
          <a:ext cx="4389120" cy="2304288"/>
        </p:xfrm>
        <a:graphic>
          <a:graphicData uri="http://schemas.openxmlformats.org/drawingml/2006/table">
            <a:tbl>
              <a:tblPr/>
              <a:tblGrid>
                <a:gridCol w="29260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tblGrid>
              <a:tr h="32918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Importance</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extLst>
                  <a:ext uri="{0D108BD9-81ED-4DB2-BD59-A6C34878D82A}">
                    <a16:rowId xmlns:a16="http://schemas.microsoft.com/office/drawing/2014/main" val="10000"/>
                  </a:ext>
                </a:extLst>
              </a:tr>
              <a:tr h="329184">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tGravityAcc-mean()-X</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0.0371</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tGravityAcc-max()-X</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0.0329</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angle(X,gravityMean)</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0.0318</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tGravityAcc-energy()-X</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0.0275</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tGravityAcc-mean()-Y</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0.0248</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extLst>
                  <a:ext uri="{0D108BD9-81ED-4DB2-BD59-A6C34878D82A}">
                    <a16:rowId xmlns:a16="http://schemas.microsoft.com/office/drawing/2014/main" val="10005"/>
                  </a:ext>
                </a:extLst>
              </a:tr>
              <a:tr h="329184">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tGravityAcc-min()-X</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0.0207</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Text 3"/>
          <p:cNvSpPr/>
          <p:nvPr/>
        </p:nvSpPr>
        <p:spPr>
          <a:xfrm>
            <a:off x="7315200" y="4069080"/>
            <a:ext cx="4389120" cy="1737360"/>
          </a:xfrm>
          <a:prstGeom prst="rect">
            <a:avLst/>
          </a:prstGeom>
          <a:noFill/>
          <a:ln/>
        </p:spPr>
        <p:txBody>
          <a:bodyPr wrap="square" rtlCol="0" anchor="t"/>
          <a:lstStyle/>
          <a:p>
            <a:pPr marL="0" indent="0">
              <a:lnSpc>
                <a:spcPct val="120000"/>
              </a:lnSpc>
              <a:buNone/>
            </a:pPr>
            <a:r>
              <a:rPr lang="en-US" sz="1250" dirty="0">
                <a:solidFill>
                  <a:srgbClr val="1B2A3D"/>
                </a:solidFill>
                <a:latin typeface="Calibri" pitchFamily="34" charset="0"/>
                <a:ea typeface="Calibri" pitchFamily="34" charset="-122"/>
                <a:cs typeface="Calibri" pitchFamily="34" charset="-120"/>
              </a:rPr>
              <a:t>Gravity-axis features dominate the top of the ranking — these capture device/body orientation and are highly diagnostic of posture (sitting vs. standing vs. laying vs. walking).</a:t>
            </a:r>
            <a:endParaRPr lang="en-US" sz="1250" dirty="0"/>
          </a:p>
        </p:txBody>
      </p:sp>
      <p:sp>
        <p:nvSpPr>
          <p:cNvPr id="9" name="Text 4"/>
          <p:cNvSpPr/>
          <p:nvPr/>
        </p:nvSpPr>
        <p:spPr>
          <a:xfrm>
            <a:off x="457200" y="6492240"/>
            <a:ext cx="8229600" cy="228600"/>
          </a:xfrm>
          <a:prstGeom prst="rect">
            <a:avLst/>
          </a:prstGeom>
          <a:noFill/>
          <a:ln/>
        </p:spPr>
        <p:txBody>
          <a:bodyPr wrap="square" rtlCol="0" anchor="ctr"/>
          <a:lstStyle/>
          <a:p>
            <a:pPr marL="0" indent="0">
              <a:buNone/>
            </a:pPr>
            <a:r>
              <a:rPr lang="en-US" sz="900" dirty="0">
                <a:solidFill>
                  <a:srgbClr val="5C7184"/>
                </a:solidFill>
                <a:latin typeface="Calibri" pitchFamily="34" charset="0"/>
                <a:ea typeface="Calibri" pitchFamily="34" charset="-122"/>
                <a:cs typeface="Calibri" pitchFamily="34" charset="-120"/>
              </a:rPr>
              <a:t>Human Activity Pattern Discovery — Clustering Analysis</a:t>
            </a:r>
            <a:endParaRPr lang="en-US" sz="900" dirty="0"/>
          </a:p>
        </p:txBody>
      </p:sp>
      <p:sp>
        <p:nvSpPr>
          <p:cNvPr id="10" name="Text 5"/>
          <p:cNvSpPr/>
          <p:nvPr/>
        </p:nvSpPr>
        <p:spPr>
          <a:xfrm>
            <a:off x="11365992" y="6492240"/>
            <a:ext cx="365760" cy="228600"/>
          </a:xfrm>
          <a:prstGeom prst="rect">
            <a:avLst/>
          </a:prstGeom>
          <a:noFill/>
          <a:ln/>
        </p:spPr>
        <p:txBody>
          <a:bodyPr wrap="square" rtlCol="0" anchor="ctr"/>
          <a:lstStyle/>
          <a:p>
            <a:pPr marL="0" indent="0" algn="r">
              <a:buNone/>
            </a:pPr>
            <a:r>
              <a:rPr lang="en-US" sz="900" dirty="0">
                <a:solidFill>
                  <a:srgbClr val="5C718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5F9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384048"/>
            <a:ext cx="457200" cy="457200"/>
          </a:xfrm>
          <a:prstGeom prst="rect">
            <a:avLst/>
          </a:prstGeom>
        </p:spPr>
      </p:pic>
      <p:sp>
        <p:nvSpPr>
          <p:cNvPr id="3" name="Text 0"/>
          <p:cNvSpPr/>
          <p:nvPr/>
        </p:nvSpPr>
        <p:spPr>
          <a:xfrm>
            <a:off x="1051560" y="292608"/>
            <a:ext cx="10607040" cy="502920"/>
          </a:xfrm>
          <a:prstGeom prst="rect">
            <a:avLst/>
          </a:prstGeom>
          <a:noFill/>
          <a:ln/>
        </p:spPr>
        <p:txBody>
          <a:bodyPr wrap="square" rtlCol="0" anchor="ctr"/>
          <a:lstStyle/>
          <a:p>
            <a:pPr marL="0" indent="0">
              <a:buNone/>
            </a:pPr>
            <a:r>
              <a:rPr lang="en-US" sz="2700" b="1" dirty="0">
                <a:solidFill>
                  <a:srgbClr val="1B2A3D"/>
                </a:solidFill>
                <a:latin typeface="Cambria" pitchFamily="34" charset="0"/>
                <a:ea typeface="Cambria" pitchFamily="34" charset="-122"/>
                <a:cs typeface="Cambria" pitchFamily="34" charset="-120"/>
              </a:rPr>
              <a:t>Choosing the Number of Clusters: Elbow Method</a:t>
            </a:r>
            <a:endParaRPr lang="en-US" sz="2700" dirty="0"/>
          </a:p>
        </p:txBody>
      </p:sp>
      <p:sp>
        <p:nvSpPr>
          <p:cNvPr id="4" name="Text 1"/>
          <p:cNvSpPr/>
          <p:nvPr/>
        </p:nvSpPr>
        <p:spPr>
          <a:xfrm>
            <a:off x="1051560" y="749808"/>
            <a:ext cx="10607040" cy="320040"/>
          </a:xfrm>
          <a:prstGeom prst="rect">
            <a:avLst/>
          </a:prstGeom>
          <a:noFill/>
          <a:ln/>
        </p:spPr>
        <p:txBody>
          <a:bodyPr wrap="square" rtlCol="0" anchor="ctr"/>
          <a:lstStyle/>
          <a:p>
            <a:pPr marL="0" indent="0">
              <a:buNone/>
            </a:pPr>
            <a:r>
              <a:rPr lang="en-US" sz="1300" i="1" dirty="0">
                <a:solidFill>
                  <a:srgbClr val="5C7184"/>
                </a:solidFill>
                <a:latin typeface="Calibri" pitchFamily="34" charset="0"/>
                <a:ea typeface="Calibri" pitchFamily="34" charset="-122"/>
                <a:cs typeface="Calibri" pitchFamily="34" charset="-120"/>
              </a:rPr>
              <a:t>Top 50 most important features selected and standardized before clustering</a:t>
            </a:r>
            <a:endParaRPr lang="en-US" sz="1300" dirty="0"/>
          </a:p>
        </p:txBody>
      </p:sp>
      <p:sp>
        <p:nvSpPr>
          <p:cNvPr id="5" name="Shape 2"/>
          <p:cNvSpPr/>
          <p:nvPr/>
        </p:nvSpPr>
        <p:spPr>
          <a:xfrm>
            <a:off x="457200" y="1188720"/>
            <a:ext cx="6309360" cy="4572000"/>
          </a:xfrm>
          <a:prstGeom prst="roundRect">
            <a:avLst>
              <a:gd name="adj" fmla="val 1600"/>
            </a:avLst>
          </a:prstGeom>
          <a:solidFill>
            <a:srgbClr val="FFFFFF"/>
          </a:solidFill>
          <a:ln/>
          <a:effectLst>
            <a:outerShdw blurRad="101600" dist="38100" dir="2700000" algn="bl" rotWithShape="0">
              <a:srgbClr val="0B2545">
                <a:alpha val="15000"/>
              </a:srgbClr>
            </a:outerShdw>
          </a:effectLst>
        </p:spPr>
      </p:sp>
      <p:pic>
        <p:nvPicPr>
          <p:cNvPr id="6" name="Image 1" descr="cell26_img5.png"/>
          <p:cNvPicPr>
            <a:picLocks noChangeAspect="1"/>
          </p:cNvPicPr>
          <p:nvPr/>
        </p:nvPicPr>
        <p:blipFill>
          <a:blip r:embed="rId4"/>
          <a:stretch>
            <a:fillRect/>
          </a:stretch>
        </p:blipFill>
        <p:spPr>
          <a:xfrm>
            <a:off x="594360" y="1371600"/>
            <a:ext cx="6035040" cy="3934076"/>
          </a:xfrm>
          <a:prstGeom prst="rect">
            <a:avLst/>
          </a:prstGeom>
        </p:spPr>
      </p:pic>
      <p:sp>
        <p:nvSpPr>
          <p:cNvPr id="7" name="Shape 3"/>
          <p:cNvSpPr/>
          <p:nvPr/>
        </p:nvSpPr>
        <p:spPr>
          <a:xfrm>
            <a:off x="7040880" y="1188720"/>
            <a:ext cx="4663440" cy="1554480"/>
          </a:xfrm>
          <a:prstGeom prst="roundRect">
            <a:avLst>
              <a:gd name="adj" fmla="val 4706"/>
            </a:avLst>
          </a:prstGeom>
          <a:solidFill>
            <a:srgbClr val="13315C"/>
          </a:solidFill>
          <a:ln/>
          <a:effectLst>
            <a:outerShdw blurRad="101600" dist="38100" dir="2700000" algn="bl" rotWithShape="0">
              <a:srgbClr val="0B2545">
                <a:alpha val="15000"/>
              </a:srgbClr>
            </a:outerShdw>
          </a:effectLst>
        </p:spPr>
      </p:sp>
      <p:sp>
        <p:nvSpPr>
          <p:cNvPr id="8" name="Text 4"/>
          <p:cNvSpPr/>
          <p:nvPr/>
        </p:nvSpPr>
        <p:spPr>
          <a:xfrm>
            <a:off x="7223760" y="1325880"/>
            <a:ext cx="4297680" cy="685800"/>
          </a:xfrm>
          <a:prstGeom prst="rect">
            <a:avLst/>
          </a:prstGeom>
          <a:noFill/>
          <a:ln/>
        </p:spPr>
        <p:txBody>
          <a:bodyPr wrap="square" rtlCol="0" anchor="ctr"/>
          <a:lstStyle/>
          <a:p>
            <a:pPr marL="0" indent="0">
              <a:buNone/>
            </a:pPr>
            <a:r>
              <a:rPr lang="en-US" sz="3400" b="1" dirty="0">
                <a:solidFill>
                  <a:srgbClr val="F2A541"/>
                </a:solidFill>
                <a:latin typeface="Cambria" pitchFamily="34" charset="0"/>
                <a:ea typeface="Cambria" pitchFamily="34" charset="-122"/>
                <a:cs typeface="Cambria" pitchFamily="34" charset="-120"/>
              </a:rPr>
              <a:t>50</a:t>
            </a:r>
            <a:endParaRPr lang="en-US" sz="3400" dirty="0"/>
          </a:p>
        </p:txBody>
      </p:sp>
      <p:sp>
        <p:nvSpPr>
          <p:cNvPr id="9" name="Text 5"/>
          <p:cNvSpPr/>
          <p:nvPr/>
        </p:nvSpPr>
        <p:spPr>
          <a:xfrm>
            <a:off x="7223760" y="2011680"/>
            <a:ext cx="4297680" cy="64008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top-ranked features carried forward into clustering (down from 561 raw / 105 PCA components)</a:t>
            </a:r>
            <a:endParaRPr lang="en-US" sz="1200" dirty="0"/>
          </a:p>
        </p:txBody>
      </p:sp>
      <p:sp>
        <p:nvSpPr>
          <p:cNvPr id="10" name="Text 6"/>
          <p:cNvSpPr/>
          <p:nvPr/>
        </p:nvSpPr>
        <p:spPr>
          <a:xfrm>
            <a:off x="7040880" y="3017520"/>
            <a:ext cx="4663440" cy="2468880"/>
          </a:xfrm>
          <a:prstGeom prst="rect">
            <a:avLst/>
          </a:prstGeom>
          <a:noFill/>
          <a:ln/>
        </p:spPr>
        <p:txBody>
          <a:bodyPr wrap="square" rtlCol="0" anchor="t"/>
          <a:lstStyle/>
          <a:p>
            <a:pPr marL="0" indent="0">
              <a:lnSpc>
                <a:spcPct val="125000"/>
              </a:lnSpc>
              <a:buNone/>
            </a:pPr>
            <a:r>
              <a:rPr lang="en-US" sz="1300" dirty="0">
                <a:solidFill>
                  <a:srgbClr val="1B2A3D"/>
                </a:solidFill>
                <a:latin typeface="Calibri" pitchFamily="34" charset="0"/>
                <a:ea typeface="Calibri" pitchFamily="34" charset="-122"/>
                <a:cs typeface="Calibri" pitchFamily="34" charset="-120"/>
              </a:rPr>
              <a:t>The inertia (within-cluster sum of squares) drops sharply from k=2 to k=4, then flattens. The visible bend around k=3–4 suggests diminishing returns from adding more clusters beyond that point — consistent with the silhouette analysis on the next slide.</a:t>
            </a:r>
            <a:endParaRPr lang="en-US" sz="1300" dirty="0"/>
          </a:p>
        </p:txBody>
      </p:sp>
      <p:sp>
        <p:nvSpPr>
          <p:cNvPr id="11" name="Text 7"/>
          <p:cNvSpPr/>
          <p:nvPr/>
        </p:nvSpPr>
        <p:spPr>
          <a:xfrm>
            <a:off x="457200" y="6492240"/>
            <a:ext cx="8229600" cy="228600"/>
          </a:xfrm>
          <a:prstGeom prst="rect">
            <a:avLst/>
          </a:prstGeom>
          <a:noFill/>
          <a:ln/>
        </p:spPr>
        <p:txBody>
          <a:bodyPr wrap="square" rtlCol="0" anchor="ctr"/>
          <a:lstStyle/>
          <a:p>
            <a:pPr marL="0" indent="0">
              <a:buNone/>
            </a:pPr>
            <a:r>
              <a:rPr lang="en-US" sz="900" dirty="0">
                <a:solidFill>
                  <a:srgbClr val="5C7184"/>
                </a:solidFill>
                <a:latin typeface="Calibri" pitchFamily="34" charset="0"/>
                <a:ea typeface="Calibri" pitchFamily="34" charset="-122"/>
                <a:cs typeface="Calibri" pitchFamily="34" charset="-120"/>
              </a:rPr>
              <a:t>Human Activity Pattern Discovery — Clustering Analysis</a:t>
            </a:r>
            <a:endParaRPr lang="en-US" sz="900" dirty="0"/>
          </a:p>
        </p:txBody>
      </p:sp>
      <p:sp>
        <p:nvSpPr>
          <p:cNvPr id="12" name="Text 8"/>
          <p:cNvSpPr/>
          <p:nvPr/>
        </p:nvSpPr>
        <p:spPr>
          <a:xfrm>
            <a:off x="11365992" y="6492240"/>
            <a:ext cx="365760" cy="228600"/>
          </a:xfrm>
          <a:prstGeom prst="rect">
            <a:avLst/>
          </a:prstGeom>
          <a:noFill/>
          <a:ln/>
        </p:spPr>
        <p:txBody>
          <a:bodyPr wrap="square" rtlCol="0" anchor="ctr"/>
          <a:lstStyle/>
          <a:p>
            <a:pPr marL="0" indent="0" algn="r">
              <a:buNone/>
            </a:pPr>
            <a:r>
              <a:rPr lang="en-US" sz="900" dirty="0">
                <a:solidFill>
                  <a:srgbClr val="5C718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5F9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384048"/>
            <a:ext cx="457200" cy="457200"/>
          </a:xfrm>
          <a:prstGeom prst="rect">
            <a:avLst/>
          </a:prstGeom>
        </p:spPr>
      </p:pic>
      <p:sp>
        <p:nvSpPr>
          <p:cNvPr id="3" name="Text 0"/>
          <p:cNvSpPr/>
          <p:nvPr/>
        </p:nvSpPr>
        <p:spPr>
          <a:xfrm>
            <a:off x="1051560" y="292608"/>
            <a:ext cx="10607040" cy="502920"/>
          </a:xfrm>
          <a:prstGeom prst="rect">
            <a:avLst/>
          </a:prstGeom>
          <a:noFill/>
          <a:ln/>
        </p:spPr>
        <p:txBody>
          <a:bodyPr wrap="square" rtlCol="0" anchor="ctr"/>
          <a:lstStyle/>
          <a:p>
            <a:pPr marL="0" indent="0">
              <a:buNone/>
            </a:pPr>
            <a:r>
              <a:rPr lang="en-US" sz="2700" b="1" dirty="0">
                <a:solidFill>
                  <a:srgbClr val="1B2A3D"/>
                </a:solidFill>
                <a:latin typeface="Cambria" pitchFamily="34" charset="0"/>
                <a:ea typeface="Cambria" pitchFamily="34" charset="-122"/>
                <a:cs typeface="Cambria" pitchFamily="34" charset="-120"/>
              </a:rPr>
              <a:t>Silhouette Analysis</a:t>
            </a:r>
            <a:endParaRPr lang="en-US" sz="2700" dirty="0"/>
          </a:p>
        </p:txBody>
      </p:sp>
      <p:sp>
        <p:nvSpPr>
          <p:cNvPr id="4" name="Text 1"/>
          <p:cNvSpPr/>
          <p:nvPr/>
        </p:nvSpPr>
        <p:spPr>
          <a:xfrm>
            <a:off x="1051560" y="749808"/>
            <a:ext cx="10607040" cy="320040"/>
          </a:xfrm>
          <a:prstGeom prst="rect">
            <a:avLst/>
          </a:prstGeom>
          <a:noFill/>
          <a:ln/>
        </p:spPr>
        <p:txBody>
          <a:bodyPr wrap="square" rtlCol="0" anchor="ctr"/>
          <a:lstStyle/>
          <a:p>
            <a:pPr marL="0" indent="0">
              <a:buNone/>
            </a:pPr>
            <a:r>
              <a:rPr lang="en-US" sz="1300" i="1" dirty="0">
                <a:solidFill>
                  <a:srgbClr val="5C7184"/>
                </a:solidFill>
                <a:latin typeface="Calibri" pitchFamily="34" charset="0"/>
                <a:ea typeface="Calibri" pitchFamily="34" charset="-122"/>
                <a:cs typeface="Calibri" pitchFamily="34" charset="-120"/>
              </a:rPr>
              <a:t>Testing k = 2 through 10 to find the best-separated clustering solution</a:t>
            </a:r>
            <a:endParaRPr lang="en-US" sz="1300" dirty="0"/>
          </a:p>
        </p:txBody>
      </p:sp>
      <p:sp>
        <p:nvSpPr>
          <p:cNvPr id="5" name="Shape 2"/>
          <p:cNvSpPr/>
          <p:nvPr/>
        </p:nvSpPr>
        <p:spPr>
          <a:xfrm>
            <a:off x="457200" y="1188720"/>
            <a:ext cx="6309360" cy="4572000"/>
          </a:xfrm>
          <a:prstGeom prst="roundRect">
            <a:avLst>
              <a:gd name="adj" fmla="val 1600"/>
            </a:avLst>
          </a:prstGeom>
          <a:solidFill>
            <a:srgbClr val="FFFFFF"/>
          </a:solidFill>
          <a:ln/>
          <a:effectLst>
            <a:outerShdw blurRad="101600" dist="38100" dir="2700000" algn="bl" rotWithShape="0">
              <a:srgbClr val="0B2545">
                <a:alpha val="15000"/>
              </a:srgbClr>
            </a:outerShdw>
          </a:effectLst>
        </p:spPr>
      </p:sp>
      <p:pic>
        <p:nvPicPr>
          <p:cNvPr id="6" name="Image 1" descr="cell27_img6.png"/>
          <p:cNvPicPr>
            <a:picLocks noChangeAspect="1"/>
          </p:cNvPicPr>
          <p:nvPr/>
        </p:nvPicPr>
        <p:blipFill>
          <a:blip r:embed="rId4"/>
          <a:stretch>
            <a:fillRect/>
          </a:stretch>
        </p:blipFill>
        <p:spPr>
          <a:xfrm>
            <a:off x="594360" y="1371600"/>
            <a:ext cx="6035040" cy="4057895"/>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040880" y="1188720"/>
          <a:ext cx="4663440" cy="2560320"/>
        </p:xfrm>
        <a:graphic>
          <a:graphicData uri="http://schemas.openxmlformats.org/drawingml/2006/table">
            <a:tbl>
              <a:tblPr/>
              <a:tblGrid>
                <a:gridCol w="182880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k</a:t>
                      </a:r>
                      <a:endParaRPr lang="en-US" sz="12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Silhouette</a:t>
                      </a:r>
                      <a:endParaRPr lang="en-US" sz="12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extLst>
                  <a:ext uri="{0D108BD9-81ED-4DB2-BD59-A6C34878D82A}">
                    <a16:rowId xmlns:a16="http://schemas.microsoft.com/office/drawing/2014/main" val="10000"/>
                  </a:ext>
                </a:extLst>
              </a:tr>
              <a:tr h="365760">
                <a:tc>
                  <a:txBody>
                    <a:bodyPr/>
                    <a:lstStyle/>
                    <a:p>
                      <a:pPr marL="0" indent="0">
                        <a:buNone/>
                      </a:pPr>
                      <a:r>
                        <a:rPr lang="en-US" sz="1200" dirty="0">
                          <a:solidFill>
                            <a:srgbClr val="1B2A3D"/>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200" dirty="0">
                          <a:solidFill>
                            <a:srgbClr val="1B2A3D"/>
                          </a:solidFill>
                          <a:latin typeface="Calibri" pitchFamily="34" charset="0"/>
                          <a:ea typeface="Calibri" pitchFamily="34" charset="-122"/>
                          <a:cs typeface="Calibri" pitchFamily="34" charset="-120"/>
                        </a:rPr>
                        <a:t>0.4313</a:t>
                      </a:r>
                      <a:endParaRPr lang="en-US" sz="12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200" b="1" dirty="0">
                          <a:solidFill>
                            <a:srgbClr val="1C7293"/>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200" b="1" dirty="0">
                          <a:solidFill>
                            <a:srgbClr val="1C7293"/>
                          </a:solidFill>
                          <a:latin typeface="Calibri" pitchFamily="34" charset="0"/>
                          <a:ea typeface="Calibri" pitchFamily="34" charset="-122"/>
                          <a:cs typeface="Calibri" pitchFamily="34" charset="-120"/>
                        </a:rPr>
                        <a:t>0.4459</a:t>
                      </a:r>
                      <a:endParaRPr lang="en-US" sz="12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200" dirty="0">
                          <a:solidFill>
                            <a:srgbClr val="1B2A3D"/>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200" dirty="0">
                          <a:solidFill>
                            <a:srgbClr val="1B2A3D"/>
                          </a:solidFill>
                          <a:latin typeface="Calibri" pitchFamily="34" charset="0"/>
                          <a:ea typeface="Calibri" pitchFamily="34" charset="-122"/>
                          <a:cs typeface="Calibri" pitchFamily="34" charset="-120"/>
                        </a:rPr>
                        <a:t>0.3815</a:t>
                      </a:r>
                      <a:endParaRPr lang="en-US" sz="12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200" dirty="0">
                          <a:solidFill>
                            <a:srgbClr val="1B2A3D"/>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200" dirty="0">
                          <a:solidFill>
                            <a:srgbClr val="1B2A3D"/>
                          </a:solidFill>
                          <a:latin typeface="Calibri" pitchFamily="34" charset="0"/>
                          <a:ea typeface="Calibri" pitchFamily="34" charset="-122"/>
                          <a:cs typeface="Calibri" pitchFamily="34" charset="-120"/>
                        </a:rPr>
                        <a:t>0.3572</a:t>
                      </a:r>
                      <a:endParaRPr lang="en-US" sz="12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buNone/>
                      </a:pPr>
                      <a:r>
                        <a:rPr lang="en-US" sz="1200" dirty="0">
                          <a:solidFill>
                            <a:srgbClr val="1B2A3D"/>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200" dirty="0">
                          <a:solidFill>
                            <a:srgbClr val="1B2A3D"/>
                          </a:solidFill>
                          <a:latin typeface="Calibri" pitchFamily="34" charset="0"/>
                          <a:ea typeface="Calibri" pitchFamily="34" charset="-122"/>
                          <a:cs typeface="Calibri" pitchFamily="34" charset="-120"/>
                        </a:rPr>
                        <a:t>0.2773</a:t>
                      </a:r>
                      <a:endParaRPr lang="en-US" sz="12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buNone/>
                      </a:pPr>
                      <a:r>
                        <a:rPr lang="en-US" sz="1200" dirty="0">
                          <a:solidFill>
                            <a:srgbClr val="1B2A3D"/>
                          </a:solidFill>
                          <a:latin typeface="Calibri" pitchFamily="34" charset="0"/>
                          <a:ea typeface="Calibri" pitchFamily="34" charset="-122"/>
                          <a:cs typeface="Calibri" pitchFamily="34" charset="-120"/>
                        </a:rPr>
                        <a:t>7 – 10</a:t>
                      </a:r>
                      <a:endParaRPr lang="en-US" sz="12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200" dirty="0">
                          <a:solidFill>
                            <a:srgbClr val="1B2A3D"/>
                          </a:solidFill>
                          <a:latin typeface="Calibri" pitchFamily="34" charset="0"/>
                          <a:ea typeface="Calibri" pitchFamily="34" charset="-122"/>
                          <a:cs typeface="Calibri" pitchFamily="34" charset="-120"/>
                        </a:rPr>
                        <a:t>0.23 – 0.24</a:t>
                      </a:r>
                      <a:endParaRPr lang="en-US" sz="12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Text 3"/>
          <p:cNvSpPr/>
          <p:nvPr/>
        </p:nvSpPr>
        <p:spPr>
          <a:xfrm>
            <a:off x="7040880" y="4069080"/>
            <a:ext cx="4663440" cy="1737360"/>
          </a:xfrm>
          <a:prstGeom prst="rect">
            <a:avLst/>
          </a:prstGeom>
          <a:noFill/>
          <a:ln/>
        </p:spPr>
        <p:txBody>
          <a:bodyPr wrap="square" rtlCol="0" anchor="t"/>
          <a:lstStyle/>
          <a:p>
            <a:pPr marL="0" indent="0">
              <a:lnSpc>
                <a:spcPct val="120000"/>
              </a:lnSpc>
              <a:buNone/>
            </a:pPr>
            <a:r>
              <a:rPr lang="en-US" sz="1250" dirty="0">
                <a:solidFill>
                  <a:srgbClr val="1B2A3D"/>
                </a:solidFill>
                <a:latin typeface="Calibri" pitchFamily="34" charset="0"/>
                <a:ea typeface="Calibri" pitchFamily="34" charset="-122"/>
                <a:cs typeface="Calibri" pitchFamily="34" charset="-120"/>
              </a:rPr>
              <a:t>k = 3 produces the highest silhouette score (0.4459) of any tested value — higher even than k = 6, the number of true activity labels. This is the first quantitative signal that the natural cluster structure is coarser than the original labeling.</a:t>
            </a:r>
            <a:endParaRPr lang="en-US" sz="1250" dirty="0"/>
          </a:p>
        </p:txBody>
      </p:sp>
      <p:sp>
        <p:nvSpPr>
          <p:cNvPr id="7" name="Text 4"/>
          <p:cNvSpPr/>
          <p:nvPr/>
        </p:nvSpPr>
        <p:spPr>
          <a:xfrm>
            <a:off x="457200" y="6492240"/>
            <a:ext cx="8229600" cy="228600"/>
          </a:xfrm>
          <a:prstGeom prst="rect">
            <a:avLst/>
          </a:prstGeom>
          <a:noFill/>
          <a:ln/>
        </p:spPr>
        <p:txBody>
          <a:bodyPr wrap="square" rtlCol="0" anchor="ctr"/>
          <a:lstStyle/>
          <a:p>
            <a:pPr marL="0" indent="0">
              <a:buNone/>
            </a:pPr>
            <a:r>
              <a:rPr lang="en-US" sz="900" dirty="0">
                <a:solidFill>
                  <a:srgbClr val="5C7184"/>
                </a:solidFill>
                <a:latin typeface="Calibri" pitchFamily="34" charset="0"/>
                <a:ea typeface="Calibri" pitchFamily="34" charset="-122"/>
                <a:cs typeface="Calibri" pitchFamily="34" charset="-120"/>
              </a:rPr>
              <a:t>Human Activity Pattern Discovery — Clustering Analysis</a:t>
            </a:r>
            <a:endParaRPr lang="en-US" sz="900" dirty="0"/>
          </a:p>
        </p:txBody>
      </p:sp>
      <p:sp>
        <p:nvSpPr>
          <p:cNvPr id="10" name="Text 5"/>
          <p:cNvSpPr/>
          <p:nvPr/>
        </p:nvSpPr>
        <p:spPr>
          <a:xfrm>
            <a:off x="11365992" y="6492240"/>
            <a:ext cx="365760" cy="228600"/>
          </a:xfrm>
          <a:prstGeom prst="rect">
            <a:avLst/>
          </a:prstGeom>
          <a:noFill/>
          <a:ln/>
        </p:spPr>
        <p:txBody>
          <a:bodyPr wrap="square" rtlCol="0" anchor="ctr"/>
          <a:lstStyle/>
          <a:p>
            <a:pPr marL="0" indent="0" algn="r">
              <a:buNone/>
            </a:pPr>
            <a:r>
              <a:rPr lang="en-US" sz="900" dirty="0">
                <a:solidFill>
                  <a:srgbClr val="5C718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5F9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384048"/>
            <a:ext cx="457200" cy="457200"/>
          </a:xfrm>
          <a:prstGeom prst="rect">
            <a:avLst/>
          </a:prstGeom>
        </p:spPr>
      </p:pic>
      <p:sp>
        <p:nvSpPr>
          <p:cNvPr id="3" name="Text 0"/>
          <p:cNvSpPr/>
          <p:nvPr/>
        </p:nvSpPr>
        <p:spPr>
          <a:xfrm>
            <a:off x="1051560" y="292608"/>
            <a:ext cx="10607040" cy="502920"/>
          </a:xfrm>
          <a:prstGeom prst="rect">
            <a:avLst/>
          </a:prstGeom>
          <a:noFill/>
          <a:ln/>
        </p:spPr>
        <p:txBody>
          <a:bodyPr wrap="square" rtlCol="0" anchor="ctr"/>
          <a:lstStyle/>
          <a:p>
            <a:pPr marL="0" indent="0">
              <a:buNone/>
            </a:pPr>
            <a:r>
              <a:rPr lang="en-US" sz="2700" b="1" dirty="0">
                <a:solidFill>
                  <a:srgbClr val="1B2A3D"/>
                </a:solidFill>
                <a:latin typeface="Cambria" pitchFamily="34" charset="0"/>
                <a:ea typeface="Cambria" pitchFamily="34" charset="-122"/>
                <a:cs typeface="Cambria" pitchFamily="34" charset="-120"/>
              </a:rPr>
              <a:t>Hierarchical Clustering</a:t>
            </a:r>
            <a:endParaRPr lang="en-US" sz="2700" dirty="0"/>
          </a:p>
        </p:txBody>
      </p:sp>
      <p:sp>
        <p:nvSpPr>
          <p:cNvPr id="4" name="Text 1"/>
          <p:cNvSpPr/>
          <p:nvPr/>
        </p:nvSpPr>
        <p:spPr>
          <a:xfrm>
            <a:off x="1051560" y="749808"/>
            <a:ext cx="10607040" cy="320040"/>
          </a:xfrm>
          <a:prstGeom prst="rect">
            <a:avLst/>
          </a:prstGeom>
          <a:noFill/>
          <a:ln/>
        </p:spPr>
        <p:txBody>
          <a:bodyPr wrap="square" rtlCol="0" anchor="ctr"/>
          <a:lstStyle/>
          <a:p>
            <a:pPr marL="0" indent="0">
              <a:buNone/>
            </a:pPr>
            <a:r>
              <a:rPr lang="en-US" sz="1300" i="1" dirty="0">
                <a:solidFill>
                  <a:srgbClr val="5C7184"/>
                </a:solidFill>
                <a:latin typeface="Calibri" pitchFamily="34" charset="0"/>
                <a:ea typeface="Calibri" pitchFamily="34" charset="-122"/>
                <a:cs typeface="Calibri" pitchFamily="34" charset="-120"/>
              </a:rPr>
              <a:t>Ward-linkage dendrogram on a 3,000-sample subset, truncated to 5 levels</a:t>
            </a:r>
            <a:endParaRPr lang="en-US" sz="1300" dirty="0"/>
          </a:p>
        </p:txBody>
      </p:sp>
      <p:sp>
        <p:nvSpPr>
          <p:cNvPr id="5" name="Shape 2"/>
          <p:cNvSpPr/>
          <p:nvPr/>
        </p:nvSpPr>
        <p:spPr>
          <a:xfrm>
            <a:off x="457200" y="1188720"/>
            <a:ext cx="11247120" cy="3017520"/>
          </a:xfrm>
          <a:prstGeom prst="roundRect">
            <a:avLst>
              <a:gd name="adj" fmla="val 2424"/>
            </a:avLst>
          </a:prstGeom>
          <a:solidFill>
            <a:srgbClr val="FFFFFF"/>
          </a:solidFill>
          <a:ln/>
          <a:effectLst>
            <a:outerShdw blurRad="101600" dist="38100" dir="2700000" algn="bl" rotWithShape="0">
              <a:srgbClr val="0B2545">
                <a:alpha val="15000"/>
              </a:srgbClr>
            </a:outerShdw>
          </a:effectLst>
        </p:spPr>
      </p:sp>
      <p:pic>
        <p:nvPicPr>
          <p:cNvPr id="6" name="Image 1" descr="cell31_img7.png"/>
          <p:cNvPicPr>
            <a:picLocks noChangeAspect="1"/>
          </p:cNvPicPr>
          <p:nvPr/>
        </p:nvPicPr>
        <p:blipFill>
          <a:blip r:embed="rId4"/>
          <a:stretch>
            <a:fillRect/>
          </a:stretch>
        </p:blipFill>
        <p:spPr>
          <a:xfrm>
            <a:off x="1498866" y="1325880"/>
            <a:ext cx="9163787" cy="2834640"/>
          </a:xfrm>
          <a:prstGeom prst="rect">
            <a:avLst/>
          </a:prstGeom>
        </p:spPr>
      </p:pic>
      <p:sp>
        <p:nvSpPr>
          <p:cNvPr id="7" name="Shape 3"/>
          <p:cNvSpPr/>
          <p:nvPr/>
        </p:nvSpPr>
        <p:spPr>
          <a:xfrm>
            <a:off x="457200" y="4434840"/>
            <a:ext cx="11247120" cy="1554480"/>
          </a:xfrm>
          <a:prstGeom prst="roundRect">
            <a:avLst>
              <a:gd name="adj" fmla="val 4706"/>
            </a:avLst>
          </a:prstGeom>
          <a:solidFill>
            <a:srgbClr val="E8F1F6"/>
          </a:solidFill>
          <a:ln/>
          <a:effectLst>
            <a:outerShdw blurRad="101600" dist="38100" dir="2700000" algn="bl" rotWithShape="0">
              <a:srgbClr val="0B2545">
                <a:alpha val="15000"/>
              </a:srgbClr>
            </a:outerShdw>
          </a:effectLst>
        </p:spPr>
      </p:sp>
      <p:sp>
        <p:nvSpPr>
          <p:cNvPr id="8" name="Text 4"/>
          <p:cNvSpPr/>
          <p:nvPr/>
        </p:nvSpPr>
        <p:spPr>
          <a:xfrm>
            <a:off x="640080" y="4572000"/>
            <a:ext cx="10881360" cy="1280160"/>
          </a:xfrm>
          <a:prstGeom prst="rect">
            <a:avLst/>
          </a:prstGeom>
          <a:noFill/>
          <a:ln/>
        </p:spPr>
        <p:txBody>
          <a:bodyPr wrap="square" rtlCol="0" anchor="t"/>
          <a:lstStyle/>
          <a:p>
            <a:pPr marL="0" indent="0">
              <a:lnSpc>
                <a:spcPct val="125000"/>
              </a:lnSpc>
              <a:buNone/>
            </a:pPr>
            <a:r>
              <a:rPr lang="en-US" sz="1300" dirty="0">
                <a:solidFill>
                  <a:srgbClr val="1B2A3D"/>
                </a:solidFill>
                <a:latin typeface="Calibri" pitchFamily="34" charset="0"/>
                <a:ea typeface="Calibri" pitchFamily="34" charset="-122"/>
                <a:cs typeface="Calibri" pitchFamily="34" charset="-120"/>
              </a:rPr>
              <a:t>The dendrogram structure visually supports a small number of major branches near the top of the tree, reinforcing the case for a low cluster count. However, as the algorithm comparison on the following slides shows, Agglomerative clustering performed poorly by quantitative metrics on this high-dimensional feature space relative to KMeans and GMM.</a:t>
            </a:r>
            <a:endParaRPr lang="en-US" sz="1300" dirty="0"/>
          </a:p>
        </p:txBody>
      </p:sp>
      <p:sp>
        <p:nvSpPr>
          <p:cNvPr id="9" name="Text 5"/>
          <p:cNvSpPr/>
          <p:nvPr/>
        </p:nvSpPr>
        <p:spPr>
          <a:xfrm>
            <a:off x="457200" y="6492240"/>
            <a:ext cx="8229600" cy="228600"/>
          </a:xfrm>
          <a:prstGeom prst="rect">
            <a:avLst/>
          </a:prstGeom>
          <a:noFill/>
          <a:ln/>
        </p:spPr>
        <p:txBody>
          <a:bodyPr wrap="square" rtlCol="0" anchor="ctr"/>
          <a:lstStyle/>
          <a:p>
            <a:pPr marL="0" indent="0">
              <a:buNone/>
            </a:pPr>
            <a:r>
              <a:rPr lang="en-US" sz="900" dirty="0">
                <a:solidFill>
                  <a:srgbClr val="5C7184"/>
                </a:solidFill>
                <a:latin typeface="Calibri" pitchFamily="34" charset="0"/>
                <a:ea typeface="Calibri" pitchFamily="34" charset="-122"/>
                <a:cs typeface="Calibri" pitchFamily="34" charset="-120"/>
              </a:rPr>
              <a:t>Human Activity Pattern Discovery — Clustering Analysis</a:t>
            </a:r>
            <a:endParaRPr lang="en-US" sz="900" dirty="0"/>
          </a:p>
        </p:txBody>
      </p:sp>
      <p:sp>
        <p:nvSpPr>
          <p:cNvPr id="10" name="Text 6"/>
          <p:cNvSpPr/>
          <p:nvPr/>
        </p:nvSpPr>
        <p:spPr>
          <a:xfrm>
            <a:off x="11365992" y="6492240"/>
            <a:ext cx="365760" cy="228600"/>
          </a:xfrm>
          <a:prstGeom prst="rect">
            <a:avLst/>
          </a:prstGeom>
          <a:noFill/>
          <a:ln/>
        </p:spPr>
        <p:txBody>
          <a:bodyPr wrap="square" rtlCol="0" anchor="ctr"/>
          <a:lstStyle/>
          <a:p>
            <a:pPr marL="0" indent="0" algn="r">
              <a:buNone/>
            </a:pPr>
            <a:r>
              <a:rPr lang="en-US" sz="900" dirty="0">
                <a:solidFill>
                  <a:srgbClr val="5C718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5F9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384048"/>
            <a:ext cx="457200" cy="457200"/>
          </a:xfrm>
          <a:prstGeom prst="rect">
            <a:avLst/>
          </a:prstGeom>
        </p:spPr>
      </p:pic>
      <p:sp>
        <p:nvSpPr>
          <p:cNvPr id="3" name="Text 0"/>
          <p:cNvSpPr/>
          <p:nvPr/>
        </p:nvSpPr>
        <p:spPr>
          <a:xfrm>
            <a:off x="1051560" y="292608"/>
            <a:ext cx="10607040" cy="502920"/>
          </a:xfrm>
          <a:prstGeom prst="rect">
            <a:avLst/>
          </a:prstGeom>
          <a:noFill/>
          <a:ln/>
        </p:spPr>
        <p:txBody>
          <a:bodyPr wrap="square" rtlCol="0" anchor="ctr"/>
          <a:lstStyle/>
          <a:p>
            <a:pPr marL="0" indent="0">
              <a:buNone/>
            </a:pPr>
            <a:r>
              <a:rPr lang="en-US" sz="2700" b="1" dirty="0">
                <a:solidFill>
                  <a:srgbClr val="1B2A3D"/>
                </a:solidFill>
                <a:latin typeface="Cambria" pitchFamily="34" charset="0"/>
                <a:ea typeface="Cambria" pitchFamily="34" charset="-122"/>
                <a:cs typeface="Cambria" pitchFamily="34" charset="-120"/>
              </a:rPr>
              <a:t>Algorithm Comparison: Internal Validation</a:t>
            </a:r>
            <a:endParaRPr lang="en-US" sz="2700" dirty="0"/>
          </a:p>
        </p:txBody>
      </p:sp>
      <p:sp>
        <p:nvSpPr>
          <p:cNvPr id="4" name="Text 1"/>
          <p:cNvSpPr/>
          <p:nvPr/>
        </p:nvSpPr>
        <p:spPr>
          <a:xfrm>
            <a:off x="1051560" y="749808"/>
            <a:ext cx="10607040" cy="320040"/>
          </a:xfrm>
          <a:prstGeom prst="rect">
            <a:avLst/>
          </a:prstGeom>
          <a:noFill/>
          <a:ln/>
        </p:spPr>
        <p:txBody>
          <a:bodyPr wrap="square" rtlCol="0" anchor="ctr"/>
          <a:lstStyle/>
          <a:p>
            <a:pPr marL="0" indent="0">
              <a:buNone/>
            </a:pPr>
            <a:r>
              <a:rPr lang="en-US" sz="1300" i="1" dirty="0">
                <a:solidFill>
                  <a:srgbClr val="5C7184"/>
                </a:solidFill>
                <a:latin typeface="Calibri" pitchFamily="34" charset="0"/>
                <a:ea typeface="Calibri" pitchFamily="34" charset="-122"/>
                <a:cs typeface="Calibri" pitchFamily="34" charset="-120"/>
              </a:rPr>
              <a:t>KMeans vs. Hierarchical vs. Gaussian Mixture Model (k = 3)</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6309360" cy="1676400"/>
        </p:xfrm>
        <a:graphic>
          <a:graphicData uri="http://schemas.openxmlformats.org/drawingml/2006/table">
            <a:tbl>
              <a:tblPr/>
              <a:tblGrid>
                <a:gridCol w="18288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41148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Algorithm</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Silhouette ↑</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Davies-Bouldin ↓</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Calinski-Harabasz ↑</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extLst>
                  <a:ext uri="{0D108BD9-81ED-4DB2-BD59-A6C34878D82A}">
                    <a16:rowId xmlns:a16="http://schemas.microsoft.com/office/drawing/2014/main" val="10000"/>
                  </a:ext>
                </a:extLst>
              </a:tr>
              <a:tr h="411480">
                <a:tc>
                  <a:txBody>
                    <a:bodyPr/>
                    <a:lstStyle/>
                    <a:p>
                      <a:pPr marL="0" indent="0">
                        <a:buNone/>
                      </a:pPr>
                      <a:r>
                        <a:rPr lang="en-US" sz="1150" b="1" dirty="0">
                          <a:solidFill>
                            <a:srgbClr val="1C7293"/>
                          </a:solidFill>
                          <a:latin typeface="Calibri" pitchFamily="34" charset="0"/>
                          <a:ea typeface="Calibri" pitchFamily="34" charset="-122"/>
                          <a:cs typeface="Calibri" pitchFamily="34" charset="-120"/>
                        </a:rPr>
                        <a:t>KMeans</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50" b="1" dirty="0">
                          <a:solidFill>
                            <a:srgbClr val="1C7293"/>
                          </a:solidFill>
                          <a:latin typeface="Calibri" pitchFamily="34" charset="0"/>
                          <a:ea typeface="Calibri" pitchFamily="34" charset="-122"/>
                          <a:cs typeface="Calibri" pitchFamily="34" charset="-120"/>
                        </a:rPr>
                        <a:t>0.4459</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50" dirty="0">
                          <a:solidFill>
                            <a:srgbClr val="1B2A3D"/>
                          </a:solidFill>
                          <a:latin typeface="Calibri" pitchFamily="34" charset="0"/>
                          <a:ea typeface="Calibri" pitchFamily="34" charset="-122"/>
                          <a:cs typeface="Calibri" pitchFamily="34" charset="-120"/>
                        </a:rPr>
                        <a:t>0.8894</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50" dirty="0">
                          <a:solidFill>
                            <a:srgbClr val="1B2A3D"/>
                          </a:solidFill>
                          <a:latin typeface="Calibri" pitchFamily="34" charset="0"/>
                          <a:ea typeface="Calibri" pitchFamily="34" charset="-122"/>
                          <a:cs typeface="Calibri" pitchFamily="34" charset="-120"/>
                        </a:rPr>
                        <a:t>9,067.70</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1150" dirty="0">
                          <a:solidFill>
                            <a:srgbClr val="1B2A3D"/>
                          </a:solidFill>
                          <a:latin typeface="Calibri" pitchFamily="34" charset="0"/>
                          <a:ea typeface="Calibri" pitchFamily="34" charset="-122"/>
                          <a:cs typeface="Calibri" pitchFamily="34" charset="-120"/>
                        </a:rPr>
                        <a:t>Hierarchical</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50" dirty="0">
                          <a:solidFill>
                            <a:srgbClr val="1B2A3D"/>
                          </a:solidFill>
                          <a:latin typeface="Calibri" pitchFamily="34" charset="0"/>
                          <a:ea typeface="Calibri" pitchFamily="34" charset="-122"/>
                          <a:cs typeface="Calibri" pitchFamily="34" charset="-120"/>
                        </a:rPr>
                        <a:t>-0.0036</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50" dirty="0">
                          <a:solidFill>
                            <a:srgbClr val="1B2A3D"/>
                          </a:solidFill>
                          <a:latin typeface="Calibri" pitchFamily="34" charset="0"/>
                          <a:ea typeface="Calibri" pitchFamily="34" charset="-122"/>
                          <a:cs typeface="Calibri" pitchFamily="34" charset="-120"/>
                        </a:rPr>
                        <a:t>98.6592</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50" dirty="0">
                          <a:solidFill>
                            <a:srgbClr val="1B2A3D"/>
                          </a:solidFill>
                          <a:latin typeface="Calibri" pitchFamily="34" charset="0"/>
                          <a:ea typeface="Calibri" pitchFamily="34" charset="-122"/>
                          <a:cs typeface="Calibri" pitchFamily="34" charset="-120"/>
                        </a:rPr>
                        <a:t>0.24</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150" dirty="0">
                          <a:solidFill>
                            <a:srgbClr val="1B2A3D"/>
                          </a:solidFill>
                          <a:latin typeface="Calibri" pitchFamily="34" charset="0"/>
                          <a:ea typeface="Calibri" pitchFamily="34" charset="-122"/>
                          <a:cs typeface="Calibri" pitchFamily="34" charset="-120"/>
                        </a:rPr>
                        <a:t>GMM</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50" dirty="0">
                          <a:solidFill>
                            <a:srgbClr val="1B2A3D"/>
                          </a:solidFill>
                          <a:latin typeface="Calibri" pitchFamily="34" charset="0"/>
                          <a:ea typeface="Calibri" pitchFamily="34" charset="-122"/>
                          <a:cs typeface="Calibri" pitchFamily="34" charset="-120"/>
                        </a:rPr>
                        <a:t>0.2102</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50" dirty="0">
                          <a:solidFill>
                            <a:srgbClr val="1B2A3D"/>
                          </a:solidFill>
                          <a:latin typeface="Calibri" pitchFamily="34" charset="0"/>
                          <a:ea typeface="Calibri" pitchFamily="34" charset="-122"/>
                          <a:cs typeface="Calibri" pitchFamily="34" charset="-120"/>
                        </a:rPr>
                        <a:t>1.6432</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50" dirty="0">
                          <a:solidFill>
                            <a:srgbClr val="1B2A3D"/>
                          </a:solidFill>
                          <a:latin typeface="Calibri" pitchFamily="34" charset="0"/>
                          <a:ea typeface="Calibri" pitchFamily="34" charset="-122"/>
                          <a:cs typeface="Calibri" pitchFamily="34" charset="-120"/>
                        </a:rPr>
                        <a:t>4,901.45</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Shape 2"/>
          <p:cNvSpPr/>
          <p:nvPr/>
        </p:nvSpPr>
        <p:spPr>
          <a:xfrm>
            <a:off x="6949440" y="1234440"/>
            <a:ext cx="4754880" cy="4434840"/>
          </a:xfrm>
          <a:prstGeom prst="roundRect">
            <a:avLst>
              <a:gd name="adj" fmla="val 1649"/>
            </a:avLst>
          </a:prstGeom>
          <a:solidFill>
            <a:srgbClr val="FFFFFF"/>
          </a:solidFill>
          <a:ln/>
          <a:effectLst>
            <a:outerShdw blurRad="101600" dist="38100" dir="2700000" algn="bl" rotWithShape="0">
              <a:srgbClr val="0B2545">
                <a:alpha val="15000"/>
              </a:srgbClr>
            </a:outerShdw>
          </a:effectLst>
        </p:spPr>
      </p:sp>
      <p:pic>
        <p:nvPicPr>
          <p:cNvPr id="7" name="Image 1" descr="cell37_img9.png"/>
          <p:cNvPicPr>
            <a:picLocks noChangeAspect="1"/>
          </p:cNvPicPr>
          <p:nvPr/>
        </p:nvPicPr>
        <p:blipFill>
          <a:blip r:embed="rId4"/>
          <a:stretch>
            <a:fillRect/>
          </a:stretch>
        </p:blipFill>
        <p:spPr>
          <a:xfrm>
            <a:off x="6766560" y="1371600"/>
            <a:ext cx="5120640" cy="3728504"/>
          </a:xfrm>
          <a:prstGeom prst="rect">
            <a:avLst/>
          </a:prstGeom>
        </p:spPr>
      </p:pic>
      <p:sp>
        <p:nvSpPr>
          <p:cNvPr id="8" name="Text 3"/>
          <p:cNvSpPr/>
          <p:nvPr/>
        </p:nvSpPr>
        <p:spPr>
          <a:xfrm>
            <a:off x="457200" y="3931920"/>
            <a:ext cx="6309360" cy="1554480"/>
          </a:xfrm>
          <a:prstGeom prst="rect">
            <a:avLst/>
          </a:prstGeom>
          <a:noFill/>
          <a:ln/>
        </p:spPr>
        <p:txBody>
          <a:bodyPr wrap="square" rtlCol="0" anchor="t"/>
          <a:lstStyle/>
          <a:p>
            <a:pPr marL="0" indent="0">
              <a:lnSpc>
                <a:spcPct val="120000"/>
              </a:lnSpc>
              <a:buNone/>
            </a:pPr>
            <a:r>
              <a:rPr lang="en-US" sz="1250" dirty="0">
                <a:solidFill>
                  <a:srgbClr val="1B2A3D"/>
                </a:solidFill>
                <a:latin typeface="Calibri" pitchFamily="34" charset="0"/>
                <a:ea typeface="Calibri" pitchFamily="34" charset="-122"/>
                <a:cs typeface="Calibri" pitchFamily="34" charset="-120"/>
              </a:rPr>
              <a:t>KMeans wins decisively on all three internal metrics: highest silhouette and Calinski-Harabasz, lowest Davies-Bouldin. Hierarchical clustering performs poorly here, likely due to the high-dimensional, near-uniform density of the standardized feature space.</a:t>
            </a:r>
            <a:endParaRPr lang="en-US" sz="1250" dirty="0"/>
          </a:p>
        </p:txBody>
      </p:sp>
      <p:sp>
        <p:nvSpPr>
          <p:cNvPr id="9" name="Text 4"/>
          <p:cNvSpPr/>
          <p:nvPr/>
        </p:nvSpPr>
        <p:spPr>
          <a:xfrm>
            <a:off x="457200" y="6492240"/>
            <a:ext cx="8229600" cy="228600"/>
          </a:xfrm>
          <a:prstGeom prst="rect">
            <a:avLst/>
          </a:prstGeom>
          <a:noFill/>
          <a:ln/>
        </p:spPr>
        <p:txBody>
          <a:bodyPr wrap="square" rtlCol="0" anchor="ctr"/>
          <a:lstStyle/>
          <a:p>
            <a:pPr marL="0" indent="0">
              <a:buNone/>
            </a:pPr>
            <a:r>
              <a:rPr lang="en-US" sz="900" dirty="0">
                <a:solidFill>
                  <a:srgbClr val="5C7184"/>
                </a:solidFill>
                <a:latin typeface="Calibri" pitchFamily="34" charset="0"/>
                <a:ea typeface="Calibri" pitchFamily="34" charset="-122"/>
                <a:cs typeface="Calibri" pitchFamily="34" charset="-120"/>
              </a:rPr>
              <a:t>Human Activity Pattern Discovery — Clustering Analysis</a:t>
            </a:r>
            <a:endParaRPr lang="en-US" sz="900" dirty="0"/>
          </a:p>
        </p:txBody>
      </p:sp>
      <p:sp>
        <p:nvSpPr>
          <p:cNvPr id="10" name="Text 5"/>
          <p:cNvSpPr/>
          <p:nvPr/>
        </p:nvSpPr>
        <p:spPr>
          <a:xfrm>
            <a:off x="11365992" y="6492240"/>
            <a:ext cx="365760" cy="228600"/>
          </a:xfrm>
          <a:prstGeom prst="rect">
            <a:avLst/>
          </a:prstGeom>
          <a:noFill/>
          <a:ln/>
        </p:spPr>
        <p:txBody>
          <a:bodyPr wrap="square" rtlCol="0" anchor="ctr"/>
          <a:lstStyle/>
          <a:p>
            <a:pPr marL="0" indent="0" algn="r">
              <a:buNone/>
            </a:pPr>
            <a:r>
              <a:rPr lang="en-US" sz="900" dirty="0">
                <a:solidFill>
                  <a:srgbClr val="5C718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5F9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384048"/>
            <a:ext cx="457200" cy="457200"/>
          </a:xfrm>
          <a:prstGeom prst="rect">
            <a:avLst/>
          </a:prstGeom>
        </p:spPr>
      </p:pic>
      <p:sp>
        <p:nvSpPr>
          <p:cNvPr id="3" name="Text 0"/>
          <p:cNvSpPr/>
          <p:nvPr/>
        </p:nvSpPr>
        <p:spPr>
          <a:xfrm>
            <a:off x="1051560" y="292608"/>
            <a:ext cx="10607040" cy="502920"/>
          </a:xfrm>
          <a:prstGeom prst="rect">
            <a:avLst/>
          </a:prstGeom>
          <a:noFill/>
          <a:ln/>
        </p:spPr>
        <p:txBody>
          <a:bodyPr wrap="square" rtlCol="0" anchor="ctr"/>
          <a:lstStyle/>
          <a:p>
            <a:pPr marL="0" indent="0">
              <a:buNone/>
            </a:pPr>
            <a:r>
              <a:rPr lang="en-US" sz="2700" b="1" dirty="0">
                <a:solidFill>
                  <a:srgbClr val="1B2A3D"/>
                </a:solidFill>
                <a:latin typeface="Cambria" pitchFamily="34" charset="0"/>
                <a:ea typeface="Cambria" pitchFamily="34" charset="-122"/>
                <a:cs typeface="Cambria" pitchFamily="34" charset="-120"/>
              </a:rPr>
              <a:t>Algorithm Comparison: External Validation</a:t>
            </a:r>
            <a:endParaRPr lang="en-US" sz="2700" dirty="0"/>
          </a:p>
        </p:txBody>
      </p:sp>
      <p:sp>
        <p:nvSpPr>
          <p:cNvPr id="4" name="Text 1"/>
          <p:cNvSpPr/>
          <p:nvPr/>
        </p:nvSpPr>
        <p:spPr>
          <a:xfrm>
            <a:off x="1051560" y="749808"/>
            <a:ext cx="10607040" cy="320040"/>
          </a:xfrm>
          <a:prstGeom prst="rect">
            <a:avLst/>
          </a:prstGeom>
          <a:noFill/>
          <a:ln/>
        </p:spPr>
        <p:txBody>
          <a:bodyPr wrap="square" rtlCol="0" anchor="ctr"/>
          <a:lstStyle/>
          <a:p>
            <a:pPr marL="0" indent="0">
              <a:buNone/>
            </a:pPr>
            <a:r>
              <a:rPr lang="en-US" sz="1300" i="1" dirty="0">
                <a:solidFill>
                  <a:srgbClr val="5C7184"/>
                </a:solidFill>
                <a:latin typeface="Calibri" pitchFamily="34" charset="0"/>
                <a:ea typeface="Calibri" pitchFamily="34" charset="-122"/>
                <a:cs typeface="Calibri" pitchFamily="34" charset="-120"/>
              </a:rPr>
              <a:t>Agreement between cluster assignments and the true activity labels</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1645920"/>
        </p:xfrm>
        <a:graphic>
          <a:graphicData uri="http://schemas.openxmlformats.org/drawingml/2006/table">
            <a:tbl>
              <a:tblPr/>
              <a:tblGrid>
                <a:gridCol w="21031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41148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Algorithm</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ARI</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NMI</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Homog.</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V-Measure</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extLst>
                  <a:ext uri="{0D108BD9-81ED-4DB2-BD59-A6C34878D82A}">
                    <a16:rowId xmlns:a16="http://schemas.microsoft.com/office/drawing/2014/main" val="10000"/>
                  </a:ext>
                </a:extLst>
              </a:tr>
              <a:tr h="411480">
                <a:tc>
                  <a:txBody>
                    <a:bodyPr/>
                    <a:lstStyle/>
                    <a:p>
                      <a:pPr marL="0" indent="0">
                        <a:buNone/>
                      </a:pPr>
                      <a:r>
                        <a:rPr lang="en-US" sz="1100" b="1" dirty="0">
                          <a:solidFill>
                            <a:srgbClr val="1C7293"/>
                          </a:solidFill>
                          <a:latin typeface="Calibri" pitchFamily="34" charset="0"/>
                          <a:ea typeface="Calibri" pitchFamily="34" charset="-122"/>
                          <a:cs typeface="Calibri" pitchFamily="34" charset="-120"/>
                        </a:rPr>
                        <a:t>KMeans</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b="1" dirty="0">
                          <a:solidFill>
                            <a:srgbClr val="1C7293"/>
                          </a:solidFill>
                          <a:latin typeface="Calibri" pitchFamily="34" charset="0"/>
                          <a:ea typeface="Calibri" pitchFamily="34" charset="-122"/>
                          <a:cs typeface="Calibri" pitchFamily="34" charset="-120"/>
                        </a:rPr>
                        <a:t>0.4765</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0.6597</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0.5224</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0.8947</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0.6597</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Hierarchical</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-0.0001</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0.0009</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0.0008</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0.0013</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0.0009</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GMM</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0.3255</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0.5034</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0.3843</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0.7293</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0.5034</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Shape 2"/>
          <p:cNvSpPr/>
          <p:nvPr/>
        </p:nvSpPr>
        <p:spPr>
          <a:xfrm>
            <a:off x="457200" y="3017520"/>
            <a:ext cx="6309360" cy="3520440"/>
          </a:xfrm>
          <a:prstGeom prst="roundRect">
            <a:avLst>
              <a:gd name="adj" fmla="val 2078"/>
            </a:avLst>
          </a:prstGeom>
          <a:solidFill>
            <a:srgbClr val="FFFFFF"/>
          </a:solidFill>
          <a:ln/>
          <a:effectLst>
            <a:outerShdw blurRad="101600" dist="38100" dir="2700000" algn="bl" rotWithShape="0">
              <a:srgbClr val="0B2545">
                <a:alpha val="15000"/>
              </a:srgbClr>
            </a:outerShdw>
          </a:effectLst>
        </p:spPr>
      </p:sp>
      <p:pic>
        <p:nvPicPr>
          <p:cNvPr id="7" name="Image 1" descr="cell38_img10.png"/>
          <p:cNvPicPr>
            <a:picLocks noChangeAspect="1"/>
          </p:cNvPicPr>
          <p:nvPr/>
        </p:nvPicPr>
        <p:blipFill>
          <a:blip r:embed="rId4"/>
          <a:stretch>
            <a:fillRect/>
          </a:stretch>
        </p:blipFill>
        <p:spPr>
          <a:xfrm>
            <a:off x="1351412" y="3154680"/>
            <a:ext cx="4520936" cy="3291840"/>
          </a:xfrm>
          <a:prstGeom prst="rect">
            <a:avLst/>
          </a:prstGeom>
        </p:spPr>
      </p:pic>
      <p:sp>
        <p:nvSpPr>
          <p:cNvPr id="8" name="Text 3"/>
          <p:cNvSpPr/>
          <p:nvPr/>
        </p:nvSpPr>
        <p:spPr>
          <a:xfrm>
            <a:off x="7040880" y="3154680"/>
            <a:ext cx="4663440" cy="3291840"/>
          </a:xfrm>
          <a:prstGeom prst="rect">
            <a:avLst/>
          </a:prstGeom>
          <a:noFill/>
          <a:ln/>
        </p:spPr>
        <p:txBody>
          <a:bodyPr wrap="square" rtlCol="0" anchor="t"/>
          <a:lstStyle/>
          <a:p>
            <a:pPr marL="0" indent="0">
              <a:lnSpc>
                <a:spcPct val="125000"/>
              </a:lnSpc>
              <a:buNone/>
            </a:pPr>
            <a:r>
              <a:rPr lang="en-US" sz="1250" dirty="0">
                <a:solidFill>
                  <a:srgbClr val="1B2A3D"/>
                </a:solidFill>
                <a:latin typeface="Calibri" pitchFamily="34" charset="0"/>
                <a:ea typeface="Calibri" pitchFamily="34" charset="-122"/>
                <a:cs typeface="Calibri" pitchFamily="34" charset="-120"/>
              </a:rPr>
              <a:t>Completeness is consistently the highest external score for every algorithm (0.89 for KMeans) — meaning each true activity tends to fall within a single cluster. Homogeneity is comparatively lower, telling us each cluster contains more than one true activity. This is the quantitative fingerprint of activities merging into broader clusters, not clusters splitting activities apart.</a:t>
            </a:r>
            <a:endParaRPr lang="en-US" sz="1250" dirty="0"/>
          </a:p>
        </p:txBody>
      </p:sp>
      <p:sp>
        <p:nvSpPr>
          <p:cNvPr id="9" name="Text 4"/>
          <p:cNvSpPr/>
          <p:nvPr/>
        </p:nvSpPr>
        <p:spPr>
          <a:xfrm>
            <a:off x="457200" y="6492240"/>
            <a:ext cx="8229600" cy="228600"/>
          </a:xfrm>
          <a:prstGeom prst="rect">
            <a:avLst/>
          </a:prstGeom>
          <a:noFill/>
          <a:ln/>
        </p:spPr>
        <p:txBody>
          <a:bodyPr wrap="square" rtlCol="0" anchor="ctr"/>
          <a:lstStyle/>
          <a:p>
            <a:pPr marL="0" indent="0">
              <a:buNone/>
            </a:pPr>
            <a:r>
              <a:rPr lang="en-US" sz="900" dirty="0">
                <a:solidFill>
                  <a:srgbClr val="5C7184"/>
                </a:solidFill>
                <a:latin typeface="Calibri" pitchFamily="34" charset="0"/>
                <a:ea typeface="Calibri" pitchFamily="34" charset="-122"/>
                <a:cs typeface="Calibri" pitchFamily="34" charset="-120"/>
              </a:rPr>
              <a:t>Human Activity Pattern Discovery — Clustering Analysis</a:t>
            </a:r>
            <a:endParaRPr lang="en-US" sz="900" dirty="0"/>
          </a:p>
        </p:txBody>
      </p:sp>
      <p:sp>
        <p:nvSpPr>
          <p:cNvPr id="10" name="Text 5"/>
          <p:cNvSpPr/>
          <p:nvPr/>
        </p:nvSpPr>
        <p:spPr>
          <a:xfrm>
            <a:off x="11365992" y="6492240"/>
            <a:ext cx="365760" cy="228600"/>
          </a:xfrm>
          <a:prstGeom prst="rect">
            <a:avLst/>
          </a:prstGeom>
          <a:noFill/>
          <a:ln/>
        </p:spPr>
        <p:txBody>
          <a:bodyPr wrap="square" rtlCol="0" anchor="ctr"/>
          <a:lstStyle/>
          <a:p>
            <a:pPr marL="0" indent="0" algn="r">
              <a:buNone/>
            </a:pPr>
            <a:r>
              <a:rPr lang="en-US" sz="900" dirty="0">
                <a:solidFill>
                  <a:srgbClr val="5C7184"/>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5F9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384048"/>
            <a:ext cx="457200" cy="457200"/>
          </a:xfrm>
          <a:prstGeom prst="rect">
            <a:avLst/>
          </a:prstGeom>
        </p:spPr>
      </p:pic>
      <p:sp>
        <p:nvSpPr>
          <p:cNvPr id="3" name="Text 0"/>
          <p:cNvSpPr/>
          <p:nvPr/>
        </p:nvSpPr>
        <p:spPr>
          <a:xfrm>
            <a:off x="1051560" y="292608"/>
            <a:ext cx="10607040" cy="502920"/>
          </a:xfrm>
          <a:prstGeom prst="rect">
            <a:avLst/>
          </a:prstGeom>
          <a:noFill/>
          <a:ln/>
        </p:spPr>
        <p:txBody>
          <a:bodyPr wrap="square" rtlCol="0" anchor="ctr"/>
          <a:lstStyle/>
          <a:p>
            <a:pPr marL="0" indent="0">
              <a:buNone/>
            </a:pPr>
            <a:r>
              <a:rPr lang="en-US" sz="2700" b="1" dirty="0">
                <a:solidFill>
                  <a:srgbClr val="1B2A3D"/>
                </a:solidFill>
                <a:latin typeface="Cambria" pitchFamily="34" charset="0"/>
                <a:ea typeface="Cambria" pitchFamily="34" charset="-122"/>
                <a:cs typeface="Cambria" pitchFamily="34" charset="-120"/>
              </a:rPr>
              <a:t>KMeans Clusters Across k Values</a:t>
            </a:r>
            <a:endParaRPr lang="en-US" sz="2700" dirty="0"/>
          </a:p>
        </p:txBody>
      </p:sp>
      <p:sp>
        <p:nvSpPr>
          <p:cNvPr id="4" name="Text 1"/>
          <p:cNvSpPr/>
          <p:nvPr/>
        </p:nvSpPr>
        <p:spPr>
          <a:xfrm>
            <a:off x="1051560" y="749808"/>
            <a:ext cx="10607040" cy="320040"/>
          </a:xfrm>
          <a:prstGeom prst="rect">
            <a:avLst/>
          </a:prstGeom>
          <a:noFill/>
          <a:ln/>
        </p:spPr>
        <p:txBody>
          <a:bodyPr wrap="square" rtlCol="0" anchor="ctr"/>
          <a:lstStyle/>
          <a:p>
            <a:pPr marL="0" indent="0">
              <a:buNone/>
            </a:pPr>
            <a:r>
              <a:rPr lang="en-US" sz="1300" i="1" dirty="0">
                <a:solidFill>
                  <a:srgbClr val="5C7184"/>
                </a:solidFill>
                <a:latin typeface="Calibri" pitchFamily="34" charset="0"/>
                <a:ea typeface="Calibri" pitchFamily="34" charset="-122"/>
                <a:cs typeface="Calibri" pitchFamily="34" charset="-120"/>
              </a:rPr>
              <a:t>PCA (2-component) projections for k = 3, 4, 5, and 6</a:t>
            </a:r>
            <a:endParaRPr lang="en-US" sz="1300" dirty="0"/>
          </a:p>
        </p:txBody>
      </p:sp>
      <p:sp>
        <p:nvSpPr>
          <p:cNvPr id="5" name="Shape 2"/>
          <p:cNvSpPr/>
          <p:nvPr/>
        </p:nvSpPr>
        <p:spPr>
          <a:xfrm>
            <a:off x="457200" y="1188720"/>
            <a:ext cx="5486400" cy="2331720"/>
          </a:xfrm>
          <a:prstGeom prst="roundRect">
            <a:avLst>
              <a:gd name="adj" fmla="val 3137"/>
            </a:avLst>
          </a:prstGeom>
          <a:solidFill>
            <a:srgbClr val="FFFFFF"/>
          </a:solidFill>
          <a:ln/>
          <a:effectLst>
            <a:outerShdw blurRad="101600" dist="38100" dir="2700000" algn="bl" rotWithShape="0">
              <a:srgbClr val="0B2545">
                <a:alpha val="15000"/>
              </a:srgbClr>
            </a:outerShdw>
          </a:effectLst>
        </p:spPr>
      </p:sp>
      <p:pic>
        <p:nvPicPr>
          <p:cNvPr id="6" name="Image 1" descr="cell40_img11.png"/>
          <p:cNvPicPr>
            <a:picLocks noChangeAspect="1"/>
          </p:cNvPicPr>
          <p:nvPr/>
        </p:nvPicPr>
        <p:blipFill>
          <a:blip r:embed="rId4"/>
          <a:stretch>
            <a:fillRect/>
          </a:stretch>
        </p:blipFill>
        <p:spPr>
          <a:xfrm>
            <a:off x="1982497" y="1280160"/>
            <a:ext cx="2435806" cy="1828800"/>
          </a:xfrm>
          <a:prstGeom prst="rect">
            <a:avLst/>
          </a:prstGeom>
        </p:spPr>
      </p:pic>
      <p:sp>
        <p:nvSpPr>
          <p:cNvPr id="7" name="Text 3"/>
          <p:cNvSpPr/>
          <p:nvPr/>
        </p:nvSpPr>
        <p:spPr>
          <a:xfrm>
            <a:off x="594360" y="3154680"/>
            <a:ext cx="1828800" cy="274320"/>
          </a:xfrm>
          <a:prstGeom prst="rect">
            <a:avLst/>
          </a:prstGeom>
          <a:noFill/>
          <a:ln/>
        </p:spPr>
        <p:txBody>
          <a:bodyPr wrap="square" rtlCol="0" anchor="ctr"/>
          <a:lstStyle/>
          <a:p>
            <a:pPr marL="0" indent="0">
              <a:buNone/>
            </a:pPr>
            <a:r>
              <a:rPr lang="en-US" sz="1100" b="1" dirty="0">
                <a:solidFill>
                  <a:srgbClr val="13315C"/>
                </a:solidFill>
                <a:latin typeface="Calibri" pitchFamily="34" charset="0"/>
                <a:ea typeface="Calibri" pitchFamily="34" charset="-122"/>
                <a:cs typeface="Calibri" pitchFamily="34" charset="-120"/>
              </a:rPr>
              <a:t>k = 3</a:t>
            </a:r>
            <a:endParaRPr lang="en-US" sz="1100" dirty="0"/>
          </a:p>
        </p:txBody>
      </p:sp>
      <p:sp>
        <p:nvSpPr>
          <p:cNvPr id="8" name="Shape 4"/>
          <p:cNvSpPr/>
          <p:nvPr/>
        </p:nvSpPr>
        <p:spPr>
          <a:xfrm>
            <a:off x="6245352" y="1188720"/>
            <a:ext cx="5486400" cy="2331720"/>
          </a:xfrm>
          <a:prstGeom prst="roundRect">
            <a:avLst>
              <a:gd name="adj" fmla="val 3137"/>
            </a:avLst>
          </a:prstGeom>
          <a:solidFill>
            <a:srgbClr val="FFFFFF"/>
          </a:solidFill>
          <a:ln/>
          <a:effectLst>
            <a:outerShdw blurRad="101600" dist="38100" dir="2700000" algn="bl" rotWithShape="0">
              <a:srgbClr val="0B2545">
                <a:alpha val="15000"/>
              </a:srgbClr>
            </a:outerShdw>
          </a:effectLst>
        </p:spPr>
      </p:sp>
      <p:pic>
        <p:nvPicPr>
          <p:cNvPr id="9" name="Image 2" descr="cell40_img12.png"/>
          <p:cNvPicPr>
            <a:picLocks noChangeAspect="1"/>
          </p:cNvPicPr>
          <p:nvPr/>
        </p:nvPicPr>
        <p:blipFill>
          <a:blip r:embed="rId5"/>
          <a:stretch>
            <a:fillRect/>
          </a:stretch>
        </p:blipFill>
        <p:spPr>
          <a:xfrm>
            <a:off x="7770649" y="1280160"/>
            <a:ext cx="2435806" cy="1828800"/>
          </a:xfrm>
          <a:prstGeom prst="rect">
            <a:avLst/>
          </a:prstGeom>
        </p:spPr>
      </p:pic>
      <p:sp>
        <p:nvSpPr>
          <p:cNvPr id="10" name="Text 5"/>
          <p:cNvSpPr/>
          <p:nvPr/>
        </p:nvSpPr>
        <p:spPr>
          <a:xfrm>
            <a:off x="6382512" y="3154680"/>
            <a:ext cx="1828800" cy="274320"/>
          </a:xfrm>
          <a:prstGeom prst="rect">
            <a:avLst/>
          </a:prstGeom>
          <a:noFill/>
          <a:ln/>
        </p:spPr>
        <p:txBody>
          <a:bodyPr wrap="square" rtlCol="0" anchor="ctr"/>
          <a:lstStyle/>
          <a:p>
            <a:pPr marL="0" indent="0">
              <a:buNone/>
            </a:pPr>
            <a:r>
              <a:rPr lang="en-US" sz="1100" b="1" dirty="0">
                <a:solidFill>
                  <a:srgbClr val="13315C"/>
                </a:solidFill>
                <a:latin typeface="Calibri" pitchFamily="34" charset="0"/>
                <a:ea typeface="Calibri" pitchFamily="34" charset="-122"/>
                <a:cs typeface="Calibri" pitchFamily="34" charset="-120"/>
              </a:rPr>
              <a:t>k = 4</a:t>
            </a:r>
            <a:endParaRPr lang="en-US" sz="1100" dirty="0"/>
          </a:p>
        </p:txBody>
      </p:sp>
      <p:sp>
        <p:nvSpPr>
          <p:cNvPr id="11" name="Shape 6"/>
          <p:cNvSpPr/>
          <p:nvPr/>
        </p:nvSpPr>
        <p:spPr>
          <a:xfrm>
            <a:off x="457200" y="3703320"/>
            <a:ext cx="5486400" cy="2331720"/>
          </a:xfrm>
          <a:prstGeom prst="roundRect">
            <a:avLst>
              <a:gd name="adj" fmla="val 3137"/>
            </a:avLst>
          </a:prstGeom>
          <a:solidFill>
            <a:srgbClr val="FFFFFF"/>
          </a:solidFill>
          <a:ln/>
          <a:effectLst>
            <a:outerShdw blurRad="101600" dist="38100" dir="2700000" algn="bl" rotWithShape="0">
              <a:srgbClr val="0B2545">
                <a:alpha val="15000"/>
              </a:srgbClr>
            </a:outerShdw>
          </a:effectLst>
        </p:spPr>
      </p:sp>
      <p:pic>
        <p:nvPicPr>
          <p:cNvPr id="12" name="Image 3" descr="cell40_img13.png"/>
          <p:cNvPicPr>
            <a:picLocks noChangeAspect="1"/>
          </p:cNvPicPr>
          <p:nvPr/>
        </p:nvPicPr>
        <p:blipFill>
          <a:blip r:embed="rId6"/>
          <a:stretch>
            <a:fillRect/>
          </a:stretch>
        </p:blipFill>
        <p:spPr>
          <a:xfrm>
            <a:off x="1982497" y="3794760"/>
            <a:ext cx="2435806" cy="1828800"/>
          </a:xfrm>
          <a:prstGeom prst="rect">
            <a:avLst/>
          </a:prstGeom>
        </p:spPr>
      </p:pic>
      <p:sp>
        <p:nvSpPr>
          <p:cNvPr id="13" name="Text 7"/>
          <p:cNvSpPr/>
          <p:nvPr/>
        </p:nvSpPr>
        <p:spPr>
          <a:xfrm>
            <a:off x="594360" y="5669280"/>
            <a:ext cx="1828800" cy="274320"/>
          </a:xfrm>
          <a:prstGeom prst="rect">
            <a:avLst/>
          </a:prstGeom>
          <a:noFill/>
          <a:ln/>
        </p:spPr>
        <p:txBody>
          <a:bodyPr wrap="square" rtlCol="0" anchor="ctr"/>
          <a:lstStyle/>
          <a:p>
            <a:pPr marL="0" indent="0">
              <a:buNone/>
            </a:pPr>
            <a:r>
              <a:rPr lang="en-US" sz="1100" b="1" dirty="0">
                <a:solidFill>
                  <a:srgbClr val="13315C"/>
                </a:solidFill>
                <a:latin typeface="Calibri" pitchFamily="34" charset="0"/>
                <a:ea typeface="Calibri" pitchFamily="34" charset="-122"/>
                <a:cs typeface="Calibri" pitchFamily="34" charset="-120"/>
              </a:rPr>
              <a:t>k = 5</a:t>
            </a:r>
            <a:endParaRPr lang="en-US" sz="1100" dirty="0"/>
          </a:p>
        </p:txBody>
      </p:sp>
      <p:sp>
        <p:nvSpPr>
          <p:cNvPr id="14" name="Shape 8"/>
          <p:cNvSpPr/>
          <p:nvPr/>
        </p:nvSpPr>
        <p:spPr>
          <a:xfrm>
            <a:off x="6245352" y="3703320"/>
            <a:ext cx="5486400" cy="2331720"/>
          </a:xfrm>
          <a:prstGeom prst="roundRect">
            <a:avLst>
              <a:gd name="adj" fmla="val 3137"/>
            </a:avLst>
          </a:prstGeom>
          <a:solidFill>
            <a:srgbClr val="FFFFFF"/>
          </a:solidFill>
          <a:ln/>
          <a:effectLst>
            <a:outerShdw blurRad="101600" dist="38100" dir="2700000" algn="bl" rotWithShape="0">
              <a:srgbClr val="0B2545">
                <a:alpha val="15000"/>
              </a:srgbClr>
            </a:outerShdw>
          </a:effectLst>
        </p:spPr>
      </p:sp>
      <p:pic>
        <p:nvPicPr>
          <p:cNvPr id="15" name="Image 4" descr="cell40_img14.png"/>
          <p:cNvPicPr>
            <a:picLocks noChangeAspect="1"/>
          </p:cNvPicPr>
          <p:nvPr/>
        </p:nvPicPr>
        <p:blipFill>
          <a:blip r:embed="rId7"/>
          <a:stretch>
            <a:fillRect/>
          </a:stretch>
        </p:blipFill>
        <p:spPr>
          <a:xfrm>
            <a:off x="7770649" y="3794760"/>
            <a:ext cx="2435806" cy="1828800"/>
          </a:xfrm>
          <a:prstGeom prst="rect">
            <a:avLst/>
          </a:prstGeom>
        </p:spPr>
      </p:pic>
      <p:sp>
        <p:nvSpPr>
          <p:cNvPr id="16" name="Text 9"/>
          <p:cNvSpPr/>
          <p:nvPr/>
        </p:nvSpPr>
        <p:spPr>
          <a:xfrm>
            <a:off x="6382512" y="5669280"/>
            <a:ext cx="1828800" cy="274320"/>
          </a:xfrm>
          <a:prstGeom prst="rect">
            <a:avLst/>
          </a:prstGeom>
          <a:noFill/>
          <a:ln/>
        </p:spPr>
        <p:txBody>
          <a:bodyPr wrap="square" rtlCol="0" anchor="ctr"/>
          <a:lstStyle/>
          <a:p>
            <a:pPr marL="0" indent="0">
              <a:buNone/>
            </a:pPr>
            <a:r>
              <a:rPr lang="en-US" sz="1100" b="1" dirty="0">
                <a:solidFill>
                  <a:srgbClr val="13315C"/>
                </a:solidFill>
                <a:latin typeface="Calibri" pitchFamily="34" charset="0"/>
                <a:ea typeface="Calibri" pitchFamily="34" charset="-122"/>
                <a:cs typeface="Calibri" pitchFamily="34" charset="-120"/>
              </a:rPr>
              <a:t>k = 6</a:t>
            </a:r>
            <a:endParaRPr lang="en-US" sz="1100" dirty="0"/>
          </a:p>
        </p:txBody>
      </p:sp>
      <p:sp>
        <p:nvSpPr>
          <p:cNvPr id="17" name="Text 10"/>
          <p:cNvSpPr/>
          <p:nvPr/>
        </p:nvSpPr>
        <p:spPr>
          <a:xfrm>
            <a:off x="457200" y="6492240"/>
            <a:ext cx="8229600" cy="228600"/>
          </a:xfrm>
          <a:prstGeom prst="rect">
            <a:avLst/>
          </a:prstGeom>
          <a:noFill/>
          <a:ln/>
        </p:spPr>
        <p:txBody>
          <a:bodyPr wrap="square" rtlCol="0" anchor="ctr"/>
          <a:lstStyle/>
          <a:p>
            <a:pPr marL="0" indent="0">
              <a:buNone/>
            </a:pPr>
            <a:r>
              <a:rPr lang="en-US" sz="900" dirty="0">
                <a:solidFill>
                  <a:srgbClr val="5C7184"/>
                </a:solidFill>
                <a:latin typeface="Calibri" pitchFamily="34" charset="0"/>
                <a:ea typeface="Calibri" pitchFamily="34" charset="-122"/>
                <a:cs typeface="Calibri" pitchFamily="34" charset="-120"/>
              </a:rPr>
              <a:t>Human Activity Pattern Discovery — Clustering Analysis</a:t>
            </a:r>
            <a:endParaRPr lang="en-US" sz="900" dirty="0"/>
          </a:p>
        </p:txBody>
      </p:sp>
      <p:sp>
        <p:nvSpPr>
          <p:cNvPr id="18" name="Text 11"/>
          <p:cNvSpPr/>
          <p:nvPr/>
        </p:nvSpPr>
        <p:spPr>
          <a:xfrm>
            <a:off x="11365992" y="6492240"/>
            <a:ext cx="365760" cy="228600"/>
          </a:xfrm>
          <a:prstGeom prst="rect">
            <a:avLst/>
          </a:prstGeom>
          <a:noFill/>
          <a:ln/>
        </p:spPr>
        <p:txBody>
          <a:bodyPr wrap="square" rtlCol="0" anchor="ctr"/>
          <a:lstStyle/>
          <a:p>
            <a:pPr marL="0" indent="0" algn="r">
              <a:buNone/>
            </a:pPr>
            <a:r>
              <a:rPr lang="en-US" sz="900" dirty="0">
                <a:solidFill>
                  <a:srgbClr val="5C718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5F9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384048"/>
            <a:ext cx="457200" cy="457200"/>
          </a:xfrm>
          <a:prstGeom prst="rect">
            <a:avLst/>
          </a:prstGeom>
        </p:spPr>
      </p:pic>
      <p:sp>
        <p:nvSpPr>
          <p:cNvPr id="3" name="Text 0"/>
          <p:cNvSpPr/>
          <p:nvPr/>
        </p:nvSpPr>
        <p:spPr>
          <a:xfrm>
            <a:off x="1051560" y="292608"/>
            <a:ext cx="10607040" cy="502920"/>
          </a:xfrm>
          <a:prstGeom prst="rect">
            <a:avLst/>
          </a:prstGeom>
          <a:noFill/>
          <a:ln/>
        </p:spPr>
        <p:txBody>
          <a:bodyPr wrap="square" rtlCol="0" anchor="ctr"/>
          <a:lstStyle/>
          <a:p>
            <a:pPr marL="0" indent="0">
              <a:buNone/>
            </a:pPr>
            <a:r>
              <a:rPr lang="en-US" sz="2700" b="1" dirty="0">
                <a:solidFill>
                  <a:srgbClr val="1B2A3D"/>
                </a:solidFill>
                <a:latin typeface="Cambria" pitchFamily="34" charset="0"/>
                <a:ea typeface="Cambria" pitchFamily="34" charset="-122"/>
                <a:cs typeface="Cambria" pitchFamily="34" charset="-120"/>
              </a:rPr>
              <a:t>Cluster Composition at k = 3</a:t>
            </a:r>
            <a:endParaRPr lang="en-US" sz="2700" dirty="0"/>
          </a:p>
        </p:txBody>
      </p:sp>
      <p:sp>
        <p:nvSpPr>
          <p:cNvPr id="4" name="Text 1"/>
          <p:cNvSpPr/>
          <p:nvPr/>
        </p:nvSpPr>
        <p:spPr>
          <a:xfrm>
            <a:off x="1051560" y="749808"/>
            <a:ext cx="10607040" cy="320040"/>
          </a:xfrm>
          <a:prstGeom prst="rect">
            <a:avLst/>
          </a:prstGeom>
          <a:noFill/>
          <a:ln/>
        </p:spPr>
        <p:txBody>
          <a:bodyPr wrap="square" rtlCol="0" anchor="ctr"/>
          <a:lstStyle/>
          <a:p>
            <a:pPr marL="0" indent="0">
              <a:buNone/>
            </a:pPr>
            <a:r>
              <a:rPr lang="en-US" sz="1300" i="1" dirty="0">
                <a:solidFill>
                  <a:srgbClr val="5C7184"/>
                </a:solidFill>
                <a:latin typeface="Calibri" pitchFamily="34" charset="0"/>
                <a:ea typeface="Calibri" pitchFamily="34" charset="-122"/>
                <a:cs typeface="Calibri" pitchFamily="34" charset="-120"/>
              </a:rPr>
              <a:t>How the chosen KMeans solution distributes samples and aligns with activities</a:t>
            </a:r>
            <a:endParaRPr lang="en-US" sz="1300" dirty="0"/>
          </a:p>
        </p:txBody>
      </p:sp>
      <p:sp>
        <p:nvSpPr>
          <p:cNvPr id="5" name="Shape 2"/>
          <p:cNvSpPr/>
          <p:nvPr/>
        </p:nvSpPr>
        <p:spPr>
          <a:xfrm>
            <a:off x="457200" y="1188720"/>
            <a:ext cx="4297680" cy="4480560"/>
          </a:xfrm>
          <a:prstGeom prst="roundRect">
            <a:avLst>
              <a:gd name="adj" fmla="val 1702"/>
            </a:avLst>
          </a:prstGeom>
          <a:solidFill>
            <a:srgbClr val="FFFFFF"/>
          </a:solidFill>
          <a:ln/>
          <a:effectLst>
            <a:outerShdw blurRad="101600" dist="38100" dir="2700000" algn="bl" rotWithShape="0">
              <a:srgbClr val="0B2545">
                <a:alpha val="15000"/>
              </a:srgbClr>
            </a:outerShdw>
          </a:effectLst>
        </p:spPr>
      </p:sp>
      <p:pic>
        <p:nvPicPr>
          <p:cNvPr id="6" name="Image 1" descr="cell41_img15.png"/>
          <p:cNvPicPr>
            <a:picLocks noChangeAspect="1"/>
          </p:cNvPicPr>
          <p:nvPr/>
        </p:nvPicPr>
        <p:blipFill>
          <a:blip r:embed="rId4"/>
          <a:stretch>
            <a:fillRect/>
          </a:stretch>
        </p:blipFill>
        <p:spPr>
          <a:xfrm>
            <a:off x="598896" y="1325880"/>
            <a:ext cx="4014289" cy="4206240"/>
          </a:xfrm>
          <a:prstGeom prst="rect">
            <a:avLst/>
          </a:prstGeom>
        </p:spPr>
      </p:pic>
      <p:sp>
        <p:nvSpPr>
          <p:cNvPr id="7" name="Shape 3"/>
          <p:cNvSpPr/>
          <p:nvPr/>
        </p:nvSpPr>
        <p:spPr>
          <a:xfrm>
            <a:off x="5029200" y="1188720"/>
            <a:ext cx="4754880" cy="4480560"/>
          </a:xfrm>
          <a:prstGeom prst="roundRect">
            <a:avLst>
              <a:gd name="adj" fmla="val 1633"/>
            </a:avLst>
          </a:prstGeom>
          <a:solidFill>
            <a:srgbClr val="FFFFFF"/>
          </a:solidFill>
          <a:ln/>
          <a:effectLst>
            <a:outerShdw blurRad="101600" dist="38100" dir="2700000" algn="bl" rotWithShape="0">
              <a:srgbClr val="0B2545">
                <a:alpha val="15000"/>
              </a:srgbClr>
            </a:outerShdw>
          </a:effectLst>
        </p:spPr>
      </p:sp>
      <p:pic>
        <p:nvPicPr>
          <p:cNvPr id="8" name="Image 2" descr="cell42_img16.png"/>
          <p:cNvPicPr>
            <a:picLocks noChangeAspect="1"/>
          </p:cNvPicPr>
          <p:nvPr/>
        </p:nvPicPr>
        <p:blipFill>
          <a:blip r:embed="rId5"/>
          <a:stretch>
            <a:fillRect/>
          </a:stretch>
        </p:blipFill>
        <p:spPr>
          <a:xfrm>
            <a:off x="5424043" y="1325880"/>
            <a:ext cx="3965195" cy="4206240"/>
          </a:xfrm>
          <a:prstGeom prst="rect">
            <a:avLst/>
          </a:prstGeom>
        </p:spPr>
      </p:pic>
      <p:sp>
        <p:nvSpPr>
          <p:cNvPr id="9" name="Shape 4"/>
          <p:cNvSpPr/>
          <p:nvPr/>
        </p:nvSpPr>
        <p:spPr>
          <a:xfrm>
            <a:off x="10058400" y="1188720"/>
            <a:ext cx="1691640" cy="4480560"/>
          </a:xfrm>
          <a:prstGeom prst="roundRect">
            <a:avLst>
              <a:gd name="adj" fmla="val 4324"/>
            </a:avLst>
          </a:prstGeom>
          <a:solidFill>
            <a:srgbClr val="13315C"/>
          </a:solidFill>
          <a:ln/>
          <a:effectLst>
            <a:outerShdw blurRad="101600" dist="38100" dir="2700000" algn="bl" rotWithShape="0">
              <a:srgbClr val="0B2545">
                <a:alpha val="15000"/>
              </a:srgbClr>
            </a:outerShdw>
          </a:effectLst>
        </p:spPr>
      </p:sp>
      <p:sp>
        <p:nvSpPr>
          <p:cNvPr id="10" name="Text 5"/>
          <p:cNvSpPr/>
          <p:nvPr/>
        </p:nvSpPr>
        <p:spPr>
          <a:xfrm>
            <a:off x="10195560" y="1325880"/>
            <a:ext cx="1463040" cy="274320"/>
          </a:xfrm>
          <a:prstGeom prst="rect">
            <a:avLst/>
          </a:prstGeom>
          <a:noFill/>
          <a:ln/>
        </p:spPr>
        <p:txBody>
          <a:bodyPr wrap="square" rtlCol="0" anchor="ctr"/>
          <a:lstStyle/>
          <a:p>
            <a:pPr marL="0" indent="0">
              <a:buNone/>
            </a:pPr>
            <a:r>
              <a:rPr lang="en-US" sz="1100" b="1" dirty="0">
                <a:solidFill>
                  <a:srgbClr val="F2A541"/>
                </a:solidFill>
                <a:latin typeface="Calibri" pitchFamily="34" charset="0"/>
                <a:ea typeface="Calibri" pitchFamily="34" charset="-122"/>
                <a:cs typeface="Calibri" pitchFamily="34" charset="-120"/>
              </a:rPr>
              <a:t>Cluster Sizes</a:t>
            </a:r>
            <a:endParaRPr lang="en-US" sz="1100" dirty="0"/>
          </a:p>
        </p:txBody>
      </p:sp>
      <p:sp>
        <p:nvSpPr>
          <p:cNvPr id="11" name="Text 6"/>
          <p:cNvSpPr/>
          <p:nvPr/>
        </p:nvSpPr>
        <p:spPr>
          <a:xfrm>
            <a:off x="10195560" y="1691640"/>
            <a:ext cx="548640" cy="36576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C0</a:t>
            </a:r>
            <a:endParaRPr lang="en-US" sz="1300" dirty="0"/>
          </a:p>
        </p:txBody>
      </p:sp>
      <p:sp>
        <p:nvSpPr>
          <p:cNvPr id="12" name="Text 7"/>
          <p:cNvSpPr/>
          <p:nvPr/>
        </p:nvSpPr>
        <p:spPr>
          <a:xfrm>
            <a:off x="10195560" y="1965960"/>
            <a:ext cx="146304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4,563</a:t>
            </a:r>
            <a:endParaRPr lang="en-US" sz="1600" dirty="0"/>
          </a:p>
        </p:txBody>
      </p:sp>
      <p:sp>
        <p:nvSpPr>
          <p:cNvPr id="13" name="Text 8"/>
          <p:cNvSpPr/>
          <p:nvPr/>
        </p:nvSpPr>
        <p:spPr>
          <a:xfrm>
            <a:off x="10195560" y="2560320"/>
            <a:ext cx="548640" cy="36576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C1</a:t>
            </a:r>
            <a:endParaRPr lang="en-US" sz="1300" dirty="0"/>
          </a:p>
        </p:txBody>
      </p:sp>
      <p:sp>
        <p:nvSpPr>
          <p:cNvPr id="14" name="Text 9"/>
          <p:cNvSpPr/>
          <p:nvPr/>
        </p:nvSpPr>
        <p:spPr>
          <a:xfrm>
            <a:off x="10195560" y="2834640"/>
            <a:ext cx="146304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3,803</a:t>
            </a:r>
            <a:endParaRPr lang="en-US" sz="1600" dirty="0"/>
          </a:p>
        </p:txBody>
      </p:sp>
      <p:sp>
        <p:nvSpPr>
          <p:cNvPr id="15" name="Text 10"/>
          <p:cNvSpPr/>
          <p:nvPr/>
        </p:nvSpPr>
        <p:spPr>
          <a:xfrm>
            <a:off x="10195560" y="3429000"/>
            <a:ext cx="548640" cy="36576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C2</a:t>
            </a:r>
            <a:endParaRPr lang="en-US" sz="1300" dirty="0"/>
          </a:p>
        </p:txBody>
      </p:sp>
      <p:sp>
        <p:nvSpPr>
          <p:cNvPr id="16" name="Text 11"/>
          <p:cNvSpPr/>
          <p:nvPr/>
        </p:nvSpPr>
        <p:spPr>
          <a:xfrm>
            <a:off x="10195560" y="3703320"/>
            <a:ext cx="146304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1,933</a:t>
            </a:r>
            <a:endParaRPr lang="en-US" sz="1600" dirty="0"/>
          </a:p>
        </p:txBody>
      </p:sp>
      <p:sp>
        <p:nvSpPr>
          <p:cNvPr id="17" name="Text 12"/>
          <p:cNvSpPr/>
          <p:nvPr/>
        </p:nvSpPr>
        <p:spPr>
          <a:xfrm>
            <a:off x="10195560" y="4434840"/>
            <a:ext cx="1463040" cy="274320"/>
          </a:xfrm>
          <a:prstGeom prst="rect">
            <a:avLst/>
          </a:prstGeom>
          <a:noFill/>
          <a:ln/>
        </p:spPr>
        <p:txBody>
          <a:bodyPr wrap="square" rtlCol="0" anchor="ctr"/>
          <a:lstStyle/>
          <a:p>
            <a:pPr marL="0" indent="0">
              <a:buNone/>
            </a:pPr>
            <a:r>
              <a:rPr lang="en-US" sz="1100" b="1" dirty="0">
                <a:solidFill>
                  <a:srgbClr val="F2A541"/>
                </a:solidFill>
                <a:latin typeface="Calibri" pitchFamily="34" charset="0"/>
                <a:ea typeface="Calibri" pitchFamily="34" charset="-122"/>
                <a:cs typeface="Calibri" pitchFamily="34" charset="-120"/>
              </a:rPr>
              <a:t>Purity</a:t>
            </a:r>
            <a:endParaRPr lang="en-US" sz="1100" dirty="0"/>
          </a:p>
        </p:txBody>
      </p:sp>
      <p:sp>
        <p:nvSpPr>
          <p:cNvPr id="18" name="Text 13"/>
          <p:cNvSpPr/>
          <p:nvPr/>
        </p:nvSpPr>
        <p:spPr>
          <a:xfrm>
            <a:off x="10195560" y="4709160"/>
            <a:ext cx="1463040" cy="45720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0.528</a:t>
            </a:r>
            <a:endParaRPr lang="en-US" sz="2200" dirty="0"/>
          </a:p>
        </p:txBody>
      </p:sp>
      <p:sp>
        <p:nvSpPr>
          <p:cNvPr id="19" name="Text 14"/>
          <p:cNvSpPr/>
          <p:nvPr/>
        </p:nvSpPr>
        <p:spPr>
          <a:xfrm>
            <a:off x="457200" y="6492240"/>
            <a:ext cx="8229600" cy="228600"/>
          </a:xfrm>
          <a:prstGeom prst="rect">
            <a:avLst/>
          </a:prstGeom>
          <a:noFill/>
          <a:ln/>
        </p:spPr>
        <p:txBody>
          <a:bodyPr wrap="square" rtlCol="0" anchor="ctr"/>
          <a:lstStyle/>
          <a:p>
            <a:pPr marL="0" indent="0">
              <a:buNone/>
            </a:pPr>
            <a:r>
              <a:rPr lang="en-US" sz="900" dirty="0">
                <a:solidFill>
                  <a:srgbClr val="5C7184"/>
                </a:solidFill>
                <a:latin typeface="Calibri" pitchFamily="34" charset="0"/>
                <a:ea typeface="Calibri" pitchFamily="34" charset="-122"/>
                <a:cs typeface="Calibri" pitchFamily="34" charset="-120"/>
              </a:rPr>
              <a:t>Human Activity Pattern Discovery — Clustering Analysis</a:t>
            </a:r>
            <a:endParaRPr lang="en-US" sz="900" dirty="0"/>
          </a:p>
        </p:txBody>
      </p:sp>
      <p:sp>
        <p:nvSpPr>
          <p:cNvPr id="20" name="Text 15"/>
          <p:cNvSpPr/>
          <p:nvPr/>
        </p:nvSpPr>
        <p:spPr>
          <a:xfrm>
            <a:off x="11365992" y="6492240"/>
            <a:ext cx="365760" cy="228600"/>
          </a:xfrm>
          <a:prstGeom prst="rect">
            <a:avLst/>
          </a:prstGeom>
          <a:noFill/>
          <a:ln/>
        </p:spPr>
        <p:txBody>
          <a:bodyPr wrap="square" rtlCol="0" anchor="ctr"/>
          <a:lstStyle/>
          <a:p>
            <a:pPr marL="0" indent="0" algn="r">
              <a:buNone/>
            </a:pPr>
            <a:r>
              <a:rPr lang="en-US" sz="900" dirty="0">
                <a:solidFill>
                  <a:srgbClr val="5C7184"/>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5F9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384048"/>
            <a:ext cx="457200" cy="457200"/>
          </a:xfrm>
          <a:prstGeom prst="rect">
            <a:avLst/>
          </a:prstGeom>
        </p:spPr>
      </p:pic>
      <p:sp>
        <p:nvSpPr>
          <p:cNvPr id="3" name="Text 0"/>
          <p:cNvSpPr/>
          <p:nvPr/>
        </p:nvSpPr>
        <p:spPr>
          <a:xfrm>
            <a:off x="1051560" y="292608"/>
            <a:ext cx="10607040" cy="502920"/>
          </a:xfrm>
          <a:prstGeom prst="rect">
            <a:avLst/>
          </a:prstGeom>
          <a:noFill/>
          <a:ln/>
        </p:spPr>
        <p:txBody>
          <a:bodyPr wrap="square" rtlCol="0" anchor="ctr"/>
          <a:lstStyle/>
          <a:p>
            <a:pPr marL="0" indent="0">
              <a:buNone/>
            </a:pPr>
            <a:r>
              <a:rPr lang="en-US" sz="2700" b="1" dirty="0">
                <a:solidFill>
                  <a:srgbClr val="1B2A3D"/>
                </a:solidFill>
                <a:latin typeface="Cambria" pitchFamily="34" charset="0"/>
                <a:ea typeface="Cambria" pitchFamily="34" charset="-122"/>
                <a:cs typeface="Cambria" pitchFamily="34" charset="-120"/>
              </a:rPr>
              <a:t>Key Finding: Six Activities, Three Natural Clusters</a:t>
            </a:r>
            <a:endParaRPr lang="en-US" sz="2700" dirty="0"/>
          </a:p>
        </p:txBody>
      </p:sp>
      <p:sp>
        <p:nvSpPr>
          <p:cNvPr id="4" name="Text 1"/>
          <p:cNvSpPr/>
          <p:nvPr/>
        </p:nvSpPr>
        <p:spPr>
          <a:xfrm>
            <a:off x="1051560" y="749808"/>
            <a:ext cx="10607040" cy="320040"/>
          </a:xfrm>
          <a:prstGeom prst="rect">
            <a:avLst/>
          </a:prstGeom>
          <a:noFill/>
          <a:ln/>
        </p:spPr>
        <p:txBody>
          <a:bodyPr wrap="square" rtlCol="0" anchor="ctr"/>
          <a:lstStyle/>
          <a:p>
            <a:pPr marL="0" indent="0">
              <a:buNone/>
            </a:pPr>
            <a:r>
              <a:rPr lang="en-US" sz="1300" i="1" dirty="0">
                <a:solidFill>
                  <a:srgbClr val="5C7184"/>
                </a:solidFill>
                <a:latin typeface="Calibri" pitchFamily="34" charset="0"/>
                <a:ea typeface="Calibri" pitchFamily="34" charset="-122"/>
                <a:cs typeface="Calibri" pitchFamily="34" charset="-120"/>
              </a:rPr>
              <a:t>The most important result of this project</a:t>
            </a:r>
            <a:endParaRPr lang="en-US" sz="1300" dirty="0"/>
          </a:p>
        </p:txBody>
      </p:sp>
      <p:sp>
        <p:nvSpPr>
          <p:cNvPr id="5" name="Text 2"/>
          <p:cNvSpPr/>
          <p:nvPr/>
        </p:nvSpPr>
        <p:spPr>
          <a:xfrm>
            <a:off x="457200" y="1188720"/>
            <a:ext cx="11247120" cy="1097280"/>
          </a:xfrm>
          <a:prstGeom prst="rect">
            <a:avLst/>
          </a:prstGeom>
          <a:noFill/>
          <a:ln/>
        </p:spPr>
        <p:txBody>
          <a:bodyPr wrap="square" rtlCol="0" anchor="t"/>
          <a:lstStyle/>
          <a:p>
            <a:pPr marL="0" indent="0">
              <a:lnSpc>
                <a:spcPct val="120000"/>
              </a:lnSpc>
              <a:buNone/>
            </a:pPr>
            <a:r>
              <a:rPr lang="en-US" sz="1350" dirty="0">
                <a:solidFill>
                  <a:srgbClr val="1B2A3D"/>
                </a:solidFill>
                <a:latin typeface="Calibri" pitchFamily="34" charset="0"/>
                <a:ea typeface="Calibri" pitchFamily="34" charset="-122"/>
                <a:cs typeface="Calibri" pitchFamily="34" charset="-120"/>
              </a:rPr>
              <a:t>Clustering is unsupervised — the algorithm never sees the six activity labels, it only groups observations by similarity. Since k = 3 produced the highest silhouette score of any value tested (including k = 6), the data itself indicates that the six labeled activities are not equally separable in feature space, and naturally collapse into three broader behavioral categories.</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47120" cy="1463040"/>
        </p:xfrm>
        <a:graphic>
          <a:graphicData uri="http://schemas.openxmlformats.org/drawingml/2006/table">
            <a:tbl>
              <a:tblPr/>
              <a:tblGrid>
                <a:gridCol w="2286000">
                  <a:extLst>
                    <a:ext uri="{9D8B030D-6E8A-4147-A177-3AD203B41FA5}">
                      <a16:colId xmlns:a16="http://schemas.microsoft.com/office/drawing/2014/main" val="20000"/>
                    </a:ext>
                  </a:extLst>
                </a:gridCol>
                <a:gridCol w="1490472">
                  <a:extLst>
                    <a:ext uri="{9D8B030D-6E8A-4147-A177-3AD203B41FA5}">
                      <a16:colId xmlns:a16="http://schemas.microsoft.com/office/drawing/2014/main" val="20001"/>
                    </a:ext>
                  </a:extLst>
                </a:gridCol>
                <a:gridCol w="1490472">
                  <a:extLst>
                    <a:ext uri="{9D8B030D-6E8A-4147-A177-3AD203B41FA5}">
                      <a16:colId xmlns:a16="http://schemas.microsoft.com/office/drawing/2014/main" val="20002"/>
                    </a:ext>
                  </a:extLst>
                </a:gridCol>
                <a:gridCol w="1490472">
                  <a:extLst>
                    <a:ext uri="{9D8B030D-6E8A-4147-A177-3AD203B41FA5}">
                      <a16:colId xmlns:a16="http://schemas.microsoft.com/office/drawing/2014/main" val="20003"/>
                    </a:ext>
                  </a:extLst>
                </a:gridCol>
                <a:gridCol w="1490472">
                  <a:extLst>
                    <a:ext uri="{9D8B030D-6E8A-4147-A177-3AD203B41FA5}">
                      <a16:colId xmlns:a16="http://schemas.microsoft.com/office/drawing/2014/main" val="20004"/>
                    </a:ext>
                  </a:extLst>
                </a:gridCol>
                <a:gridCol w="1490472">
                  <a:extLst>
                    <a:ext uri="{9D8B030D-6E8A-4147-A177-3AD203B41FA5}">
                      <a16:colId xmlns:a16="http://schemas.microsoft.com/office/drawing/2014/main" val="20005"/>
                    </a:ext>
                  </a:extLst>
                </a:gridCol>
                <a:gridCol w="1508760">
                  <a:extLst>
                    <a:ext uri="{9D8B030D-6E8A-4147-A177-3AD203B41FA5}">
                      <a16:colId xmlns:a16="http://schemas.microsoft.com/office/drawing/2014/main" val="20006"/>
                    </a:ext>
                  </a:extLst>
                </a:gridCol>
              </a:tblGrid>
              <a:tr h="365760">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Cluster</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Walking</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Upstairs</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Downstairs</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Sitting</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Standing</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Laying</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extLst>
                  <a:ext uri="{0D108BD9-81ED-4DB2-BD59-A6C34878D82A}">
                    <a16:rowId xmlns:a16="http://schemas.microsoft.com/office/drawing/2014/main" val="10000"/>
                  </a:ext>
                </a:extLst>
              </a:tr>
              <a:tr h="365760">
                <a:tc>
                  <a:txBody>
                    <a:bodyPr/>
                    <a:lstStyle/>
                    <a:p>
                      <a:pPr marL="0" indent="0" algn="ctr">
                        <a:buNone/>
                      </a:pPr>
                      <a:r>
                        <a:rPr lang="en-US" sz="1150" b="1" dirty="0">
                          <a:solidFill>
                            <a:srgbClr val="1B2A3D"/>
                          </a:solidFill>
                          <a:latin typeface="Calibri" pitchFamily="34" charset="0"/>
                          <a:ea typeface="Calibri" pitchFamily="34" charset="-122"/>
                          <a:cs typeface="Calibri" pitchFamily="34" charset="-120"/>
                        </a:rPr>
                        <a:t>C0 — Dynamic</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40%</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35%</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25%</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1150" b="1" dirty="0">
                          <a:solidFill>
                            <a:srgbClr val="1B2A3D"/>
                          </a:solidFill>
                          <a:latin typeface="Calibri" pitchFamily="34" charset="0"/>
                          <a:ea typeface="Calibri" pitchFamily="34" charset="-122"/>
                          <a:cs typeface="Calibri" pitchFamily="34" charset="-120"/>
                        </a:rPr>
                        <a:t>C1 — Upright/Static</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55%</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45%</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ctr">
                        <a:buNone/>
                      </a:pPr>
                      <a:r>
                        <a:rPr lang="en-US" sz="1150" b="1" dirty="0">
                          <a:solidFill>
                            <a:srgbClr val="1B2A3D"/>
                          </a:solidFill>
                          <a:latin typeface="Calibri" pitchFamily="34" charset="0"/>
                          <a:ea typeface="Calibri" pitchFamily="34" charset="-122"/>
                          <a:cs typeface="Calibri" pitchFamily="34" charset="-120"/>
                        </a:rPr>
                        <a:t>C2 — Resting</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Shape 3"/>
          <p:cNvSpPr/>
          <p:nvPr/>
        </p:nvSpPr>
        <p:spPr>
          <a:xfrm>
            <a:off x="457200" y="4343400"/>
            <a:ext cx="3611880" cy="1920240"/>
          </a:xfrm>
          <a:prstGeom prst="roundRect">
            <a:avLst>
              <a:gd name="adj" fmla="val 3810"/>
            </a:avLst>
          </a:prstGeom>
          <a:solidFill>
            <a:srgbClr val="FFFFFF"/>
          </a:solidFill>
          <a:ln/>
          <a:effectLst>
            <a:outerShdw blurRad="101600" dist="38100" dir="2700000" algn="bl" rotWithShape="0">
              <a:srgbClr val="0B2545">
                <a:alpha val="15000"/>
              </a:srgbClr>
            </a:outerShdw>
          </a:effectLst>
        </p:spPr>
      </p:sp>
      <p:sp>
        <p:nvSpPr>
          <p:cNvPr id="8" name="Text 4"/>
          <p:cNvSpPr/>
          <p:nvPr/>
        </p:nvSpPr>
        <p:spPr>
          <a:xfrm>
            <a:off x="640080" y="4498848"/>
            <a:ext cx="3246120" cy="365760"/>
          </a:xfrm>
          <a:prstGeom prst="rect">
            <a:avLst/>
          </a:prstGeom>
          <a:noFill/>
          <a:ln/>
        </p:spPr>
        <p:txBody>
          <a:bodyPr wrap="square" rtlCol="0" anchor="ctr"/>
          <a:lstStyle/>
          <a:p>
            <a:pPr marL="0" indent="0">
              <a:buNone/>
            </a:pPr>
            <a:r>
              <a:rPr lang="en-US" sz="1350" b="1" dirty="0">
                <a:solidFill>
                  <a:srgbClr val="1C7293"/>
                </a:solidFill>
                <a:latin typeface="Cambria" pitchFamily="34" charset="0"/>
                <a:ea typeface="Cambria" pitchFamily="34" charset="-122"/>
                <a:cs typeface="Cambria" pitchFamily="34" charset="-120"/>
              </a:rPr>
              <a:t>Dynamic Activities</a:t>
            </a:r>
            <a:endParaRPr lang="en-US" sz="1350" dirty="0"/>
          </a:p>
        </p:txBody>
      </p:sp>
      <p:sp>
        <p:nvSpPr>
          <p:cNvPr id="9" name="Text 5"/>
          <p:cNvSpPr/>
          <p:nvPr/>
        </p:nvSpPr>
        <p:spPr>
          <a:xfrm>
            <a:off x="640080" y="4864608"/>
            <a:ext cx="3246120" cy="1280160"/>
          </a:xfrm>
          <a:prstGeom prst="rect">
            <a:avLst/>
          </a:prstGeom>
          <a:noFill/>
          <a:ln/>
        </p:spPr>
        <p:txBody>
          <a:bodyPr wrap="square" rtlCol="0" anchor="t"/>
          <a:lstStyle/>
          <a:p>
            <a:pPr marL="0" indent="0">
              <a:lnSpc>
                <a:spcPct val="115000"/>
              </a:lnSpc>
              <a:buNone/>
            </a:pPr>
            <a:r>
              <a:rPr lang="en-US" sz="1100" dirty="0">
                <a:solidFill>
                  <a:srgbClr val="1B2A3D"/>
                </a:solidFill>
                <a:latin typeface="Calibri" pitchFamily="34" charset="0"/>
                <a:ea typeface="Calibri" pitchFamily="34" charset="-122"/>
                <a:cs typeface="Calibri" pitchFamily="34" charset="-120"/>
              </a:rPr>
              <a:t>Walking, Walking Upstairs, Walking Downstairs merge — all involve continuous, repetitive locomotion.</a:t>
            </a:r>
            <a:endParaRPr lang="en-US" sz="1100" dirty="0"/>
          </a:p>
        </p:txBody>
      </p:sp>
      <p:sp>
        <p:nvSpPr>
          <p:cNvPr id="10" name="Shape 6"/>
          <p:cNvSpPr/>
          <p:nvPr/>
        </p:nvSpPr>
        <p:spPr>
          <a:xfrm>
            <a:off x="4279392" y="4343400"/>
            <a:ext cx="3611880" cy="1920240"/>
          </a:xfrm>
          <a:prstGeom prst="roundRect">
            <a:avLst>
              <a:gd name="adj" fmla="val 3810"/>
            </a:avLst>
          </a:prstGeom>
          <a:solidFill>
            <a:srgbClr val="FFFFFF"/>
          </a:solidFill>
          <a:ln/>
          <a:effectLst>
            <a:outerShdw blurRad="101600" dist="38100" dir="2700000" algn="bl" rotWithShape="0">
              <a:srgbClr val="0B2545">
                <a:alpha val="15000"/>
              </a:srgbClr>
            </a:outerShdw>
          </a:effectLst>
        </p:spPr>
      </p:sp>
      <p:sp>
        <p:nvSpPr>
          <p:cNvPr id="11" name="Text 7"/>
          <p:cNvSpPr/>
          <p:nvPr/>
        </p:nvSpPr>
        <p:spPr>
          <a:xfrm>
            <a:off x="4462272" y="4498848"/>
            <a:ext cx="3246120" cy="365760"/>
          </a:xfrm>
          <a:prstGeom prst="rect">
            <a:avLst/>
          </a:prstGeom>
          <a:noFill/>
          <a:ln/>
        </p:spPr>
        <p:txBody>
          <a:bodyPr wrap="square" rtlCol="0" anchor="ctr"/>
          <a:lstStyle/>
          <a:p>
            <a:pPr marL="0" indent="0">
              <a:buNone/>
            </a:pPr>
            <a:r>
              <a:rPr lang="en-US" sz="1350" b="1" dirty="0">
                <a:solidFill>
                  <a:srgbClr val="1C7293"/>
                </a:solidFill>
                <a:latin typeface="Cambria" pitchFamily="34" charset="0"/>
                <a:ea typeface="Cambria" pitchFamily="34" charset="-122"/>
                <a:cs typeface="Cambria" pitchFamily="34" charset="-120"/>
              </a:rPr>
              <a:t>Static Upright</a:t>
            </a:r>
            <a:endParaRPr lang="en-US" sz="1350" dirty="0"/>
          </a:p>
        </p:txBody>
      </p:sp>
      <p:sp>
        <p:nvSpPr>
          <p:cNvPr id="12" name="Text 8"/>
          <p:cNvSpPr/>
          <p:nvPr/>
        </p:nvSpPr>
        <p:spPr>
          <a:xfrm>
            <a:off x="4462272" y="4864608"/>
            <a:ext cx="3246120" cy="1280160"/>
          </a:xfrm>
          <a:prstGeom prst="rect">
            <a:avLst/>
          </a:prstGeom>
          <a:noFill/>
          <a:ln/>
        </p:spPr>
        <p:txBody>
          <a:bodyPr wrap="square" rtlCol="0" anchor="t"/>
          <a:lstStyle/>
          <a:p>
            <a:pPr marL="0" indent="0">
              <a:lnSpc>
                <a:spcPct val="115000"/>
              </a:lnSpc>
              <a:buNone/>
            </a:pPr>
            <a:r>
              <a:rPr lang="en-US" sz="1100" dirty="0">
                <a:solidFill>
                  <a:srgbClr val="1B2A3D"/>
                </a:solidFill>
                <a:latin typeface="Calibri" pitchFamily="34" charset="0"/>
                <a:ea typeface="Calibri" pitchFamily="34" charset="-122"/>
                <a:cs typeface="Calibri" pitchFamily="34" charset="-120"/>
              </a:rPr>
              <a:t>Sitting and Standing merge — both are still, upright postures hard to distinguish from accelerometer/gyroscope signal alone.</a:t>
            </a:r>
            <a:endParaRPr lang="en-US" sz="1100" dirty="0"/>
          </a:p>
        </p:txBody>
      </p:sp>
      <p:sp>
        <p:nvSpPr>
          <p:cNvPr id="13" name="Shape 9"/>
          <p:cNvSpPr/>
          <p:nvPr/>
        </p:nvSpPr>
        <p:spPr>
          <a:xfrm>
            <a:off x="8101584" y="4343400"/>
            <a:ext cx="3611880" cy="1920240"/>
          </a:xfrm>
          <a:prstGeom prst="roundRect">
            <a:avLst>
              <a:gd name="adj" fmla="val 3810"/>
            </a:avLst>
          </a:prstGeom>
          <a:solidFill>
            <a:srgbClr val="FFFFFF"/>
          </a:solidFill>
          <a:ln/>
          <a:effectLst>
            <a:outerShdw blurRad="101600" dist="38100" dir="2700000" algn="bl" rotWithShape="0">
              <a:srgbClr val="0B2545">
                <a:alpha val="15000"/>
              </a:srgbClr>
            </a:outerShdw>
          </a:effectLst>
        </p:spPr>
      </p:sp>
      <p:sp>
        <p:nvSpPr>
          <p:cNvPr id="14" name="Text 10"/>
          <p:cNvSpPr/>
          <p:nvPr/>
        </p:nvSpPr>
        <p:spPr>
          <a:xfrm>
            <a:off x="8284464" y="4498848"/>
            <a:ext cx="3246120" cy="365760"/>
          </a:xfrm>
          <a:prstGeom prst="rect">
            <a:avLst/>
          </a:prstGeom>
          <a:noFill/>
          <a:ln/>
        </p:spPr>
        <p:txBody>
          <a:bodyPr wrap="square" rtlCol="0" anchor="ctr"/>
          <a:lstStyle/>
          <a:p>
            <a:pPr marL="0" indent="0">
              <a:buNone/>
            </a:pPr>
            <a:r>
              <a:rPr lang="en-US" sz="1350" b="1" dirty="0">
                <a:solidFill>
                  <a:srgbClr val="1C7293"/>
                </a:solidFill>
                <a:latin typeface="Cambria" pitchFamily="34" charset="0"/>
                <a:ea typeface="Cambria" pitchFamily="34" charset="-122"/>
                <a:cs typeface="Cambria" pitchFamily="34" charset="-120"/>
              </a:rPr>
              <a:t>Resting</a:t>
            </a:r>
            <a:endParaRPr lang="en-US" sz="1350" dirty="0"/>
          </a:p>
        </p:txBody>
      </p:sp>
      <p:sp>
        <p:nvSpPr>
          <p:cNvPr id="6" name="Text 11"/>
          <p:cNvSpPr/>
          <p:nvPr/>
        </p:nvSpPr>
        <p:spPr>
          <a:xfrm>
            <a:off x="8284464" y="4864608"/>
            <a:ext cx="3246120" cy="1280160"/>
          </a:xfrm>
          <a:prstGeom prst="rect">
            <a:avLst/>
          </a:prstGeom>
          <a:noFill/>
          <a:ln/>
        </p:spPr>
        <p:txBody>
          <a:bodyPr wrap="square" rtlCol="0" anchor="t"/>
          <a:lstStyle/>
          <a:p>
            <a:pPr marL="0" indent="0">
              <a:lnSpc>
                <a:spcPct val="115000"/>
              </a:lnSpc>
              <a:buNone/>
            </a:pPr>
            <a:r>
              <a:rPr lang="en-US" sz="1100" dirty="0">
                <a:solidFill>
                  <a:srgbClr val="1B2A3D"/>
                </a:solidFill>
                <a:latin typeface="Calibri" pitchFamily="34" charset="0"/>
                <a:ea typeface="Calibri" pitchFamily="34" charset="-122"/>
                <a:cs typeface="Calibri" pitchFamily="34" charset="-120"/>
              </a:rPr>
              <a:t>Laying remains fully separate — its orientation relative to gravity is unmistakably different from all other postures.</a:t>
            </a:r>
            <a:endParaRPr lang="en-US" sz="1100" dirty="0"/>
          </a:p>
        </p:txBody>
      </p:sp>
      <p:sp>
        <p:nvSpPr>
          <p:cNvPr id="16" name="Text 12"/>
          <p:cNvSpPr/>
          <p:nvPr/>
        </p:nvSpPr>
        <p:spPr>
          <a:xfrm>
            <a:off x="457200" y="6492240"/>
            <a:ext cx="8229600" cy="228600"/>
          </a:xfrm>
          <a:prstGeom prst="rect">
            <a:avLst/>
          </a:prstGeom>
          <a:noFill/>
          <a:ln/>
        </p:spPr>
        <p:txBody>
          <a:bodyPr wrap="square" rtlCol="0" anchor="ctr"/>
          <a:lstStyle/>
          <a:p>
            <a:pPr marL="0" indent="0">
              <a:buNone/>
            </a:pPr>
            <a:r>
              <a:rPr lang="en-US" sz="900" dirty="0">
                <a:solidFill>
                  <a:srgbClr val="5C7184"/>
                </a:solidFill>
                <a:latin typeface="Calibri" pitchFamily="34" charset="0"/>
                <a:ea typeface="Calibri" pitchFamily="34" charset="-122"/>
                <a:cs typeface="Calibri" pitchFamily="34" charset="-120"/>
              </a:rPr>
              <a:t>Human Activity Pattern Discovery — Clustering Analysis</a:t>
            </a:r>
            <a:endParaRPr lang="en-US" sz="900" dirty="0"/>
          </a:p>
        </p:txBody>
      </p:sp>
      <p:sp>
        <p:nvSpPr>
          <p:cNvPr id="17" name="Text 13"/>
          <p:cNvSpPr/>
          <p:nvPr/>
        </p:nvSpPr>
        <p:spPr>
          <a:xfrm>
            <a:off x="11365992" y="6492240"/>
            <a:ext cx="365760" cy="228600"/>
          </a:xfrm>
          <a:prstGeom prst="rect">
            <a:avLst/>
          </a:prstGeom>
          <a:noFill/>
          <a:ln/>
        </p:spPr>
        <p:txBody>
          <a:bodyPr wrap="square" rtlCol="0" anchor="ctr"/>
          <a:lstStyle/>
          <a:p>
            <a:pPr marL="0" indent="0" algn="r">
              <a:buNone/>
            </a:pPr>
            <a:r>
              <a:rPr lang="en-US" sz="900" dirty="0">
                <a:solidFill>
                  <a:srgbClr val="5C7184"/>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0B2545"/>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22960" y="640080"/>
            <a:ext cx="548640" cy="548640"/>
          </a:xfrm>
          <a:prstGeom prst="rect">
            <a:avLst/>
          </a:prstGeom>
        </p:spPr>
      </p:pic>
      <p:sp>
        <p:nvSpPr>
          <p:cNvPr id="3" name="Text 0"/>
          <p:cNvSpPr/>
          <p:nvPr/>
        </p:nvSpPr>
        <p:spPr>
          <a:xfrm>
            <a:off x="1554480" y="594360"/>
            <a:ext cx="73152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4" name="Shape 1"/>
          <p:cNvSpPr/>
          <p:nvPr/>
        </p:nvSpPr>
        <p:spPr>
          <a:xfrm>
            <a:off x="868680" y="1371600"/>
            <a:ext cx="1188720" cy="32004"/>
          </a:xfrm>
          <a:prstGeom prst="rect">
            <a:avLst/>
          </a:prstGeom>
          <a:solidFill>
            <a:srgbClr val="F2A541"/>
          </a:solidFill>
          <a:ln/>
        </p:spPr>
      </p:sp>
      <p:sp>
        <p:nvSpPr>
          <p:cNvPr id="5" name="Text 2"/>
          <p:cNvSpPr/>
          <p:nvPr/>
        </p:nvSpPr>
        <p:spPr>
          <a:xfrm>
            <a:off x="822960" y="1737360"/>
            <a:ext cx="10515600" cy="1371600"/>
          </a:xfrm>
          <a:prstGeom prst="rect">
            <a:avLst/>
          </a:prstGeom>
          <a:noFill/>
          <a:ln/>
        </p:spPr>
        <p:txBody>
          <a:bodyPr wrap="square" rtlCol="0" anchor="t"/>
          <a:lstStyle/>
          <a:p>
            <a:pPr marL="0" indent="0">
              <a:lnSpc>
                <a:spcPct val="130000"/>
              </a:lnSpc>
              <a:buNone/>
            </a:pPr>
            <a:r>
              <a:rPr lang="en-US" sz="1600" dirty="0">
                <a:solidFill>
                  <a:srgbClr val="CADCFC"/>
                </a:solidFill>
                <a:latin typeface="Calibri" pitchFamily="34" charset="0"/>
                <a:ea typeface="Calibri" pitchFamily="34" charset="-122"/>
                <a:cs typeface="Calibri" pitchFamily="34" charset="-120"/>
              </a:rPr>
              <a:t>Although the Human Activity Recognition dataset contains six labeled activities, silhouette analysis indicated that the optimal number of clusters was three (Silhouette Score = 0.4459). This suggests that the sensor measurements naturally form three broader behavioral groups rather than six completely distinct classes.</a:t>
            </a:r>
            <a:endParaRPr lang="en-US" sz="1600" dirty="0"/>
          </a:p>
        </p:txBody>
      </p:sp>
      <p:sp>
        <p:nvSpPr>
          <p:cNvPr id="6" name="Text 3"/>
          <p:cNvSpPr/>
          <p:nvPr/>
        </p:nvSpPr>
        <p:spPr>
          <a:xfrm>
            <a:off x="822960" y="3108960"/>
            <a:ext cx="10515600" cy="1554480"/>
          </a:xfrm>
          <a:prstGeom prst="rect">
            <a:avLst/>
          </a:prstGeom>
          <a:noFill/>
          <a:ln/>
        </p:spPr>
        <p:txBody>
          <a:bodyPr wrap="square" rtlCol="0" anchor="t"/>
          <a:lstStyle/>
          <a:p>
            <a:pPr marL="0" indent="0">
              <a:lnSpc>
                <a:spcPct val="130000"/>
              </a:lnSpc>
              <a:buNone/>
            </a:pPr>
            <a:r>
              <a:rPr lang="en-US" sz="1600" dirty="0">
                <a:solidFill>
                  <a:srgbClr val="CADCFC"/>
                </a:solidFill>
                <a:latin typeface="Calibri" pitchFamily="34" charset="0"/>
                <a:ea typeface="Calibri" pitchFamily="34" charset="-122"/>
                <a:cs typeface="Calibri" pitchFamily="34" charset="-120"/>
              </a:rPr>
              <a:t>Walking-related activities (walking, walking upstairs, walking downstairs) grouped together as dynamic activities; sitting and standing grouped as static upright activities; and laying formed a separate resting cluster. The clustering process captured the intrinsic structure of the data, while the six-class labeling represents a finer-grained supervised categorization.</a:t>
            </a:r>
            <a:endParaRPr lang="en-US" sz="1600" dirty="0"/>
          </a:p>
        </p:txBody>
      </p:sp>
      <p:sp>
        <p:nvSpPr>
          <p:cNvPr id="7" name="Shape 4"/>
          <p:cNvSpPr/>
          <p:nvPr/>
        </p:nvSpPr>
        <p:spPr>
          <a:xfrm>
            <a:off x="822960" y="4937760"/>
            <a:ext cx="10515600" cy="1280160"/>
          </a:xfrm>
          <a:prstGeom prst="roundRect">
            <a:avLst>
              <a:gd name="adj" fmla="val 5714"/>
            </a:avLst>
          </a:prstGeom>
          <a:solidFill>
            <a:srgbClr val="13315C"/>
          </a:solidFill>
          <a:ln/>
          <a:effectLst>
            <a:outerShdw blurRad="101600" dist="38100" dir="2700000" algn="bl" rotWithShape="0">
              <a:srgbClr val="0B2545">
                <a:alpha val="15000"/>
              </a:srgbClr>
            </a:outerShdw>
          </a:effectLst>
        </p:spPr>
      </p:sp>
      <p:sp>
        <p:nvSpPr>
          <p:cNvPr id="8" name="Text 5"/>
          <p:cNvSpPr/>
          <p:nvPr/>
        </p:nvSpPr>
        <p:spPr>
          <a:xfrm>
            <a:off x="1051560" y="5074920"/>
            <a:ext cx="10058400" cy="1005840"/>
          </a:xfrm>
          <a:prstGeom prst="rect">
            <a:avLst/>
          </a:prstGeom>
          <a:noFill/>
          <a:ln/>
        </p:spPr>
        <p:txBody>
          <a:bodyPr wrap="square"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KMeans (k=3) was the strongest performer overall — highest Silhouette (0.4459), lowest Davies-Bouldin (0.8894), and highest external agreement (ARI 0.4765) among the three algorithms compared.</a:t>
            </a:r>
            <a:endParaRPr lang="en-US" sz="1300" dirty="0"/>
          </a:p>
        </p:txBody>
      </p:sp>
      <p:sp>
        <p:nvSpPr>
          <p:cNvPr id="9" name="Text 6"/>
          <p:cNvSpPr/>
          <p:nvPr/>
        </p:nvSpPr>
        <p:spPr>
          <a:xfrm>
            <a:off x="457200" y="6492240"/>
            <a:ext cx="8229600" cy="228600"/>
          </a:xfrm>
          <a:prstGeom prst="rect">
            <a:avLst/>
          </a:prstGeom>
          <a:noFill/>
          <a:ln/>
        </p:spPr>
        <p:txBody>
          <a:bodyPr wrap="square" rtlCol="0" anchor="ctr"/>
          <a:lstStyle/>
          <a:p>
            <a:pPr marL="0" indent="0">
              <a:buNone/>
            </a:pPr>
            <a:r>
              <a:rPr lang="en-US" sz="900" dirty="0">
                <a:solidFill>
                  <a:srgbClr val="5C7184"/>
                </a:solidFill>
                <a:latin typeface="Calibri" pitchFamily="34" charset="0"/>
                <a:ea typeface="Calibri" pitchFamily="34" charset="-122"/>
                <a:cs typeface="Calibri" pitchFamily="34" charset="-120"/>
              </a:rPr>
              <a:t>Human Activity Pattern Discovery — Clustering Analysis</a:t>
            </a:r>
            <a:endParaRPr lang="en-US" sz="900" dirty="0"/>
          </a:p>
        </p:txBody>
      </p:sp>
      <p:sp>
        <p:nvSpPr>
          <p:cNvPr id="10" name="Text 7"/>
          <p:cNvSpPr/>
          <p:nvPr/>
        </p:nvSpPr>
        <p:spPr>
          <a:xfrm>
            <a:off x="11365992" y="6492240"/>
            <a:ext cx="365760" cy="228600"/>
          </a:xfrm>
          <a:prstGeom prst="rect">
            <a:avLst/>
          </a:prstGeom>
          <a:noFill/>
          <a:ln/>
        </p:spPr>
        <p:txBody>
          <a:bodyPr wrap="square" rtlCol="0" anchor="ctr"/>
          <a:lstStyle/>
          <a:p>
            <a:pPr marL="0" indent="0" algn="r">
              <a:buNone/>
            </a:pPr>
            <a:r>
              <a:rPr lang="en-US" sz="900" dirty="0">
                <a:solidFill>
                  <a:srgbClr val="5C7184"/>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1317</Words>
  <Application>Microsoft Office PowerPoint</Application>
  <PresentationFormat>Widescreen</PresentationFormat>
  <Paragraphs>227</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Activity Pattern Discovery Using Smartphone Sensor Data</dc:title>
  <dc:subject>PptxGenJS Presentation</dc:subject>
  <dc:creator>HAR Clustering Analysis</dc:creator>
  <cp:lastModifiedBy>Dipanwita</cp:lastModifiedBy>
  <cp:revision>2</cp:revision>
  <dcterms:created xsi:type="dcterms:W3CDTF">2026-06-20T09:39:27Z</dcterms:created>
  <dcterms:modified xsi:type="dcterms:W3CDTF">2026-06-20T09:48:25Z</dcterms:modified>
</cp:coreProperties>
</file>