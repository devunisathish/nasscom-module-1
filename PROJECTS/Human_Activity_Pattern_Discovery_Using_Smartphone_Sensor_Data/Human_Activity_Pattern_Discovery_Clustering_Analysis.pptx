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0826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18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7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327855" cy="6858000"/>
          </a:xfrm>
          <a:prstGeom prst="rect">
            <a:avLst/>
          </a:prstGeom>
          <a:solidFill>
            <a:srgbClr val="1B2156"/>
          </a:solidFill>
          <a:ln/>
        </p:spPr>
      </p:sp>
      <p:sp>
        <p:nvSpPr>
          <p:cNvPr id="3" name="Shape 1"/>
          <p:cNvSpPr/>
          <p:nvPr/>
        </p:nvSpPr>
        <p:spPr>
          <a:xfrm>
            <a:off x="9006840" y="914400"/>
            <a:ext cx="2743200" cy="2743200"/>
          </a:xfrm>
          <a:prstGeom prst="ellipse">
            <a:avLst/>
          </a:prstGeom>
          <a:ln w="19050">
            <a:solidFill>
              <a:srgbClr val="0FB5AE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0" y="1417320"/>
            <a:ext cx="1737360" cy="1737360"/>
          </a:xfrm>
          <a:prstGeom prst="ellipse">
            <a:avLst/>
          </a:prstGeom>
          <a:ln w="19050">
            <a:solidFill>
              <a:srgbClr val="0FB5AE">
                <a:alpha val="9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21240" y="1828800"/>
            <a:ext cx="914400" cy="914400"/>
          </a:xfrm>
          <a:prstGeom prst="ellipse">
            <a:avLst/>
          </a:prstGeom>
          <a:solidFill>
            <a:srgbClr val="0FB5A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931920"/>
            <a:ext cx="502920" cy="50292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3931920"/>
            <a:ext cx="502920" cy="50292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0" y="3931920"/>
            <a:ext cx="502920" cy="5029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4008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CLUSTERING ANALYSIS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640080" y="1828800"/>
            <a:ext cx="6949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Activity Pattern</a:t>
            </a:r>
            <a:endParaRPr lang="en-US" sz="3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Discovery Using Smartphone</a:t>
            </a:r>
            <a:endParaRPr lang="en-US" sz="3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 Data</a:t>
            </a:r>
            <a:endParaRPr lang="en-US" sz="3800" dirty="0"/>
          </a:p>
        </p:txBody>
      </p:sp>
      <p:sp>
        <p:nvSpPr>
          <p:cNvPr id="11" name="Text 6"/>
          <p:cNvSpPr/>
          <p:nvPr/>
        </p:nvSpPr>
        <p:spPr>
          <a:xfrm>
            <a:off x="640080" y="416052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 on 561 inertial sensor features to recover human activity structure without labels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640080" y="5074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7A8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Compared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40080" y="5376672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Mixture Model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94960" cy="1325880"/>
          </a:xfrm>
          <a:prstGeom prst="rect">
            <a:avLst/>
          </a:prstGeom>
          <a:solidFill>
            <a:srgbClr val="F7F8FC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860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" y="24094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057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Dataset &amp; Problem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54480" y="244144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sensor data, the unsupervised reframing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09360" y="1874520"/>
            <a:ext cx="5394960" cy="1325880"/>
          </a:xfrm>
          <a:prstGeom prst="rect">
            <a:avLst/>
          </a:prstGeom>
          <a:solidFill>
            <a:srgbClr val="F7F8FC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22860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1404" y="240944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057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Data Quality &amp; EDA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223760" y="244144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checks, activity distribution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520440"/>
            <a:ext cx="5394960" cy="1325880"/>
          </a:xfrm>
          <a:prstGeom prst="rect">
            <a:avLst/>
          </a:prstGeom>
          <a:solidFill>
            <a:srgbClr val="F7F8FC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3931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124" y="405536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7033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 Preprocessing Pipeline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554480" y="408736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Scaling, PCA, feature importance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309360" y="3520440"/>
            <a:ext cx="5394960" cy="1325880"/>
          </a:xfrm>
          <a:prstGeom prst="rect">
            <a:avLst/>
          </a:prstGeom>
          <a:solidFill>
            <a:srgbClr val="F7F8FC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7960" y="3931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1404" y="405536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37033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 Choosing K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223760" y="408736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method &amp; silhouette analysis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40080" y="5166360"/>
            <a:ext cx="5394960" cy="1325880"/>
          </a:xfrm>
          <a:prstGeom prst="rect">
            <a:avLst/>
          </a:prstGeom>
          <a:solidFill>
            <a:srgbClr val="F7F8FC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68680" y="5577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24" y="570128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54480" y="53492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 Four Algorithms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1554480" y="57332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K-Means, Hierarchical, GMM, DBSCAN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309360" y="5166360"/>
            <a:ext cx="5394960" cy="1325880"/>
          </a:xfrm>
          <a:prstGeom prst="rect">
            <a:avLst/>
          </a:prstGeom>
          <a:solidFill>
            <a:srgbClr val="F7F8FC"/>
          </a:solidFill>
          <a:ln/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537960" y="5577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1404" y="5701284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223760" y="53492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 Comparison &amp; Verdict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7223760" y="57332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ranking, best performer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Activity Pattern Discovery — A Comparative Clustering Analysis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Labeled Activities to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Unsupervised Discovery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6126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 dataset was originally built for supervised classification — each reading is labeled with one of six activities. This project deliberately ignores those labels during clustering, asking a harder question: can unsupervised algorithms rediscover natural activity structure purely from accelerometer and gyroscope signals?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" y="39776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10,299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449884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readings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148840" y="39776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148840" y="449884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features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0" y="39776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57600" y="449884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 (volunteers)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166360" y="39776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166360" y="449884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activity classes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525780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UCI HAR Dataset — captured via waist-mounted smartphone accelerometer + gyroscope at 50Hz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178040" y="1280160"/>
            <a:ext cx="4370832" cy="4937760"/>
          </a:xfrm>
          <a:prstGeom prst="rect">
            <a:avLst/>
          </a:prstGeom>
          <a:solidFill>
            <a:srgbClr val="12173B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TARGET ACTIVITIES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98080" y="2057400"/>
            <a:ext cx="457200" cy="457200"/>
          </a:xfrm>
          <a:prstGeom prst="ellipse">
            <a:avLst/>
          </a:prstGeom>
          <a:solidFill>
            <a:srgbClr val="1B2156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6952" y="2167128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092440" y="21214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DE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498080" y="2715768"/>
            <a:ext cx="457200" cy="457200"/>
          </a:xfrm>
          <a:prstGeom prst="ellipse">
            <a:avLst/>
          </a:prstGeom>
          <a:solidFill>
            <a:srgbClr val="1B2156"/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6952" y="2825496"/>
            <a:ext cx="237744" cy="23774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8092440" y="277977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DE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Upstairs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7498080" y="3374136"/>
            <a:ext cx="457200" cy="457200"/>
          </a:xfrm>
          <a:prstGeom prst="ellipse">
            <a:avLst/>
          </a:prstGeom>
          <a:solidFill>
            <a:srgbClr val="1B2156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6952" y="3483864"/>
            <a:ext cx="237744" cy="23774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092440" y="34381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DE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Downstairs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7498080" y="4032504"/>
            <a:ext cx="457200" cy="457200"/>
          </a:xfrm>
          <a:prstGeom prst="ellipse">
            <a:avLst/>
          </a:prstGeom>
          <a:solidFill>
            <a:srgbClr val="1B2156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6952" y="4142232"/>
            <a:ext cx="237744" cy="23774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092440" y="40965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DE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Sitting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7498080" y="4690872"/>
            <a:ext cx="457200" cy="457200"/>
          </a:xfrm>
          <a:prstGeom prst="ellipse">
            <a:avLst/>
          </a:prstGeom>
          <a:solidFill>
            <a:srgbClr val="1B2156"/>
          </a:solidFill>
          <a:ln/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6952" y="4800600"/>
            <a:ext cx="237744" cy="23774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8092440" y="4754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DE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7498080" y="5349240"/>
            <a:ext cx="457200" cy="457200"/>
          </a:xfrm>
          <a:prstGeom prst="ellipse">
            <a:avLst/>
          </a:prstGeom>
          <a:solidFill>
            <a:srgbClr val="1B2156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6952" y="5458968"/>
            <a:ext cx="237744" cy="23774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092440" y="54132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DE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Laying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Activity Pattern Discovery — A Comparative Clustering Analysis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Assessment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clustering, the dataset structure was verified to confirm it's ready for unsupervised analysis — missing values and duplicates can distort distance-based algorithms.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5760720" cy="96012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697480"/>
            <a:ext cx="502920" cy="502920"/>
          </a:xfrm>
          <a:prstGeom prst="ellipse">
            <a:avLst/>
          </a:prstGeom>
          <a:solidFill>
            <a:srgbClr val="1E9E84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81635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5877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600200" y="294436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nulls across all 563 columns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0" y="246888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640080" y="3611880"/>
            <a:ext cx="5760720" cy="96012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12" name="Shape 9"/>
          <p:cNvSpPr/>
          <p:nvPr/>
        </p:nvSpPr>
        <p:spPr>
          <a:xfrm>
            <a:off x="868680" y="3840480"/>
            <a:ext cx="502920" cy="502920"/>
          </a:xfrm>
          <a:prstGeom prst="ellipse">
            <a:avLst/>
          </a:prstGeom>
          <a:solidFill>
            <a:srgbClr val="1E9E84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95935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00200" y="37307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Rows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600200" y="408736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 is unique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572000" y="361188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640080" y="4754880"/>
            <a:ext cx="5760720" cy="96012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4983480"/>
            <a:ext cx="502920" cy="502920"/>
          </a:xfrm>
          <a:prstGeom prst="ellipse">
            <a:avLst/>
          </a:prstGeom>
          <a:solidFill>
            <a:srgbClr val="1E9E84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5102352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00200" y="48737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+ Test Merged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600200" y="523036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7,352 train + 2,947 test rows combined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4572000" y="475488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10,299</a:t>
            </a:r>
            <a:endParaRPr lang="en-US" sz="2200" dirty="0"/>
          </a:p>
        </p:txBody>
      </p:sp>
      <p:pic>
        <p:nvPicPr>
          <p:cNvPr id="23" name="Image 3" descr="/home/claude/imgs/27_activity_distrib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2155562"/>
            <a:ext cx="5029200" cy="327839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178040" y="6172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distribution is well balanced — no class dominates, which keeps clustering bias low.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Activity Pattern Discovery — A Comparative Clustering Analysis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06040" cy="274320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9339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B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2606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" y="272948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2918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 Identifiers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3730752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'subject' &amp; 'Activity' columns to isolate the 561 sensor features (X)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200400" y="29718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474720" y="1828800"/>
            <a:ext cx="2606040" cy="274320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12" name="Text 9"/>
          <p:cNvSpPr/>
          <p:nvPr/>
        </p:nvSpPr>
        <p:spPr>
          <a:xfrm>
            <a:off x="3657600" y="199339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B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3657600" y="2606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1044" y="2729484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57600" y="32918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Standardize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657600" y="3730752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applied — zero mean, unit variance across all features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035040" y="29718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6309360" y="1828800"/>
            <a:ext cx="2606040" cy="274320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19" name="Text 15"/>
          <p:cNvSpPr/>
          <p:nvPr/>
        </p:nvSpPr>
        <p:spPr>
          <a:xfrm>
            <a:off x="6492240" y="199339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B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Shape 16"/>
          <p:cNvSpPr/>
          <p:nvPr/>
        </p:nvSpPr>
        <p:spPr>
          <a:xfrm>
            <a:off x="6492240" y="2606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684" y="2729484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92240" y="32918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 with PCA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492240" y="3730752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onto principal components that retain 95% of variance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8869680" y="29718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0"/>
          <p:cNvSpPr/>
          <p:nvPr/>
        </p:nvSpPr>
        <p:spPr>
          <a:xfrm>
            <a:off x="9144000" y="1828800"/>
            <a:ext cx="2606040" cy="274320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26" name="Text 21"/>
          <p:cNvSpPr/>
          <p:nvPr/>
        </p:nvSpPr>
        <p:spPr>
          <a:xfrm>
            <a:off x="9326880" y="199339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B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7" name="Shape 22"/>
          <p:cNvSpPr/>
          <p:nvPr/>
        </p:nvSpPr>
        <p:spPr>
          <a:xfrm>
            <a:off x="9326880" y="2606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0324" y="2729484"/>
            <a:ext cx="256032" cy="25603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326880" y="32918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 Features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9326880" y="3730752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importance highlights the most discriminative sensors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640080" y="4892040"/>
            <a:ext cx="10881360" cy="1417320"/>
          </a:xfrm>
          <a:prstGeom prst="rect">
            <a:avLst/>
          </a:prstGeom>
          <a:solidFill>
            <a:srgbClr val="12173B"/>
          </a:solidFill>
          <a:ln/>
        </p:spPr>
      </p:sp>
      <p:sp>
        <p:nvSpPr>
          <p:cNvPr id="32" name="Text 26"/>
          <p:cNvSpPr/>
          <p:nvPr/>
        </p:nvSpPr>
        <p:spPr>
          <a:xfrm>
            <a:off x="914400" y="50749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B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561 → 104</a:t>
            </a:r>
            <a:endParaRPr lang="en-US" sz="1900" dirty="0"/>
          </a:p>
        </p:txBody>
      </p:sp>
      <p:sp>
        <p:nvSpPr>
          <p:cNvPr id="33" name="Text 27"/>
          <p:cNvSpPr/>
          <p:nvPr/>
        </p:nvSpPr>
        <p:spPr>
          <a:xfrm>
            <a:off x="914400" y="559612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after PCA (95% variance retained)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4526280" y="50749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B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82%</a:t>
            </a:r>
            <a:endParaRPr lang="en-US" sz="1900" dirty="0"/>
          </a:p>
        </p:txBody>
      </p:sp>
      <p:sp>
        <p:nvSpPr>
          <p:cNvPr id="35" name="Text 29"/>
          <p:cNvSpPr/>
          <p:nvPr/>
        </p:nvSpPr>
        <p:spPr>
          <a:xfrm>
            <a:off x="4526280" y="559612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 achieved</a:t>
            </a:r>
            <a:endParaRPr lang="en-US" sz="1050" dirty="0"/>
          </a:p>
        </p:txBody>
      </p:sp>
      <p:sp>
        <p:nvSpPr>
          <p:cNvPr id="36" name="Text 30"/>
          <p:cNvSpPr/>
          <p:nvPr/>
        </p:nvSpPr>
        <p:spPr>
          <a:xfrm>
            <a:off x="8138160" y="50749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B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StandardScaler</a:t>
            </a:r>
            <a:endParaRPr lang="en-US" sz="1900" dirty="0"/>
          </a:p>
        </p:txBody>
      </p:sp>
      <p:sp>
        <p:nvSpPr>
          <p:cNvPr id="37" name="Text 31"/>
          <p:cNvSpPr/>
          <p:nvPr/>
        </p:nvSpPr>
        <p:spPr>
          <a:xfrm>
            <a:off x="8138160" y="559612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mean, unit variance normalization</a:t>
            </a:r>
            <a:endParaRPr lang="en-US" sz="1050" dirty="0"/>
          </a:p>
        </p:txBody>
      </p:sp>
      <p:sp>
        <p:nvSpPr>
          <p:cNvPr id="38" name="Text 3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Activity Pattern Discovery — A Comparative Clustering Analysis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PCA: Compressing 561 Features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Losing the Signal</a:t>
            </a:r>
            <a:endParaRPr lang="en-US" sz="2600" dirty="0"/>
          </a:p>
        </p:txBody>
      </p:sp>
      <p:pic>
        <p:nvPicPr>
          <p:cNvPr id="4" name="Image 0" descr="/home/claude/imgs/30_pca_cumulative_vari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88879"/>
            <a:ext cx="5212080" cy="35032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8064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explained variance — the red line marks the 95% threshold</a:t>
            </a:r>
            <a:endParaRPr lang="en-US" sz="1050" dirty="0"/>
          </a:p>
        </p:txBody>
      </p:sp>
      <p:pic>
        <p:nvPicPr>
          <p:cNvPr id="6" name="Image 1" descr="/home/claude/imgs/32_pca_projection_true_labe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7072" y="2011680"/>
            <a:ext cx="4108096" cy="3657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55080" y="58064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2 principal components, colored by true activity — natural groupings are already visible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Activity Pattern Discovery — A Comparative Clustering Analysis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INSIGHT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Sensor Signals Matter Most?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Forest classifier (trained only to rank features, not for prediction) surfaces the top contributors. Gravity-axis acceleration dominates — it directly encodes phone orientation, which is highly diagnostic of posture (sitting vs. standing vs. laying) and motion.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3337560"/>
            <a:ext cx="5120640" cy="713232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337560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B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333756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tGravityAcc-mean()-X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26280" y="3337560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3.71%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4187952"/>
            <a:ext cx="5120640" cy="713232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187952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B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4187952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tGravityAcc-max()-X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26280" y="4187952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3.29%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5038344"/>
            <a:ext cx="5120640" cy="713232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5038344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B5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5038344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angle(X, gravityMean)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26280" y="5038344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3.18%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58978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50 ranked features were carried forward as a curated feature subset for downstream checks.</a:t>
            </a:r>
            <a:endParaRPr lang="en-US" sz="1000" dirty="0"/>
          </a:p>
        </p:txBody>
      </p:sp>
      <p:pic>
        <p:nvPicPr>
          <p:cNvPr id="18" name="Image 0" descr="/home/claude/imgs/35_top20_featu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158356"/>
            <a:ext cx="5486400" cy="363856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Activity Pattern Discovery — A Comparative Clustering Analysis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Right Number of Clusters</a:t>
            </a:r>
            <a:endParaRPr lang="en-US" sz="3000" dirty="0"/>
          </a:p>
        </p:txBody>
      </p:sp>
      <p:pic>
        <p:nvPicPr>
          <p:cNvPr id="4" name="Image 0" descr="/home/claude/imgs/38_elbow_meth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30760"/>
            <a:ext cx="5212080" cy="3545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6692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Method — inertia flattens around K = 3</a:t>
            </a:r>
            <a:endParaRPr lang="en-US" sz="1100" dirty="0"/>
          </a:p>
        </p:txBody>
      </p:sp>
      <p:pic>
        <p:nvPicPr>
          <p:cNvPr id="6" name="Image 1" descr="/home/claude/imgs/40_silhouette_analys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951047"/>
            <a:ext cx="5212080" cy="350454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55080" y="56692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Analysis — score peaks at K = 2, second-best at K = 3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640080" y="6080760"/>
            <a:ext cx="10927080" cy="457200"/>
          </a:xfrm>
          <a:prstGeom prst="rect">
            <a:avLst/>
          </a:prstGeom>
          <a:solidFill>
            <a:srgbClr val="E3F7F5"/>
          </a:solidFill>
          <a:ln/>
        </p:spPr>
      </p:sp>
      <p:sp>
        <p:nvSpPr>
          <p:cNvPr id="9" name="Text 5"/>
          <p:cNvSpPr/>
          <p:nvPr/>
        </p:nvSpPr>
        <p:spPr>
          <a:xfrm>
            <a:off x="822960" y="60807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K = 3 chosen — balances strong separation with capturing more than a trivial 2-group split (static vs. dynamic).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Activity Pattern Discovery — A Comparative Clustering Analysis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7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Clustering Algorithms,</a:t>
            </a:r>
            <a:endParaRPr lang="en-US" sz="3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Dataset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algorithm makes different assumptions about cluster shape, density, and boundaries. Running all four on the same PCA-reduced space reveals which assumptions actually fit human activity signals.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3520440"/>
            <a:ext cx="2606040" cy="2377440"/>
          </a:xfrm>
          <a:prstGeom prst="rect">
            <a:avLst/>
          </a:prstGeom>
          <a:solidFill>
            <a:srgbClr val="1B2156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3794760"/>
            <a:ext cx="548640" cy="548640"/>
          </a:xfrm>
          <a:prstGeom prst="ellipse">
            <a:avLst/>
          </a:prstGeom>
          <a:solidFill>
            <a:srgbClr val="0FB5AE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3922776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4526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49377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Centroid-based, assumes spherical clusters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29000" y="3520440"/>
            <a:ext cx="2606040" cy="2377440"/>
          </a:xfrm>
          <a:prstGeom prst="rect">
            <a:avLst/>
          </a:prstGeom>
          <a:solidFill>
            <a:srgbClr val="1B2156"/>
          </a:solidFill>
          <a:ln/>
        </p:spPr>
      </p:sp>
      <p:sp>
        <p:nvSpPr>
          <p:cNvPr id="11" name="Shape 8"/>
          <p:cNvSpPr/>
          <p:nvPr/>
        </p:nvSpPr>
        <p:spPr>
          <a:xfrm>
            <a:off x="3657600" y="3794760"/>
            <a:ext cx="548640" cy="548640"/>
          </a:xfrm>
          <a:prstGeom prst="ellipse">
            <a:avLst/>
          </a:prstGeom>
          <a:solidFill>
            <a:srgbClr val="0FB5AE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6" y="3922776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57600" y="4526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Hierarchical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57600" y="49377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tree via agglomerative merging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217920" y="3520440"/>
            <a:ext cx="2606040" cy="2377440"/>
          </a:xfrm>
          <a:prstGeom prst="rect">
            <a:avLst/>
          </a:prstGeom>
          <a:solidFill>
            <a:srgbClr val="1B2156"/>
          </a:solidFill>
          <a:ln/>
        </p:spPr>
      </p:sp>
      <p:sp>
        <p:nvSpPr>
          <p:cNvPr id="16" name="Shape 12"/>
          <p:cNvSpPr/>
          <p:nvPr/>
        </p:nvSpPr>
        <p:spPr>
          <a:xfrm>
            <a:off x="6446520" y="3794760"/>
            <a:ext cx="548640" cy="548640"/>
          </a:xfrm>
          <a:prstGeom prst="ellipse">
            <a:avLst/>
          </a:prstGeom>
          <a:solidFill>
            <a:srgbClr val="0FB5AE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4536" y="3922776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46520" y="4526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GMM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46520" y="49377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Probabilistic, soft elliptical clusters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9006840" y="3520440"/>
            <a:ext cx="2606040" cy="2377440"/>
          </a:xfrm>
          <a:prstGeom prst="rect">
            <a:avLst/>
          </a:prstGeom>
          <a:solidFill>
            <a:srgbClr val="1B2156"/>
          </a:solidFill>
          <a:ln/>
        </p:spPr>
      </p:sp>
      <p:sp>
        <p:nvSpPr>
          <p:cNvPr id="21" name="Shape 16"/>
          <p:cNvSpPr/>
          <p:nvPr/>
        </p:nvSpPr>
        <p:spPr>
          <a:xfrm>
            <a:off x="9235440" y="3794760"/>
            <a:ext cx="548640" cy="548640"/>
          </a:xfrm>
          <a:prstGeom prst="ellipse">
            <a:avLst/>
          </a:prstGeom>
          <a:solidFill>
            <a:srgbClr val="0FB5AE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3456" y="3922776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35440" y="4526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DBSCAN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35440" y="49377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Density-based, finds arbitrary shapes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1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Clustering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5029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5544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Partitions data into K=3 clusters by minimizing within-cluster variance around centroids — run on the PCA-reduced feature space.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0080" y="2743200"/>
            <a:ext cx="5120640" cy="868680"/>
          </a:xfrm>
          <a:prstGeom prst="rect">
            <a:avLst/>
          </a:prstGeom>
          <a:solidFill>
            <a:srgbClr val="E3F7F5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22960" y="3200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of all 4 algorithms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611880" y="274320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0.4239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640080" y="3749040"/>
            <a:ext cx="5120640" cy="868680"/>
          </a:xfrm>
          <a:prstGeom prst="rect">
            <a:avLst/>
          </a:prstGeom>
          <a:solidFill>
            <a:srgbClr val="E3F7F5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3840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Calinski-Harabasz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22960" y="4206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of all 4 algorithms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611880" y="374904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9,268.6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640080" y="4754880"/>
            <a:ext cx="5120640" cy="868680"/>
          </a:xfrm>
          <a:prstGeom prst="rect">
            <a:avLst/>
          </a:prstGeom>
          <a:solidFill>
            <a:srgbClr val="E3F7F5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4846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Davies-Bouldin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822960" y="5212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(best) of all 4 algorithms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611880" y="475488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1.2948</a:t>
            </a:r>
            <a:endParaRPr lang="en-US" sz="1900" dirty="0"/>
          </a:p>
        </p:txBody>
      </p:sp>
      <p:pic>
        <p:nvPicPr>
          <p:cNvPr id="18" name="Image 1" descr="/home/claude/imgs/44_kmeans_clust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133664"/>
            <a:ext cx="5486400" cy="36422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Activity Pattern Discovery — A Comparative Clustering Analysis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2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Hierarchical (Agglomerative) Clustering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5029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554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Ward-linkage clustering builds a tree of merges from the bottom up. Since the full dataset (10,299 rows) is too large for an efficient distance matrix, a random sample of 3,000 rows was used for the dendrogram.</a:t>
            </a:r>
            <a:endParaRPr lang="en-US" sz="1250" dirty="0"/>
          </a:p>
        </p:txBody>
      </p:sp>
      <p:pic>
        <p:nvPicPr>
          <p:cNvPr id="6" name="Image 1" descr="/home/claude/imgs/48_dendro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211" y="2377440"/>
            <a:ext cx="6782937" cy="3657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6080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Dendrogram (Ward linkage, truncated to 5 levels) — branch heights show merge distance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8229600" y="2468880"/>
            <a:ext cx="3337560" cy="77724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9" name="Text 5"/>
          <p:cNvSpPr/>
          <p:nvPr/>
        </p:nvSpPr>
        <p:spPr>
          <a:xfrm>
            <a:off x="8412480" y="24688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0058400" y="24688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0.2932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8229600" y="3383280"/>
            <a:ext cx="3337560" cy="77724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12" name="Text 8"/>
          <p:cNvSpPr/>
          <p:nvPr/>
        </p:nvSpPr>
        <p:spPr>
          <a:xfrm>
            <a:off x="8412480" y="33832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Calinski-Harabasz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0058400" y="33832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1,556.1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8229600" y="4297680"/>
            <a:ext cx="3337560" cy="77724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15" name="Text 11"/>
          <p:cNvSpPr/>
          <p:nvPr/>
        </p:nvSpPr>
        <p:spPr>
          <a:xfrm>
            <a:off x="8412480" y="42976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Davies-Bouldin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10058400" y="42976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1.8429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Activity Pattern Discovery — A Comparative Clustering Analysis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3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Gaussian Mixture Model (GMM)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5029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5544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data as a mixture of 3 Gaussian distributions, assigning soft (probabilistic) cluster membership rather than hard boundaries.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0080" y="2743200"/>
            <a:ext cx="5120640" cy="77724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27432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91840" y="27432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0.3021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40080" y="3657600"/>
            <a:ext cx="5120640" cy="77724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36576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Calinski-Harabasz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91840" y="36576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7,307.9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40080" y="4572000"/>
            <a:ext cx="5120640" cy="77724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45720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Davies-Bouldin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291840" y="45720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1.5225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40080" y="55778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Second-best overall — strong Calinski-Harabasz score, but softer boundaries blur some activity transitions.</a:t>
            </a:r>
            <a:endParaRPr lang="en-US" sz="1100" dirty="0"/>
          </a:p>
        </p:txBody>
      </p:sp>
      <p:pic>
        <p:nvPicPr>
          <p:cNvPr id="16" name="Image 1" descr="/home/claude/imgs/52_gmm_clust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135193"/>
            <a:ext cx="5486400" cy="363917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Activity Pattern Discovery — A Comparative Clustering Analysis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4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DBSCAN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5029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55448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Density-based clustering that groups points by neighborhood density (eps=3, min_samples=10) and labels sparse points as noise — no need to pre-specify K.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0080" y="2834640"/>
            <a:ext cx="5120640" cy="777240"/>
          </a:xfrm>
          <a:prstGeom prst="rect">
            <a:avLst/>
          </a:prstGeom>
          <a:solidFill>
            <a:srgbClr val="FBEAEA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28346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91840" y="28346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B23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-0.2224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40080" y="3749040"/>
            <a:ext cx="5120640" cy="777240"/>
          </a:xfrm>
          <a:prstGeom prst="rect">
            <a:avLst/>
          </a:prstGeom>
          <a:solidFill>
            <a:srgbClr val="FBEAEA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37490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Calinski-Harabasz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91840" y="37490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B23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55.9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40080" y="4663440"/>
            <a:ext cx="5120640" cy="777240"/>
          </a:xfrm>
          <a:prstGeom prst="rect">
            <a:avLst/>
          </a:prstGeom>
          <a:solidFill>
            <a:srgbClr val="FBEAEA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46634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Davies-Bouldin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291840" y="46634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B23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1.8039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40080" y="562356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high-dimensional PCA space, density is too uniform — DBSCAN collapses almost everything into a single cluster, producing weak, negative-leaning metrics.</a:t>
            </a:r>
            <a:endParaRPr lang="en-US" sz="1100" dirty="0"/>
          </a:p>
        </p:txBody>
      </p:sp>
      <p:pic>
        <p:nvPicPr>
          <p:cNvPr id="16" name="Image 1" descr="/home/claude/imgs/56_dbscan_clust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718520"/>
            <a:ext cx="5486400" cy="44725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Activity Pattern Discovery — A Comparative Clustering Analysis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Head-to-Head Comparison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23774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Silhouette 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Calinski-Harabasz 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Davies-Bouldin 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Rank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9,268.59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1.2948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7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7,307.91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1.5225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Hierarchical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1,556.11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1.8429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A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DBSCAN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A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-0.2224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A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A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1.8039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A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2062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= sum of per-metric ranks (Silhouette desc + Calinski-Harabasz desc + Davies-Bouldin asc) — lower combined rank is better.</a:t>
            </a:r>
            <a:endParaRPr lang="en-US" sz="1000" dirty="0"/>
          </a:p>
        </p:txBody>
      </p:sp>
      <p:pic>
        <p:nvPicPr>
          <p:cNvPr id="6" name="Image 0" descr="/home/claude/imgs/62_silhouette_comparison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709160"/>
            <a:ext cx="2948473" cy="1828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355080" y="4709160"/>
            <a:ext cx="5166360" cy="1874520"/>
          </a:xfrm>
          <a:prstGeom prst="rect">
            <a:avLst/>
          </a:prstGeom>
          <a:solidFill>
            <a:srgbClr val="12173B"/>
          </a:solidFill>
          <a:ln/>
        </p:spPr>
      </p:sp>
      <p:sp>
        <p:nvSpPr>
          <p:cNvPr id="8" name="Text 4"/>
          <p:cNvSpPr/>
          <p:nvPr/>
        </p:nvSpPr>
        <p:spPr>
          <a:xfrm>
            <a:off x="6583680" y="4864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METRICS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6583680" y="5166360"/>
            <a:ext cx="4754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3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Silhouette: higher (→1) = better-separated clusters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3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Calinski-Harabasz: higher = more compact &amp; separated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3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Davies-Bouldin: lower (→0) = better separation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Activity Pattern Discovery — A Comparative Clustering Analysis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(CONT.)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 Every Metric Side by Side</a:t>
            </a:r>
            <a:endParaRPr lang="en-US" sz="3000" dirty="0"/>
          </a:p>
        </p:txBody>
      </p:sp>
      <p:pic>
        <p:nvPicPr>
          <p:cNvPr id="4" name="Image 0" descr="/home/claude/imgs/65_rank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8600" y="1508760"/>
            <a:ext cx="8644321" cy="4297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9893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Per-metric rank (1 = best) for each algorithm — K-Means stays near the top across every dimension, while DBSCAN trails consistently.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Activity Pattern Discovery — A Comparative Clustering Analysis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17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77724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6304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VERDICT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14173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Wins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23317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three evaluation metrics, K-Means delivered the most balanced, well-separated clustering of human activities from raw sensor signals.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3419856"/>
            <a:ext cx="201168" cy="201168"/>
          </a:xfrm>
          <a:prstGeom prst="ellipse">
            <a:avLst/>
          </a:prstGeom>
          <a:solidFill>
            <a:srgbClr val="0FB5AE"/>
          </a:solidFill>
          <a:ln/>
        </p:spPr>
      </p:sp>
      <p:sp>
        <p:nvSpPr>
          <p:cNvPr id="7" name="Text 4"/>
          <p:cNvSpPr/>
          <p:nvPr/>
        </p:nvSpPr>
        <p:spPr>
          <a:xfrm>
            <a:off x="1051560" y="331012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DE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Silhouette Score (0.4239) — clusters are well-separated and internally tight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3986784"/>
            <a:ext cx="201168" cy="201168"/>
          </a:xfrm>
          <a:prstGeom prst="ellipse">
            <a:avLst/>
          </a:prstGeom>
          <a:solidFill>
            <a:srgbClr val="0FB5AE"/>
          </a:solidFill>
          <a:ln/>
        </p:spPr>
      </p:sp>
      <p:sp>
        <p:nvSpPr>
          <p:cNvPr id="9" name="Text 6"/>
          <p:cNvSpPr/>
          <p:nvPr/>
        </p:nvSpPr>
        <p:spPr>
          <a:xfrm>
            <a:off x="1051560" y="3877056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DE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Calinski-Harabasz Index (9,268.6) — strong between-cluster vs. within-cluster variance ratio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4553712"/>
            <a:ext cx="201168" cy="201168"/>
          </a:xfrm>
          <a:prstGeom prst="ellipse">
            <a:avLst/>
          </a:prstGeom>
          <a:solidFill>
            <a:srgbClr val="0FB5AE"/>
          </a:solidFill>
          <a:ln/>
        </p:spPr>
      </p:sp>
      <p:sp>
        <p:nvSpPr>
          <p:cNvPr id="11" name="Text 8"/>
          <p:cNvSpPr/>
          <p:nvPr/>
        </p:nvSpPr>
        <p:spPr>
          <a:xfrm>
            <a:off x="1051560" y="4443984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DE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Davies-Bouldin Index (1.2948) — minimal cluster overlap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" y="5120640"/>
            <a:ext cx="201168" cy="201168"/>
          </a:xfrm>
          <a:prstGeom prst="ellipse">
            <a:avLst/>
          </a:prstGeom>
          <a:solidFill>
            <a:srgbClr val="0FB5AE"/>
          </a:solidFill>
          <a:ln/>
        </p:spPr>
      </p:sp>
      <p:sp>
        <p:nvSpPr>
          <p:cNvPr id="13" name="Text 10"/>
          <p:cNvSpPr/>
          <p:nvPr/>
        </p:nvSpPr>
        <p:spPr>
          <a:xfrm>
            <a:off x="1051560" y="5010912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DE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signals form roughly spherical, evenly-sized groups in PCA space — exactly what K-Means assumes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046720" y="1463040"/>
            <a:ext cx="3520440" cy="4480560"/>
          </a:xfrm>
          <a:prstGeom prst="rect">
            <a:avLst/>
          </a:prstGeom>
          <a:solidFill>
            <a:srgbClr val="1B2156"/>
          </a:solidFill>
          <a:ln/>
        </p:spPr>
      </p:sp>
      <p:sp>
        <p:nvSpPr>
          <p:cNvPr id="15" name="Text 12"/>
          <p:cNvSpPr/>
          <p:nvPr/>
        </p:nvSpPr>
        <p:spPr>
          <a:xfrm>
            <a:off x="8275320" y="1737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ALGORITHM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275320" y="20574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</a:t>
            </a:r>
            <a:endParaRPr lang="en-US" sz="2800" dirty="0"/>
          </a:p>
        </p:txBody>
      </p:sp>
      <p:sp>
        <p:nvSpPr>
          <p:cNvPr id="17" name="Shape 14"/>
          <p:cNvSpPr/>
          <p:nvPr/>
        </p:nvSpPr>
        <p:spPr>
          <a:xfrm>
            <a:off x="8275320" y="2788920"/>
            <a:ext cx="3017520" cy="0"/>
          </a:xfrm>
          <a:prstGeom prst="line">
            <a:avLst/>
          </a:prstGeom>
          <a:noFill/>
          <a:ln w="12700">
            <a:solidFill>
              <a:srgbClr val="3A408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7532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n_clusters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058400" y="3017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27532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058400" y="3474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0.4239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7532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Calinski-Harabasz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0058400" y="3931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9,268.6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275320" y="4389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Davies-Bouldin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0058400" y="4389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1.2948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275320" y="4846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rank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0058400" y="4846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 of 4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Activity Pattern Discovery — A Comparative Clustering Analysis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94960" cy="182880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574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218541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11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drives results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60120" y="26974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 + PCA (561 → 104 features) was essential before any algorithm could separate activities cleanly.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309360" y="1783080"/>
            <a:ext cx="5394960" cy="182880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0" y="20574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1696" y="218541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011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 geometry matters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629400" y="26974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signals cluster into roughly spherical, evenly-distributed groups — favoring centroid-based methods like K-Means.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3931920"/>
            <a:ext cx="5394960" cy="182880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15" name="Shape 11"/>
          <p:cNvSpPr/>
          <p:nvPr/>
        </p:nvSpPr>
        <p:spPr>
          <a:xfrm>
            <a:off x="914400" y="42062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416" y="4334256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160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Density methods underperform here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960120" y="48463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struggled because high-dimensional PCA space lacks the sharp density contrast it needs.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309360" y="3931920"/>
            <a:ext cx="5394960" cy="182880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20" name="Shape 15"/>
          <p:cNvSpPr/>
          <p:nvPr/>
        </p:nvSpPr>
        <p:spPr>
          <a:xfrm>
            <a:off x="6583680" y="42062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1696" y="4334256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160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Multi-metric evaluation is essential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629400" y="48463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metric tells the full story — combining Silhouette, Calinski-Harabasz, and Davies-Bouldin gave a robust, balanced verdict.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Activity Pattern Discovery — A Comparative Clustering Analysis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17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371600"/>
            <a:ext cx="4114800" cy="4114800"/>
          </a:xfrm>
          <a:prstGeom prst="ellipse">
            <a:avLst/>
          </a:prstGeom>
          <a:ln w="19050">
            <a:solidFill>
              <a:srgbClr val="0FB5AE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572000"/>
            <a:ext cx="3657600" cy="3657600"/>
          </a:xfrm>
          <a:prstGeom prst="ellipse">
            <a:avLst/>
          </a:prstGeom>
          <a:ln w="19050">
            <a:solidFill>
              <a:srgbClr val="0FB5AE">
                <a:alpha val="5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2468880"/>
            <a:ext cx="121916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371600" y="3520440"/>
            <a:ext cx="9448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B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Activity Pattern Discovery Using Smartphone Sensor Data — A Comparative Clustering Analysis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0" y="42976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1360</Words>
  <Application>Microsoft Office PowerPoint</Application>
  <PresentationFormat>Widescreen</PresentationFormat>
  <Paragraphs>272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 Activity Pattern Discovery Using Smartphone Sensor Data</dc:title>
  <dc:subject>PptxGenJS Presentation</dc:subject>
  <dc:creator>Student Project</dc:creator>
  <cp:lastModifiedBy>Devuni Sathish</cp:lastModifiedBy>
  <cp:revision>2</cp:revision>
  <dcterms:created xsi:type="dcterms:W3CDTF">2026-06-20T17:58:54Z</dcterms:created>
  <dcterms:modified xsi:type="dcterms:W3CDTF">2026-06-20T18:06:03Z</dcterms:modified>
</cp:coreProperties>
</file>