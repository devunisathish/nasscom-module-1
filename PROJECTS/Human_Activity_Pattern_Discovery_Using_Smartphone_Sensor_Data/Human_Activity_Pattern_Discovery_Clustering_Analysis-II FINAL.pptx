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4" r:id="rId4"/>
    <p:sldId id="259" r:id="rId5"/>
    <p:sldId id="260" r:id="rId6"/>
    <p:sldId id="275" r:id="rId7"/>
    <p:sldId id="262" r:id="rId8"/>
    <p:sldId id="276" r:id="rId9"/>
    <p:sldId id="277" r:id="rId10"/>
    <p:sldId id="264" r:id="rId11"/>
    <p:sldId id="265" r:id="rId12"/>
    <p:sldId id="278" r:id="rId13"/>
    <p:sldId id="266" r:id="rId14"/>
    <p:sldId id="267" r:id="rId15"/>
    <p:sldId id="268" r:id="rId16"/>
    <p:sldId id="269" r:id="rId17"/>
    <p:sldId id="279" r:id="rId18"/>
    <p:sldId id="270" r:id="rId19"/>
    <p:sldId id="281" r:id="rId20"/>
    <p:sldId id="280" r:id="rId21"/>
    <p:sldId id="271" r:id="rId22"/>
    <p:sldId id="272" r:id="rId23"/>
    <p:sldId id="273" r:id="rId24"/>
    <p:sldId id="283"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4455"/>
    <a:srgbClr val="1B2A3D"/>
    <a:srgbClr val="1A1F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39" autoAdjust="0"/>
    <p:restoredTop sz="94610"/>
  </p:normalViewPr>
  <p:slideViewPr>
    <p:cSldViewPr snapToGrid="0" snapToObjects="1">
      <p:cViewPr>
        <p:scale>
          <a:sx n="59" d="100"/>
          <a:sy n="59" d="100"/>
        </p:scale>
        <p:origin x="11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0826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CB50-C69A-94A8-86C0-A64C577AE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B0289-1064-87ED-FC54-09535A8CC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017323-85F7-1D4E-819A-E26A896614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FE7707-3290-4F95-6882-AF1F3DBD157C}"/>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555300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14.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3B"/>
        </a:solidFill>
        <a:effectLst/>
      </p:bgPr>
    </p:bg>
    <p:spTree>
      <p:nvGrpSpPr>
        <p:cNvPr id="1" name=""/>
        <p:cNvGrpSpPr/>
        <p:nvPr/>
      </p:nvGrpSpPr>
      <p:grpSpPr>
        <a:xfrm>
          <a:off x="0" y="0"/>
          <a:ext cx="0" cy="0"/>
          <a:chOff x="0" y="0"/>
          <a:chExt cx="0" cy="0"/>
        </a:xfrm>
      </p:grpSpPr>
      <p:sp>
        <p:nvSpPr>
          <p:cNvPr id="2" name="Shape 0"/>
          <p:cNvSpPr/>
          <p:nvPr/>
        </p:nvSpPr>
        <p:spPr>
          <a:xfrm>
            <a:off x="7604607" y="0"/>
            <a:ext cx="4647895" cy="6858000"/>
          </a:xfrm>
          <a:prstGeom prst="rect">
            <a:avLst/>
          </a:prstGeom>
          <a:solidFill>
            <a:srgbClr val="1B2156"/>
          </a:solidFill>
          <a:ln/>
        </p:spPr>
        <p:txBody>
          <a:bodyPr/>
          <a:lstStyle/>
          <a:p>
            <a:endParaRPr lang="en-IN" dirty="0"/>
          </a:p>
        </p:txBody>
      </p:sp>
      <p:sp>
        <p:nvSpPr>
          <p:cNvPr id="3" name="Shape 1"/>
          <p:cNvSpPr/>
          <p:nvPr/>
        </p:nvSpPr>
        <p:spPr>
          <a:xfrm>
            <a:off x="9006840" y="914400"/>
            <a:ext cx="2743200" cy="2743200"/>
          </a:xfrm>
          <a:prstGeom prst="ellipse">
            <a:avLst/>
          </a:prstGeom>
          <a:ln w="19050">
            <a:solidFill>
              <a:srgbClr val="0FB5AE">
                <a:alpha val="70000"/>
              </a:srgbClr>
            </a:solidFill>
            <a:prstDash val="solid"/>
          </a:ln>
        </p:spPr>
      </p:sp>
      <p:sp>
        <p:nvSpPr>
          <p:cNvPr id="4" name="Shape 2"/>
          <p:cNvSpPr/>
          <p:nvPr/>
        </p:nvSpPr>
        <p:spPr>
          <a:xfrm>
            <a:off x="9509760" y="1417320"/>
            <a:ext cx="1737360" cy="1737360"/>
          </a:xfrm>
          <a:prstGeom prst="ellipse">
            <a:avLst/>
          </a:prstGeom>
          <a:ln w="19050">
            <a:solidFill>
              <a:srgbClr val="0FB5AE">
                <a:alpha val="90000"/>
              </a:srgbClr>
            </a:solidFill>
            <a:prstDash val="solid"/>
          </a:ln>
        </p:spPr>
      </p:sp>
      <p:sp>
        <p:nvSpPr>
          <p:cNvPr id="5" name="Shape 3"/>
          <p:cNvSpPr/>
          <p:nvPr/>
        </p:nvSpPr>
        <p:spPr>
          <a:xfrm>
            <a:off x="9921240" y="1828800"/>
            <a:ext cx="914400" cy="914400"/>
          </a:xfrm>
          <a:prstGeom prst="ellipse">
            <a:avLst/>
          </a:prstGeom>
          <a:solidFill>
            <a:srgbClr val="0FB5AE"/>
          </a:solidFill>
          <a:ln/>
        </p:spPr>
      </p:sp>
      <p:pic>
        <p:nvPicPr>
          <p:cNvPr id="6" name="Image 0" descr="preencoded.png"/>
          <p:cNvPicPr>
            <a:picLocks noChangeAspect="1"/>
          </p:cNvPicPr>
          <p:nvPr/>
        </p:nvPicPr>
        <p:blipFill>
          <a:blip r:embed="rId3"/>
          <a:stretch>
            <a:fillRect/>
          </a:stretch>
        </p:blipFill>
        <p:spPr>
          <a:xfrm>
            <a:off x="9253220" y="165100"/>
            <a:ext cx="502920" cy="502920"/>
          </a:xfrm>
          <a:prstGeom prst="rect">
            <a:avLst/>
          </a:prstGeom>
        </p:spPr>
      </p:pic>
      <p:pic>
        <p:nvPicPr>
          <p:cNvPr id="7" name="Image 1" descr="preencoded.png"/>
          <p:cNvPicPr>
            <a:picLocks noChangeAspect="1"/>
          </p:cNvPicPr>
          <p:nvPr/>
        </p:nvPicPr>
        <p:blipFill>
          <a:blip r:embed="rId4"/>
          <a:stretch>
            <a:fillRect/>
          </a:stretch>
        </p:blipFill>
        <p:spPr>
          <a:xfrm>
            <a:off x="10076180" y="182880"/>
            <a:ext cx="502920" cy="502920"/>
          </a:xfrm>
          <a:prstGeom prst="rect">
            <a:avLst/>
          </a:prstGeom>
        </p:spPr>
      </p:pic>
      <p:pic>
        <p:nvPicPr>
          <p:cNvPr id="8" name="Image 2" descr="preencoded.png"/>
          <p:cNvPicPr>
            <a:picLocks noChangeAspect="1"/>
          </p:cNvPicPr>
          <p:nvPr/>
        </p:nvPicPr>
        <p:blipFill>
          <a:blip r:embed="rId5"/>
          <a:stretch>
            <a:fillRect/>
          </a:stretch>
        </p:blipFill>
        <p:spPr>
          <a:xfrm>
            <a:off x="10835640" y="160020"/>
            <a:ext cx="502920" cy="502920"/>
          </a:xfrm>
          <a:prstGeom prst="rect">
            <a:avLst/>
          </a:prstGeom>
        </p:spPr>
      </p:pic>
      <p:sp>
        <p:nvSpPr>
          <p:cNvPr id="9" name="Text 4"/>
          <p:cNvSpPr/>
          <p:nvPr/>
        </p:nvSpPr>
        <p:spPr>
          <a:xfrm>
            <a:off x="640080" y="98298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COMPARATIVE CLUSTERING ANALYSIS</a:t>
            </a:r>
            <a:endParaRPr lang="en-US" sz="1200" dirty="0"/>
          </a:p>
        </p:txBody>
      </p:sp>
      <p:sp>
        <p:nvSpPr>
          <p:cNvPr id="10" name="Text 5"/>
          <p:cNvSpPr/>
          <p:nvPr/>
        </p:nvSpPr>
        <p:spPr>
          <a:xfrm>
            <a:off x="617220" y="1183640"/>
            <a:ext cx="6949440" cy="2377440"/>
          </a:xfrm>
          <a:prstGeom prst="rect">
            <a:avLst/>
          </a:prstGeom>
          <a:noFill/>
          <a:ln/>
        </p:spPr>
        <p:txBody>
          <a:bodyPr wrap="square" lIns="0" tIns="0" rIns="0" bIns="0" rtlCol="0" anchor="ctr"/>
          <a:lstStyle/>
          <a:p>
            <a:pPr marL="0" indent="0" algn="just">
              <a:lnSpc>
                <a:spcPct val="105000"/>
              </a:lnSpc>
              <a:buNone/>
            </a:pPr>
            <a:r>
              <a:rPr lang="en-US" sz="3800" b="1" dirty="0">
                <a:solidFill>
                  <a:srgbClr val="FFFFFF"/>
                </a:solidFill>
                <a:latin typeface="Cambria" pitchFamily="34" charset="0"/>
                <a:ea typeface="Cambria" pitchFamily="34" charset="-122"/>
                <a:cs typeface="Cambria" pitchFamily="34" charset="-120"/>
              </a:rPr>
              <a:t>Human Activity Pattern</a:t>
            </a:r>
            <a:endParaRPr lang="en-US" sz="3800" dirty="0"/>
          </a:p>
          <a:p>
            <a:pPr marL="0" indent="0" algn="just">
              <a:lnSpc>
                <a:spcPct val="105000"/>
              </a:lnSpc>
              <a:buNone/>
            </a:pPr>
            <a:r>
              <a:rPr lang="en-US" sz="3800" b="1" dirty="0">
                <a:solidFill>
                  <a:srgbClr val="FFFFFF"/>
                </a:solidFill>
                <a:latin typeface="Cambria" pitchFamily="34" charset="0"/>
                <a:ea typeface="Cambria" pitchFamily="34" charset="-122"/>
                <a:cs typeface="Cambria" pitchFamily="34" charset="-120"/>
              </a:rPr>
              <a:t>Discovery Using Smartphone</a:t>
            </a:r>
            <a:endParaRPr lang="en-US" sz="3800" dirty="0"/>
          </a:p>
          <a:p>
            <a:pPr marL="0" indent="0" algn="just">
              <a:lnSpc>
                <a:spcPct val="105000"/>
              </a:lnSpc>
              <a:buNone/>
            </a:pPr>
            <a:r>
              <a:rPr lang="en-US" sz="3800" b="1" dirty="0">
                <a:solidFill>
                  <a:srgbClr val="FFFFFF"/>
                </a:solidFill>
                <a:latin typeface="Cambria" pitchFamily="34" charset="0"/>
                <a:ea typeface="Cambria" pitchFamily="34" charset="-122"/>
                <a:cs typeface="Cambria" pitchFamily="34" charset="-120"/>
              </a:rPr>
              <a:t>Sensor Data</a:t>
            </a:r>
            <a:endParaRPr lang="en-US" sz="3800" dirty="0"/>
          </a:p>
        </p:txBody>
      </p:sp>
      <p:sp>
        <p:nvSpPr>
          <p:cNvPr id="11" name="Text 6"/>
          <p:cNvSpPr/>
          <p:nvPr/>
        </p:nvSpPr>
        <p:spPr>
          <a:xfrm>
            <a:off x="640080" y="3561080"/>
            <a:ext cx="6766560" cy="576580"/>
          </a:xfrm>
          <a:prstGeom prst="rect">
            <a:avLst/>
          </a:prstGeom>
          <a:noFill/>
          <a:ln/>
        </p:spPr>
        <p:txBody>
          <a:bodyPr wrap="square" lIns="0" tIns="0" rIns="0" bIns="0" rtlCol="0" anchor="ctr"/>
          <a:lstStyle/>
          <a:p>
            <a:pPr marL="0" indent="0">
              <a:buNone/>
            </a:pPr>
            <a:r>
              <a:rPr lang="en-US" sz="1400" i="1" dirty="0">
                <a:solidFill>
                  <a:srgbClr val="B9C2E8"/>
                </a:solidFill>
                <a:latin typeface="Calibri" pitchFamily="34" charset="0"/>
                <a:ea typeface="Calibri" pitchFamily="34" charset="-122"/>
                <a:cs typeface="Calibri" pitchFamily="34" charset="-120"/>
              </a:rPr>
              <a:t>Unsupervised learning on 561 inertial sensor features to recover human activity structure</a:t>
            </a:r>
            <a:endParaRPr lang="en-US" sz="1400" dirty="0"/>
          </a:p>
        </p:txBody>
      </p:sp>
      <p:sp>
        <p:nvSpPr>
          <p:cNvPr id="12" name="Text 7"/>
          <p:cNvSpPr/>
          <p:nvPr/>
        </p:nvSpPr>
        <p:spPr>
          <a:xfrm>
            <a:off x="7604607" y="4137660"/>
            <a:ext cx="4572000" cy="274320"/>
          </a:xfrm>
          <a:prstGeom prst="rect">
            <a:avLst/>
          </a:prstGeom>
          <a:noFill/>
          <a:ln/>
        </p:spPr>
        <p:txBody>
          <a:bodyPr wrap="square" lIns="0" tIns="0" rIns="0" bIns="0" rtlCol="0" anchor="ctr"/>
          <a:lstStyle/>
          <a:p>
            <a:pPr marL="0" indent="0" algn="ctr">
              <a:buNone/>
            </a:pPr>
            <a:r>
              <a:rPr lang="en-US" sz="1050" b="1" kern="0" spc="150" dirty="0">
                <a:solidFill>
                  <a:srgbClr val="7A84C4"/>
                </a:solidFill>
                <a:latin typeface="Calibri" pitchFamily="34" charset="0"/>
                <a:ea typeface="Calibri" pitchFamily="34" charset="-122"/>
                <a:cs typeface="Calibri" pitchFamily="34" charset="-120"/>
              </a:rPr>
              <a:t>      Algorithms Compared</a:t>
            </a:r>
            <a:endParaRPr lang="en-US" sz="1050" dirty="0"/>
          </a:p>
        </p:txBody>
      </p:sp>
      <p:sp>
        <p:nvSpPr>
          <p:cNvPr id="13" name="Text 8"/>
          <p:cNvSpPr/>
          <p:nvPr/>
        </p:nvSpPr>
        <p:spPr>
          <a:xfrm>
            <a:off x="7756855" y="4480560"/>
            <a:ext cx="4572000" cy="1280160"/>
          </a:xfrm>
          <a:prstGeom prst="rect">
            <a:avLst/>
          </a:prstGeom>
          <a:noFill/>
          <a:ln/>
        </p:spPr>
        <p:txBody>
          <a:bodyPr wrap="square" lIns="0" tIns="0" rIns="0" bIns="0" rtlCol="0" anchor="ctr"/>
          <a:lstStyle/>
          <a:p>
            <a:pPr marL="0" indent="0" algn="ctr">
              <a:lnSpc>
                <a:spcPct val="125000"/>
              </a:lnSpc>
              <a:buNone/>
            </a:pPr>
            <a:r>
              <a:rPr lang="en-US" sz="1250" dirty="0">
                <a:solidFill>
                  <a:srgbClr val="D7DCF5"/>
                </a:solidFill>
                <a:latin typeface="Calibri" pitchFamily="34" charset="0"/>
                <a:ea typeface="Calibri" pitchFamily="34" charset="-122"/>
                <a:cs typeface="Calibri" pitchFamily="34" charset="-120"/>
              </a:rPr>
              <a:t>K-Means</a:t>
            </a:r>
            <a:endParaRPr lang="en-US" sz="1250" dirty="0"/>
          </a:p>
          <a:p>
            <a:pPr marL="0" indent="0" algn="ctr">
              <a:lnSpc>
                <a:spcPct val="125000"/>
              </a:lnSpc>
              <a:buNone/>
            </a:pPr>
            <a:r>
              <a:rPr lang="en-US" sz="1250" dirty="0">
                <a:solidFill>
                  <a:srgbClr val="D7DCF5"/>
                </a:solidFill>
                <a:latin typeface="Calibri" pitchFamily="34" charset="0"/>
                <a:ea typeface="Calibri" pitchFamily="34" charset="-122"/>
                <a:cs typeface="Calibri" pitchFamily="34" charset="-120"/>
              </a:rPr>
              <a:t>Hierarchical  </a:t>
            </a:r>
            <a:endParaRPr lang="en-US" sz="1250" dirty="0"/>
          </a:p>
          <a:p>
            <a:pPr marL="0" indent="0" algn="ctr">
              <a:lnSpc>
                <a:spcPct val="125000"/>
              </a:lnSpc>
              <a:buNone/>
            </a:pPr>
            <a:r>
              <a:rPr lang="en-US" sz="1250" dirty="0">
                <a:solidFill>
                  <a:srgbClr val="D7DCF5"/>
                </a:solidFill>
                <a:latin typeface="Calibri" pitchFamily="34" charset="0"/>
                <a:ea typeface="Calibri" pitchFamily="34" charset="-122"/>
                <a:cs typeface="Calibri" pitchFamily="34" charset="-120"/>
              </a:rPr>
              <a:t>Gaussian Mixture Model</a:t>
            </a:r>
            <a:endParaRPr lang="en-US" sz="1250" dirty="0"/>
          </a:p>
          <a:p>
            <a:pPr marL="0" indent="0" algn="ctr">
              <a:lnSpc>
                <a:spcPct val="125000"/>
              </a:lnSpc>
              <a:buNone/>
            </a:pPr>
            <a:r>
              <a:rPr lang="en-US" sz="1250" dirty="0">
                <a:solidFill>
                  <a:srgbClr val="D7DCF5"/>
                </a:solidFill>
                <a:latin typeface="Calibri" pitchFamily="34" charset="0"/>
                <a:ea typeface="Calibri" pitchFamily="34" charset="-122"/>
                <a:cs typeface="Calibri" pitchFamily="34" charset="-120"/>
              </a:rPr>
              <a:t>DBSCAN</a:t>
            </a:r>
            <a:endParaRPr lang="en-US" sz="1250" dirty="0"/>
          </a:p>
        </p:txBody>
      </p:sp>
      <p:sp>
        <p:nvSpPr>
          <p:cNvPr id="14" name="Text 8">
            <a:extLst>
              <a:ext uri="{FF2B5EF4-FFF2-40B4-BE49-F238E27FC236}">
                <a16:creationId xmlns:a16="http://schemas.microsoft.com/office/drawing/2014/main" id="{7A396A54-7E8A-2598-A929-285341ED24EA}"/>
              </a:ext>
            </a:extLst>
          </p:cNvPr>
          <p:cNvSpPr/>
          <p:nvPr/>
        </p:nvSpPr>
        <p:spPr>
          <a:xfrm>
            <a:off x="640080" y="4480560"/>
            <a:ext cx="6217920" cy="2034540"/>
          </a:xfrm>
          <a:prstGeom prst="rect">
            <a:avLst/>
          </a:prstGeom>
          <a:noFill/>
          <a:ln/>
        </p:spPr>
        <p:txBody>
          <a:bodyPr wrap="square" lIns="0" tIns="0" rIns="0" bIns="0" rtlCol="0" anchor="ctr"/>
          <a:lstStyle/>
          <a:p>
            <a:pPr marL="0" indent="0">
              <a:lnSpc>
                <a:spcPct val="125000"/>
              </a:lnSpc>
              <a:buNone/>
            </a:pPr>
            <a:r>
              <a:rPr lang="en-US" sz="2000" b="1" dirty="0">
                <a:solidFill>
                  <a:schemeClr val="bg1">
                    <a:lumMod val="85000"/>
                  </a:schemeClr>
                </a:solidFill>
                <a:latin typeface="Calibri" pitchFamily="34" charset="0"/>
                <a:ea typeface="Calibri" pitchFamily="34" charset="-122"/>
                <a:cs typeface="Calibri" pitchFamily="34" charset="-120"/>
              </a:rPr>
              <a:t>Presented by </a:t>
            </a:r>
          </a:p>
          <a:p>
            <a:pPr marL="0" indent="0">
              <a:lnSpc>
                <a:spcPct val="125000"/>
              </a:lnSpc>
              <a:buNone/>
            </a:pPr>
            <a:r>
              <a:rPr lang="en-US" sz="2000" b="1" dirty="0">
                <a:solidFill>
                  <a:schemeClr val="bg1">
                    <a:lumMod val="85000"/>
                  </a:schemeClr>
                </a:solidFill>
              </a:rPr>
              <a:t> Dr. Dipanwita Debnath</a:t>
            </a:r>
          </a:p>
          <a:p>
            <a:pPr marL="0" indent="0">
              <a:lnSpc>
                <a:spcPct val="125000"/>
              </a:lnSpc>
              <a:buNone/>
            </a:pPr>
            <a:r>
              <a:rPr lang="en-US" sz="2000" b="1" dirty="0">
                <a:solidFill>
                  <a:schemeClr val="bg1">
                    <a:lumMod val="85000"/>
                  </a:schemeClr>
                </a:solidFill>
              </a:rPr>
              <a:t>Mr. Sathish D </a:t>
            </a:r>
          </a:p>
          <a:p>
            <a:pPr marL="0" indent="0">
              <a:lnSpc>
                <a:spcPct val="125000"/>
              </a:lnSpc>
              <a:buNone/>
            </a:pPr>
            <a:r>
              <a:rPr lang="en-US" sz="2000" b="1" dirty="0">
                <a:solidFill>
                  <a:schemeClr val="bg1">
                    <a:lumMod val="85000"/>
                  </a:schemeClr>
                </a:solidFill>
              </a:rPr>
              <a:t>CSE-AIML Dept. </a:t>
            </a:r>
          </a:p>
          <a:p>
            <a:pPr marL="0" indent="0">
              <a:lnSpc>
                <a:spcPct val="125000"/>
              </a:lnSpc>
              <a:buNone/>
            </a:pPr>
            <a:r>
              <a:rPr lang="en-US" sz="2000" b="1" dirty="0">
                <a:solidFill>
                  <a:schemeClr val="bg1">
                    <a:lumMod val="85000"/>
                  </a:schemeClr>
                </a:solidFill>
              </a:rPr>
              <a:t>BVRIT Narsapur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87452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5" name="Shape 3"/>
          <p:cNvSpPr/>
          <p:nvPr/>
        </p:nvSpPr>
        <p:spPr>
          <a:xfrm>
            <a:off x="868680" y="2286000"/>
            <a:ext cx="502920" cy="50292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992124" y="2409444"/>
            <a:ext cx="256032" cy="256032"/>
          </a:xfrm>
          <a:prstGeom prst="rect">
            <a:avLst/>
          </a:prstGeom>
        </p:spPr>
      </p:pic>
      <p:sp>
        <p:nvSpPr>
          <p:cNvPr id="7" name="Text 4"/>
          <p:cNvSpPr/>
          <p:nvPr/>
        </p:nvSpPr>
        <p:spPr>
          <a:xfrm>
            <a:off x="1554480" y="205740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1.  Dataset &amp; Problem</a:t>
            </a:r>
            <a:endParaRPr lang="en-US" sz="1500" dirty="0"/>
          </a:p>
        </p:txBody>
      </p:sp>
      <p:sp>
        <p:nvSpPr>
          <p:cNvPr id="8" name="Text 5"/>
          <p:cNvSpPr/>
          <p:nvPr/>
        </p:nvSpPr>
        <p:spPr>
          <a:xfrm>
            <a:off x="1554480" y="244144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HAR sensor data, the unsupervised reframing</a:t>
            </a:r>
            <a:endParaRPr lang="en-US" sz="1150" dirty="0"/>
          </a:p>
        </p:txBody>
      </p:sp>
      <p:sp>
        <p:nvSpPr>
          <p:cNvPr id="9" name="Shape 6"/>
          <p:cNvSpPr/>
          <p:nvPr/>
        </p:nvSpPr>
        <p:spPr>
          <a:xfrm>
            <a:off x="6309360" y="187452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10" name="Shape 7"/>
          <p:cNvSpPr/>
          <p:nvPr/>
        </p:nvSpPr>
        <p:spPr>
          <a:xfrm>
            <a:off x="6537960" y="2286000"/>
            <a:ext cx="502920" cy="502920"/>
          </a:xfrm>
          <a:prstGeom prst="ellipse">
            <a:avLst/>
          </a:prstGeom>
          <a:solidFill>
            <a:srgbClr val="1E2761"/>
          </a:solidFill>
          <a:ln/>
        </p:spPr>
      </p:sp>
      <p:pic>
        <p:nvPicPr>
          <p:cNvPr id="11" name="Image 1" descr="preencoded.png"/>
          <p:cNvPicPr>
            <a:picLocks noChangeAspect="1"/>
          </p:cNvPicPr>
          <p:nvPr/>
        </p:nvPicPr>
        <p:blipFill>
          <a:blip r:embed="rId4"/>
          <a:stretch>
            <a:fillRect/>
          </a:stretch>
        </p:blipFill>
        <p:spPr>
          <a:xfrm>
            <a:off x="6661404" y="2409444"/>
            <a:ext cx="256032" cy="256032"/>
          </a:xfrm>
          <a:prstGeom prst="rect">
            <a:avLst/>
          </a:prstGeom>
        </p:spPr>
      </p:pic>
      <p:sp>
        <p:nvSpPr>
          <p:cNvPr id="12" name="Text 8"/>
          <p:cNvSpPr/>
          <p:nvPr/>
        </p:nvSpPr>
        <p:spPr>
          <a:xfrm>
            <a:off x="7223760" y="205740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2.  Data Quality &amp; EDA</a:t>
            </a:r>
            <a:endParaRPr lang="en-US" sz="1500" dirty="0"/>
          </a:p>
        </p:txBody>
      </p:sp>
      <p:sp>
        <p:nvSpPr>
          <p:cNvPr id="13" name="Text 9"/>
          <p:cNvSpPr/>
          <p:nvPr/>
        </p:nvSpPr>
        <p:spPr>
          <a:xfrm>
            <a:off x="7223760" y="244144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Integrity checks, activity distribution</a:t>
            </a:r>
            <a:endParaRPr lang="en-US" sz="1150" dirty="0"/>
          </a:p>
        </p:txBody>
      </p:sp>
      <p:sp>
        <p:nvSpPr>
          <p:cNvPr id="14" name="Shape 10"/>
          <p:cNvSpPr/>
          <p:nvPr/>
        </p:nvSpPr>
        <p:spPr>
          <a:xfrm>
            <a:off x="640080" y="352044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15" name="Shape 11"/>
          <p:cNvSpPr/>
          <p:nvPr/>
        </p:nvSpPr>
        <p:spPr>
          <a:xfrm>
            <a:off x="868680" y="3931920"/>
            <a:ext cx="502920" cy="502920"/>
          </a:xfrm>
          <a:prstGeom prst="ellipse">
            <a:avLst/>
          </a:prstGeom>
          <a:solidFill>
            <a:srgbClr val="1E2761"/>
          </a:solidFill>
          <a:ln/>
        </p:spPr>
      </p:sp>
      <p:pic>
        <p:nvPicPr>
          <p:cNvPr id="16" name="Image 2" descr="preencoded.png"/>
          <p:cNvPicPr>
            <a:picLocks noChangeAspect="1"/>
          </p:cNvPicPr>
          <p:nvPr/>
        </p:nvPicPr>
        <p:blipFill>
          <a:blip r:embed="rId5"/>
          <a:stretch>
            <a:fillRect/>
          </a:stretch>
        </p:blipFill>
        <p:spPr>
          <a:xfrm>
            <a:off x="992124" y="4055364"/>
            <a:ext cx="256032" cy="256032"/>
          </a:xfrm>
          <a:prstGeom prst="rect">
            <a:avLst/>
          </a:prstGeom>
        </p:spPr>
      </p:pic>
      <p:sp>
        <p:nvSpPr>
          <p:cNvPr id="17" name="Text 12"/>
          <p:cNvSpPr/>
          <p:nvPr/>
        </p:nvSpPr>
        <p:spPr>
          <a:xfrm>
            <a:off x="1554480" y="370332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3.  Preprocessing Pipeline</a:t>
            </a:r>
            <a:endParaRPr lang="en-US" sz="1500" dirty="0"/>
          </a:p>
        </p:txBody>
      </p:sp>
      <p:sp>
        <p:nvSpPr>
          <p:cNvPr id="18" name="Text 13"/>
          <p:cNvSpPr/>
          <p:nvPr/>
        </p:nvSpPr>
        <p:spPr>
          <a:xfrm>
            <a:off x="1554480" y="408736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Scaling, PCA, feature importance</a:t>
            </a:r>
            <a:endParaRPr lang="en-US" sz="1150" dirty="0"/>
          </a:p>
        </p:txBody>
      </p:sp>
      <p:sp>
        <p:nvSpPr>
          <p:cNvPr id="19" name="Shape 14"/>
          <p:cNvSpPr/>
          <p:nvPr/>
        </p:nvSpPr>
        <p:spPr>
          <a:xfrm>
            <a:off x="6309360" y="352044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20" name="Shape 15"/>
          <p:cNvSpPr/>
          <p:nvPr/>
        </p:nvSpPr>
        <p:spPr>
          <a:xfrm>
            <a:off x="6537960" y="3931920"/>
            <a:ext cx="502920" cy="502920"/>
          </a:xfrm>
          <a:prstGeom prst="ellipse">
            <a:avLst/>
          </a:prstGeom>
          <a:solidFill>
            <a:srgbClr val="1E2761"/>
          </a:solidFill>
          <a:ln/>
        </p:spPr>
      </p:sp>
      <p:pic>
        <p:nvPicPr>
          <p:cNvPr id="21" name="Image 3" descr="preencoded.png"/>
          <p:cNvPicPr>
            <a:picLocks noChangeAspect="1"/>
          </p:cNvPicPr>
          <p:nvPr/>
        </p:nvPicPr>
        <p:blipFill>
          <a:blip r:embed="rId6"/>
          <a:stretch>
            <a:fillRect/>
          </a:stretch>
        </p:blipFill>
        <p:spPr>
          <a:xfrm>
            <a:off x="6661404" y="4055364"/>
            <a:ext cx="256032" cy="256032"/>
          </a:xfrm>
          <a:prstGeom prst="rect">
            <a:avLst/>
          </a:prstGeom>
        </p:spPr>
      </p:pic>
      <p:sp>
        <p:nvSpPr>
          <p:cNvPr id="22" name="Text 16"/>
          <p:cNvSpPr/>
          <p:nvPr/>
        </p:nvSpPr>
        <p:spPr>
          <a:xfrm>
            <a:off x="7223760" y="370332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4.  Choosing K</a:t>
            </a:r>
            <a:endParaRPr lang="en-US" sz="1500" dirty="0"/>
          </a:p>
        </p:txBody>
      </p:sp>
      <p:sp>
        <p:nvSpPr>
          <p:cNvPr id="23" name="Text 17"/>
          <p:cNvSpPr/>
          <p:nvPr/>
        </p:nvSpPr>
        <p:spPr>
          <a:xfrm>
            <a:off x="7223760" y="408736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Elbow method &amp; silhouette analysis</a:t>
            </a:r>
            <a:endParaRPr lang="en-US" sz="1150" dirty="0"/>
          </a:p>
        </p:txBody>
      </p:sp>
      <p:sp>
        <p:nvSpPr>
          <p:cNvPr id="24" name="Shape 18"/>
          <p:cNvSpPr/>
          <p:nvPr/>
        </p:nvSpPr>
        <p:spPr>
          <a:xfrm>
            <a:off x="640080" y="516636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25" name="Shape 19"/>
          <p:cNvSpPr/>
          <p:nvPr/>
        </p:nvSpPr>
        <p:spPr>
          <a:xfrm>
            <a:off x="868680" y="5577840"/>
            <a:ext cx="502920" cy="502920"/>
          </a:xfrm>
          <a:prstGeom prst="ellipse">
            <a:avLst/>
          </a:prstGeom>
          <a:solidFill>
            <a:srgbClr val="1E2761"/>
          </a:solidFill>
          <a:ln/>
        </p:spPr>
      </p:sp>
      <p:pic>
        <p:nvPicPr>
          <p:cNvPr id="26" name="Image 4" descr="preencoded.png"/>
          <p:cNvPicPr>
            <a:picLocks noChangeAspect="1"/>
          </p:cNvPicPr>
          <p:nvPr/>
        </p:nvPicPr>
        <p:blipFill>
          <a:blip r:embed="rId7"/>
          <a:stretch>
            <a:fillRect/>
          </a:stretch>
        </p:blipFill>
        <p:spPr>
          <a:xfrm>
            <a:off x="992124" y="5701284"/>
            <a:ext cx="256032" cy="256032"/>
          </a:xfrm>
          <a:prstGeom prst="rect">
            <a:avLst/>
          </a:prstGeom>
        </p:spPr>
      </p:pic>
      <p:sp>
        <p:nvSpPr>
          <p:cNvPr id="27" name="Text 20"/>
          <p:cNvSpPr/>
          <p:nvPr/>
        </p:nvSpPr>
        <p:spPr>
          <a:xfrm>
            <a:off x="1554480" y="534924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5.  Four Algorithms</a:t>
            </a:r>
            <a:endParaRPr lang="en-US" sz="1500" dirty="0"/>
          </a:p>
        </p:txBody>
      </p:sp>
      <p:sp>
        <p:nvSpPr>
          <p:cNvPr id="28" name="Text 21"/>
          <p:cNvSpPr/>
          <p:nvPr/>
        </p:nvSpPr>
        <p:spPr>
          <a:xfrm>
            <a:off x="1554480" y="573328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K-Means, Hierarchical, GMM, DBSCAN</a:t>
            </a:r>
            <a:endParaRPr lang="en-US" sz="1150" dirty="0"/>
          </a:p>
        </p:txBody>
      </p:sp>
      <p:sp>
        <p:nvSpPr>
          <p:cNvPr id="29" name="Shape 22"/>
          <p:cNvSpPr/>
          <p:nvPr/>
        </p:nvSpPr>
        <p:spPr>
          <a:xfrm>
            <a:off x="6309360" y="5166360"/>
            <a:ext cx="5394960" cy="1325880"/>
          </a:xfrm>
          <a:prstGeom prst="rect">
            <a:avLst/>
          </a:prstGeom>
          <a:solidFill>
            <a:srgbClr val="F7F8FC"/>
          </a:solidFill>
          <a:ln/>
          <a:effectLst>
            <a:outerShdw blurRad="88900" dist="25400" dir="5400000" algn="bl" rotWithShape="0">
              <a:srgbClr val="1E2761">
                <a:alpha val="8000"/>
              </a:srgbClr>
            </a:outerShdw>
          </a:effectLst>
        </p:spPr>
      </p:sp>
      <p:sp>
        <p:nvSpPr>
          <p:cNvPr id="30" name="Shape 23"/>
          <p:cNvSpPr/>
          <p:nvPr/>
        </p:nvSpPr>
        <p:spPr>
          <a:xfrm>
            <a:off x="6537960" y="5577840"/>
            <a:ext cx="502920" cy="502920"/>
          </a:xfrm>
          <a:prstGeom prst="ellipse">
            <a:avLst/>
          </a:prstGeom>
          <a:solidFill>
            <a:srgbClr val="1E2761"/>
          </a:solidFill>
          <a:ln/>
        </p:spPr>
      </p:sp>
      <p:pic>
        <p:nvPicPr>
          <p:cNvPr id="31" name="Image 5" descr="preencoded.png"/>
          <p:cNvPicPr>
            <a:picLocks noChangeAspect="1"/>
          </p:cNvPicPr>
          <p:nvPr/>
        </p:nvPicPr>
        <p:blipFill>
          <a:blip r:embed="rId8"/>
          <a:stretch>
            <a:fillRect/>
          </a:stretch>
        </p:blipFill>
        <p:spPr>
          <a:xfrm>
            <a:off x="6661404" y="5701284"/>
            <a:ext cx="256032" cy="256032"/>
          </a:xfrm>
          <a:prstGeom prst="rect">
            <a:avLst/>
          </a:prstGeom>
        </p:spPr>
      </p:pic>
      <p:sp>
        <p:nvSpPr>
          <p:cNvPr id="32" name="Text 24"/>
          <p:cNvSpPr/>
          <p:nvPr/>
        </p:nvSpPr>
        <p:spPr>
          <a:xfrm>
            <a:off x="7223760" y="5349240"/>
            <a:ext cx="4297680" cy="365760"/>
          </a:xfrm>
          <a:prstGeom prst="rect">
            <a:avLst/>
          </a:prstGeom>
          <a:noFill/>
          <a:ln/>
        </p:spPr>
        <p:txBody>
          <a:bodyPr wrap="square" lIns="0" tIns="0" rIns="0" bIns="0" rtlCol="0" anchor="ctr"/>
          <a:lstStyle/>
          <a:p>
            <a:pPr marL="0" indent="0">
              <a:buNone/>
            </a:pPr>
            <a:r>
              <a:rPr lang="en-US" sz="1500" b="1" dirty="0">
                <a:solidFill>
                  <a:srgbClr val="1A1F36"/>
                </a:solidFill>
                <a:latin typeface="Cambria" pitchFamily="34" charset="0"/>
                <a:ea typeface="Cambria" pitchFamily="34" charset="-122"/>
                <a:cs typeface="Cambria" pitchFamily="34" charset="-120"/>
              </a:rPr>
              <a:t>6.  Comparison &amp; Verdict</a:t>
            </a:r>
            <a:endParaRPr lang="en-US" sz="1500" dirty="0"/>
          </a:p>
        </p:txBody>
      </p:sp>
      <p:sp>
        <p:nvSpPr>
          <p:cNvPr id="33" name="Text 25"/>
          <p:cNvSpPr/>
          <p:nvPr/>
        </p:nvSpPr>
        <p:spPr>
          <a:xfrm>
            <a:off x="7223760" y="5733288"/>
            <a:ext cx="4297680" cy="548640"/>
          </a:xfrm>
          <a:prstGeom prst="rect">
            <a:avLst/>
          </a:prstGeom>
          <a:noFill/>
          <a:ln/>
        </p:spPr>
        <p:txBody>
          <a:bodyPr wrap="square" lIns="0" tIns="0" rIns="0" bIns="0" rtlCol="0" anchor="ctr"/>
          <a:lstStyle/>
          <a:p>
            <a:pPr marL="0" indent="0">
              <a:buNone/>
            </a:pPr>
            <a:r>
              <a:rPr lang="en-US" sz="1150" dirty="0">
                <a:solidFill>
                  <a:srgbClr val="667085"/>
                </a:solidFill>
                <a:latin typeface="Calibri" pitchFamily="34" charset="0"/>
                <a:ea typeface="Calibri" pitchFamily="34" charset="-122"/>
                <a:cs typeface="Calibri" pitchFamily="34" charset="-120"/>
              </a:rPr>
              <a:t>Metrics, ranking, best performer</a:t>
            </a:r>
            <a:endParaRPr lang="en-US" sz="1150" dirty="0"/>
          </a:p>
        </p:txBody>
      </p:sp>
      <p:sp>
        <p:nvSpPr>
          <p:cNvPr id="34" name="Text 2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35" name="Text 27"/>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Project Overview</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What this analysis set out to discover</a:t>
            </a:r>
            <a:endParaRPr lang="en-US" sz="1300" dirty="0"/>
          </a:p>
        </p:txBody>
      </p:sp>
      <p:sp>
        <p:nvSpPr>
          <p:cNvPr id="5" name="Text 2"/>
          <p:cNvSpPr/>
          <p:nvPr/>
        </p:nvSpPr>
        <p:spPr>
          <a:xfrm>
            <a:off x="457200" y="1188720"/>
            <a:ext cx="6766560" cy="2011680"/>
          </a:xfrm>
          <a:prstGeom prst="rect">
            <a:avLst/>
          </a:prstGeom>
          <a:noFill/>
          <a:ln/>
        </p:spPr>
        <p:txBody>
          <a:bodyPr wrap="square" rtlCol="0" anchor="t"/>
          <a:lstStyle/>
          <a:p>
            <a:pPr marL="0" indent="0" algn="just">
              <a:lnSpc>
                <a:spcPct val="125000"/>
              </a:lnSpc>
              <a:buNone/>
            </a:pPr>
            <a:r>
              <a:rPr lang="en-US" sz="1400" dirty="0">
                <a:solidFill>
                  <a:srgbClr val="1B2A3D"/>
                </a:solidFill>
                <a:latin typeface="Calibri" pitchFamily="34" charset="0"/>
                <a:ea typeface="Calibri" pitchFamily="34" charset="-122"/>
                <a:cs typeface="Calibri" pitchFamily="34" charset="-120"/>
              </a:rPr>
              <a:t>Smartphones carry accelerometers and gyroscopes that continuously record motion. The UCI Human Activity Recognition (HAR) dataset captures 561 engineered signal features per observation, each labeled with one of six activities performed by 30 volunteers. This project asks an unsupervised question: if the activity labels were hidden, would clustering algorithms rediscover six distinct behavioral groups on their own — or something simpler?</a:t>
            </a:r>
            <a:endParaRPr lang="en-US" sz="1400" dirty="0"/>
          </a:p>
        </p:txBody>
      </p:sp>
      <p:sp>
        <p:nvSpPr>
          <p:cNvPr id="6" name="Shape 3"/>
          <p:cNvSpPr/>
          <p:nvPr/>
        </p:nvSpPr>
        <p:spPr>
          <a:xfrm>
            <a:off x="457200" y="3337560"/>
            <a:ext cx="292608" cy="292608"/>
          </a:xfrm>
          <a:prstGeom prst="ellipse">
            <a:avLst/>
          </a:prstGeom>
          <a:solidFill>
            <a:srgbClr val="1C7293"/>
          </a:solidFill>
          <a:ln/>
        </p:spPr>
      </p:sp>
      <p:sp>
        <p:nvSpPr>
          <p:cNvPr id="7" name="Text 4"/>
          <p:cNvSpPr/>
          <p:nvPr/>
        </p:nvSpPr>
        <p:spPr>
          <a:xfrm>
            <a:off x="457200" y="33375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914400" y="33009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Explore and validate the merged train/test dataset</a:t>
            </a:r>
            <a:endParaRPr lang="en-US" sz="1250" dirty="0"/>
          </a:p>
        </p:txBody>
      </p:sp>
      <p:sp>
        <p:nvSpPr>
          <p:cNvPr id="9" name="Shape 6"/>
          <p:cNvSpPr/>
          <p:nvPr/>
        </p:nvSpPr>
        <p:spPr>
          <a:xfrm>
            <a:off x="457200" y="3794760"/>
            <a:ext cx="292608" cy="292608"/>
          </a:xfrm>
          <a:prstGeom prst="ellipse">
            <a:avLst/>
          </a:prstGeom>
          <a:solidFill>
            <a:srgbClr val="1C7293"/>
          </a:solidFill>
          <a:ln/>
        </p:spPr>
      </p:sp>
      <p:sp>
        <p:nvSpPr>
          <p:cNvPr id="10" name="Text 7"/>
          <p:cNvSpPr/>
          <p:nvPr/>
        </p:nvSpPr>
        <p:spPr>
          <a:xfrm>
            <a:off x="457200" y="37947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914400" y="37581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Reduce dimensionality via PCA and Random Forest feature importance</a:t>
            </a:r>
            <a:endParaRPr lang="en-US" sz="1250" dirty="0"/>
          </a:p>
        </p:txBody>
      </p:sp>
      <p:sp>
        <p:nvSpPr>
          <p:cNvPr id="12" name="Shape 9"/>
          <p:cNvSpPr/>
          <p:nvPr/>
        </p:nvSpPr>
        <p:spPr>
          <a:xfrm>
            <a:off x="457200" y="4251960"/>
            <a:ext cx="292608" cy="292608"/>
          </a:xfrm>
          <a:prstGeom prst="ellipse">
            <a:avLst/>
          </a:prstGeom>
          <a:solidFill>
            <a:srgbClr val="1C7293"/>
          </a:solidFill>
          <a:ln/>
        </p:spPr>
      </p:sp>
      <p:sp>
        <p:nvSpPr>
          <p:cNvPr id="13" name="Text 10"/>
          <p:cNvSpPr/>
          <p:nvPr/>
        </p:nvSpPr>
        <p:spPr>
          <a:xfrm>
            <a:off x="457200" y="42519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p:nvPr/>
        </p:nvSpPr>
        <p:spPr>
          <a:xfrm>
            <a:off x="914400" y="42153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Apply KMeans, Hierarchical, and Gaussian Mixture clustering</a:t>
            </a:r>
            <a:endParaRPr lang="en-US" sz="1250" dirty="0"/>
          </a:p>
        </p:txBody>
      </p:sp>
      <p:sp>
        <p:nvSpPr>
          <p:cNvPr id="15" name="Shape 12"/>
          <p:cNvSpPr/>
          <p:nvPr/>
        </p:nvSpPr>
        <p:spPr>
          <a:xfrm>
            <a:off x="457200" y="4709160"/>
            <a:ext cx="292608" cy="292608"/>
          </a:xfrm>
          <a:prstGeom prst="ellipse">
            <a:avLst/>
          </a:prstGeom>
          <a:solidFill>
            <a:srgbClr val="1C7293"/>
          </a:solidFill>
          <a:ln/>
        </p:spPr>
      </p:sp>
      <p:sp>
        <p:nvSpPr>
          <p:cNvPr id="16" name="Text 13"/>
          <p:cNvSpPr/>
          <p:nvPr/>
        </p:nvSpPr>
        <p:spPr>
          <a:xfrm>
            <a:off x="457200" y="47091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4"/>
          <p:cNvSpPr/>
          <p:nvPr/>
        </p:nvSpPr>
        <p:spPr>
          <a:xfrm>
            <a:off x="914400" y="46725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Validate clusters internally (Silhouette, DBI, CHI) and externally (ARI, NMI)</a:t>
            </a:r>
            <a:endParaRPr lang="en-US" sz="1250" dirty="0"/>
          </a:p>
        </p:txBody>
      </p:sp>
      <p:sp>
        <p:nvSpPr>
          <p:cNvPr id="18" name="Shape 15"/>
          <p:cNvSpPr/>
          <p:nvPr/>
        </p:nvSpPr>
        <p:spPr>
          <a:xfrm>
            <a:off x="457200" y="5166360"/>
            <a:ext cx="292608" cy="292608"/>
          </a:xfrm>
          <a:prstGeom prst="ellipse">
            <a:avLst/>
          </a:prstGeom>
          <a:solidFill>
            <a:srgbClr val="1C7293"/>
          </a:solidFill>
          <a:ln/>
        </p:spPr>
      </p:sp>
      <p:sp>
        <p:nvSpPr>
          <p:cNvPr id="19" name="Text 16"/>
          <p:cNvSpPr/>
          <p:nvPr/>
        </p:nvSpPr>
        <p:spPr>
          <a:xfrm>
            <a:off x="457200" y="5166360"/>
            <a:ext cx="292608"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7"/>
          <p:cNvSpPr/>
          <p:nvPr/>
        </p:nvSpPr>
        <p:spPr>
          <a:xfrm>
            <a:off x="914400" y="5129784"/>
            <a:ext cx="6309360" cy="365760"/>
          </a:xfrm>
          <a:prstGeom prst="rect">
            <a:avLst/>
          </a:prstGeom>
          <a:noFill/>
          <a:ln/>
        </p:spPr>
        <p:txBody>
          <a:bodyPr wrap="square" rtlCol="0" anchor="ctr"/>
          <a:lstStyle/>
          <a:p>
            <a:pPr marL="0" indent="0">
              <a:buNone/>
            </a:pPr>
            <a:r>
              <a:rPr lang="en-US" sz="1250" dirty="0">
                <a:solidFill>
                  <a:srgbClr val="1B2A3D"/>
                </a:solidFill>
                <a:latin typeface="Calibri" pitchFamily="34" charset="0"/>
                <a:ea typeface="Calibri" pitchFamily="34" charset="-122"/>
                <a:cs typeface="Calibri" pitchFamily="34" charset="-120"/>
              </a:rPr>
              <a:t>Interpret what the discovered clusters reveal about human activity</a:t>
            </a:r>
            <a:endParaRPr lang="en-US" sz="1250" dirty="0"/>
          </a:p>
        </p:txBody>
      </p:sp>
      <p:sp>
        <p:nvSpPr>
          <p:cNvPr id="21" name="Shape 18"/>
          <p:cNvSpPr/>
          <p:nvPr/>
        </p:nvSpPr>
        <p:spPr>
          <a:xfrm>
            <a:off x="7498080" y="118872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2" name="Text 19"/>
          <p:cNvSpPr/>
          <p:nvPr/>
        </p:nvSpPr>
        <p:spPr>
          <a:xfrm>
            <a:off x="7635240" y="129844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10,299</a:t>
            </a:r>
            <a:endParaRPr lang="en-US" sz="3000" dirty="0"/>
          </a:p>
        </p:txBody>
      </p:sp>
      <p:sp>
        <p:nvSpPr>
          <p:cNvPr id="23" name="Text 20"/>
          <p:cNvSpPr/>
          <p:nvPr/>
        </p:nvSpPr>
        <p:spPr>
          <a:xfrm>
            <a:off x="7635240" y="196596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Total Samples</a:t>
            </a:r>
            <a:endParaRPr lang="en-US" sz="1150" dirty="0"/>
          </a:p>
        </p:txBody>
      </p:sp>
      <p:sp>
        <p:nvSpPr>
          <p:cNvPr id="24" name="Shape 21"/>
          <p:cNvSpPr/>
          <p:nvPr/>
        </p:nvSpPr>
        <p:spPr>
          <a:xfrm>
            <a:off x="9738360" y="118872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5" name="Text 22"/>
          <p:cNvSpPr/>
          <p:nvPr/>
        </p:nvSpPr>
        <p:spPr>
          <a:xfrm>
            <a:off x="9875520" y="129844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561</a:t>
            </a:r>
            <a:endParaRPr lang="en-US" sz="3000" dirty="0"/>
          </a:p>
        </p:txBody>
      </p:sp>
      <p:sp>
        <p:nvSpPr>
          <p:cNvPr id="26" name="Text 23"/>
          <p:cNvSpPr/>
          <p:nvPr/>
        </p:nvSpPr>
        <p:spPr>
          <a:xfrm>
            <a:off x="9875520" y="196596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Sensor Features</a:t>
            </a:r>
            <a:endParaRPr lang="en-US" sz="1150" dirty="0"/>
          </a:p>
        </p:txBody>
      </p:sp>
      <p:sp>
        <p:nvSpPr>
          <p:cNvPr id="27" name="Shape 24"/>
          <p:cNvSpPr/>
          <p:nvPr/>
        </p:nvSpPr>
        <p:spPr>
          <a:xfrm>
            <a:off x="7498080" y="260604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28" name="Text 25"/>
          <p:cNvSpPr/>
          <p:nvPr/>
        </p:nvSpPr>
        <p:spPr>
          <a:xfrm>
            <a:off x="7635240" y="271576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6</a:t>
            </a:r>
            <a:endParaRPr lang="en-US" sz="3000" dirty="0"/>
          </a:p>
        </p:txBody>
      </p:sp>
      <p:sp>
        <p:nvSpPr>
          <p:cNvPr id="29" name="Text 26"/>
          <p:cNvSpPr/>
          <p:nvPr/>
        </p:nvSpPr>
        <p:spPr>
          <a:xfrm>
            <a:off x="7635240" y="338328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Activity Labels</a:t>
            </a:r>
            <a:endParaRPr lang="en-US" sz="1150" dirty="0"/>
          </a:p>
        </p:txBody>
      </p:sp>
      <p:sp>
        <p:nvSpPr>
          <p:cNvPr id="30" name="Shape 27"/>
          <p:cNvSpPr/>
          <p:nvPr/>
        </p:nvSpPr>
        <p:spPr>
          <a:xfrm>
            <a:off x="9738360" y="2606040"/>
            <a:ext cx="2057400" cy="1234440"/>
          </a:xfrm>
          <a:prstGeom prst="roundRect">
            <a:avLst>
              <a:gd name="adj" fmla="val 5926"/>
            </a:avLst>
          </a:prstGeom>
          <a:solidFill>
            <a:srgbClr val="FFFFFF"/>
          </a:solidFill>
          <a:ln/>
          <a:effectLst>
            <a:outerShdw blurRad="101600" dist="38100" dir="2700000" algn="bl" rotWithShape="0">
              <a:srgbClr val="0B2545">
                <a:alpha val="15000"/>
              </a:srgbClr>
            </a:outerShdw>
          </a:effectLst>
        </p:spPr>
      </p:sp>
      <p:sp>
        <p:nvSpPr>
          <p:cNvPr id="31" name="Text 28"/>
          <p:cNvSpPr/>
          <p:nvPr/>
        </p:nvSpPr>
        <p:spPr>
          <a:xfrm>
            <a:off x="9875520" y="2715768"/>
            <a:ext cx="1783080" cy="594360"/>
          </a:xfrm>
          <a:prstGeom prst="rect">
            <a:avLst/>
          </a:prstGeom>
          <a:noFill/>
          <a:ln/>
        </p:spPr>
        <p:txBody>
          <a:bodyPr wrap="square" rtlCol="0" anchor="ctr"/>
          <a:lstStyle/>
          <a:p>
            <a:pPr marL="0" indent="0">
              <a:buNone/>
            </a:pPr>
            <a:r>
              <a:rPr lang="en-US" sz="3000" b="1" dirty="0">
                <a:solidFill>
                  <a:srgbClr val="13315C"/>
                </a:solidFill>
                <a:latin typeface="Cambria" pitchFamily="34" charset="0"/>
                <a:ea typeface="Cambria" pitchFamily="34" charset="-122"/>
                <a:cs typeface="Cambria" pitchFamily="34" charset="-120"/>
              </a:rPr>
              <a:t>30</a:t>
            </a:r>
            <a:endParaRPr lang="en-US" sz="3000" dirty="0"/>
          </a:p>
        </p:txBody>
      </p:sp>
      <p:sp>
        <p:nvSpPr>
          <p:cNvPr id="32" name="Text 29"/>
          <p:cNvSpPr/>
          <p:nvPr/>
        </p:nvSpPr>
        <p:spPr>
          <a:xfrm>
            <a:off x="9875520" y="3383280"/>
            <a:ext cx="1783080" cy="365760"/>
          </a:xfrm>
          <a:prstGeom prst="rect">
            <a:avLst/>
          </a:prstGeom>
          <a:noFill/>
          <a:ln/>
        </p:spPr>
        <p:txBody>
          <a:bodyPr wrap="square" rtlCol="0" anchor="ctr"/>
          <a:lstStyle/>
          <a:p>
            <a:pPr marL="0" indent="0">
              <a:buNone/>
            </a:pPr>
            <a:r>
              <a:rPr lang="en-US" sz="1150" dirty="0">
                <a:solidFill>
                  <a:srgbClr val="5C7184"/>
                </a:solidFill>
                <a:latin typeface="Calibri" pitchFamily="34" charset="0"/>
                <a:ea typeface="Calibri" pitchFamily="34" charset="-122"/>
                <a:cs typeface="Calibri" pitchFamily="34" charset="-120"/>
              </a:rPr>
              <a:t>Subjects</a:t>
            </a:r>
            <a:endParaRPr lang="en-US" sz="1150" dirty="0"/>
          </a:p>
        </p:txBody>
      </p:sp>
      <p:sp>
        <p:nvSpPr>
          <p:cNvPr id="33" name="Text 30"/>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34" name="Text 31"/>
          <p:cNvSpPr/>
          <p:nvPr/>
        </p:nvSpPr>
        <p:spPr>
          <a:xfrm>
            <a:off x="11365992" y="6492240"/>
            <a:ext cx="365760" cy="228600"/>
          </a:xfrm>
          <a:prstGeom prst="rect">
            <a:avLst/>
          </a:prstGeom>
          <a:noFill/>
          <a:ln/>
        </p:spPr>
        <p:txBody>
          <a:bodyPr wrap="square" rtlCol="0" anchor="ctr"/>
          <a:lstStyle/>
          <a:p>
            <a:pPr marL="0" indent="0" algn="r">
              <a:buNone/>
            </a:pPr>
            <a:r>
              <a:rPr lang="en-US" sz="900" dirty="0"/>
              <a:t>3</a:t>
            </a:r>
          </a:p>
        </p:txBody>
      </p:sp>
      <p:sp>
        <p:nvSpPr>
          <p:cNvPr id="36" name="TextBox 35">
            <a:extLst>
              <a:ext uri="{FF2B5EF4-FFF2-40B4-BE49-F238E27FC236}">
                <a16:creationId xmlns:a16="http://schemas.microsoft.com/office/drawing/2014/main" id="{2A640A9F-2315-32C3-4859-89ED5EA7A7A9}"/>
              </a:ext>
            </a:extLst>
          </p:cNvPr>
          <p:cNvSpPr txBox="1"/>
          <p:nvPr/>
        </p:nvSpPr>
        <p:spPr>
          <a:xfrm>
            <a:off x="6202680" y="6041505"/>
            <a:ext cx="6096000" cy="276999"/>
          </a:xfrm>
          <a:prstGeom prst="rect">
            <a:avLst/>
          </a:prstGeom>
          <a:noFill/>
        </p:spPr>
        <p:txBody>
          <a:bodyPr wrap="square">
            <a:spAutoFit/>
          </a:bodyPr>
          <a:lstStyle/>
          <a:p>
            <a:r>
              <a:rPr lang="en-US" sz="1200" dirty="0">
                <a:solidFill>
                  <a:srgbClr val="374455"/>
                </a:solidFill>
              </a:rPr>
              <a:t>https://archive.ics.uci.edu/dataset/240/human+activity+recognition+using+smartphones?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STEP 1</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Data Quality Assessment</a:t>
            </a:r>
            <a:endParaRPr lang="en-US" sz="3000" dirty="0"/>
          </a:p>
        </p:txBody>
      </p:sp>
      <p:sp>
        <p:nvSpPr>
          <p:cNvPr id="4" name="Text 2"/>
          <p:cNvSpPr/>
          <p:nvPr/>
        </p:nvSpPr>
        <p:spPr>
          <a:xfrm>
            <a:off x="640080" y="1508760"/>
            <a:ext cx="5760720" cy="731520"/>
          </a:xfrm>
          <a:prstGeom prst="rect">
            <a:avLst/>
          </a:prstGeom>
          <a:noFill/>
          <a:ln/>
        </p:spPr>
        <p:txBody>
          <a:bodyPr wrap="square" lIns="0" tIns="0" rIns="0" bIns="0" rtlCol="0" anchor="ctr"/>
          <a:lstStyle/>
          <a:p>
            <a:pPr marL="0" indent="0">
              <a:lnSpc>
                <a:spcPct val="120000"/>
              </a:lnSpc>
              <a:buNone/>
            </a:pPr>
            <a:r>
              <a:rPr lang="en-US" sz="1300" dirty="0">
                <a:solidFill>
                  <a:srgbClr val="667085"/>
                </a:solidFill>
                <a:latin typeface="Calibri" pitchFamily="34" charset="0"/>
                <a:ea typeface="Calibri" pitchFamily="34" charset="-122"/>
                <a:cs typeface="Calibri" pitchFamily="34" charset="-120"/>
              </a:rPr>
              <a:t>Before clustering, the dataset structure was verified to confirm it's ready for unsupervised analysis — missing values and duplicates can distort distance-based algorithms.</a:t>
            </a:r>
            <a:endParaRPr lang="en-US" sz="1300" dirty="0"/>
          </a:p>
        </p:txBody>
      </p:sp>
      <p:sp>
        <p:nvSpPr>
          <p:cNvPr id="5" name="Shape 3"/>
          <p:cNvSpPr/>
          <p:nvPr/>
        </p:nvSpPr>
        <p:spPr>
          <a:xfrm>
            <a:off x="640080" y="2468880"/>
            <a:ext cx="5760720" cy="960120"/>
          </a:xfrm>
          <a:prstGeom prst="rect">
            <a:avLst/>
          </a:prstGeom>
          <a:solidFill>
            <a:srgbClr val="F7F8FC"/>
          </a:solidFill>
          <a:ln/>
        </p:spPr>
      </p:sp>
      <p:sp>
        <p:nvSpPr>
          <p:cNvPr id="6" name="Shape 4"/>
          <p:cNvSpPr/>
          <p:nvPr/>
        </p:nvSpPr>
        <p:spPr>
          <a:xfrm>
            <a:off x="868680" y="2697480"/>
            <a:ext cx="502920" cy="502920"/>
          </a:xfrm>
          <a:prstGeom prst="ellipse">
            <a:avLst/>
          </a:prstGeom>
          <a:solidFill>
            <a:srgbClr val="1E9E84"/>
          </a:solidFill>
          <a:ln/>
        </p:spPr>
      </p:sp>
      <p:pic>
        <p:nvPicPr>
          <p:cNvPr id="7" name="Image 0" descr="preencoded.png"/>
          <p:cNvPicPr>
            <a:picLocks noChangeAspect="1"/>
          </p:cNvPicPr>
          <p:nvPr/>
        </p:nvPicPr>
        <p:blipFill>
          <a:blip r:embed="rId3"/>
          <a:stretch>
            <a:fillRect/>
          </a:stretch>
        </p:blipFill>
        <p:spPr>
          <a:xfrm>
            <a:off x="987552" y="2816352"/>
            <a:ext cx="274320" cy="274320"/>
          </a:xfrm>
          <a:prstGeom prst="rect">
            <a:avLst/>
          </a:prstGeom>
        </p:spPr>
      </p:pic>
      <p:sp>
        <p:nvSpPr>
          <p:cNvPr id="8" name="Text 5"/>
          <p:cNvSpPr/>
          <p:nvPr/>
        </p:nvSpPr>
        <p:spPr>
          <a:xfrm>
            <a:off x="1600200" y="2587752"/>
            <a:ext cx="2377440" cy="32004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Missing Values</a:t>
            </a:r>
            <a:endParaRPr lang="en-US" sz="1400" dirty="0"/>
          </a:p>
        </p:txBody>
      </p:sp>
      <p:sp>
        <p:nvSpPr>
          <p:cNvPr id="9" name="Text 6"/>
          <p:cNvSpPr/>
          <p:nvPr/>
        </p:nvSpPr>
        <p:spPr>
          <a:xfrm>
            <a:off x="1600200" y="2944368"/>
            <a:ext cx="2926080" cy="411480"/>
          </a:xfrm>
          <a:prstGeom prst="rect">
            <a:avLst/>
          </a:prstGeom>
          <a:noFill/>
          <a:ln/>
        </p:spPr>
        <p:txBody>
          <a:bodyPr wrap="square" lIns="0" tIns="0" rIns="0" bIns="0" rtlCol="0" anchor="ctr"/>
          <a:lstStyle/>
          <a:p>
            <a:pPr marL="0" indent="0">
              <a:buNone/>
            </a:pPr>
            <a:r>
              <a:rPr lang="en-US" sz="1050" dirty="0">
                <a:solidFill>
                  <a:srgbClr val="667085"/>
                </a:solidFill>
                <a:latin typeface="Calibri" pitchFamily="34" charset="0"/>
                <a:ea typeface="Calibri" pitchFamily="34" charset="-122"/>
                <a:cs typeface="Calibri" pitchFamily="34" charset="-120"/>
              </a:rPr>
              <a:t>No nulls across all 563 columns</a:t>
            </a:r>
            <a:endParaRPr lang="en-US" sz="1050" dirty="0"/>
          </a:p>
        </p:txBody>
      </p:sp>
      <p:sp>
        <p:nvSpPr>
          <p:cNvPr id="10" name="Text 7"/>
          <p:cNvSpPr/>
          <p:nvPr/>
        </p:nvSpPr>
        <p:spPr>
          <a:xfrm>
            <a:off x="4572000" y="2468880"/>
            <a:ext cx="1691640" cy="960120"/>
          </a:xfrm>
          <a:prstGeom prst="rect">
            <a:avLst/>
          </a:prstGeom>
          <a:noFill/>
          <a:ln/>
        </p:spPr>
        <p:txBody>
          <a:bodyPr wrap="square" lIns="0" tIns="0" rIns="0" bIns="0" rtlCol="0" anchor="ctr"/>
          <a:lstStyle/>
          <a:p>
            <a:pPr marL="0" indent="0" algn="r">
              <a:buNone/>
            </a:pPr>
            <a:r>
              <a:rPr lang="en-US" sz="2200" b="1" dirty="0">
                <a:solidFill>
                  <a:srgbClr val="1E2761"/>
                </a:solidFill>
                <a:latin typeface="Cambria" pitchFamily="34" charset="0"/>
                <a:ea typeface="Cambria" pitchFamily="34" charset="-122"/>
                <a:cs typeface="Cambria" pitchFamily="34" charset="-120"/>
              </a:rPr>
              <a:t>0</a:t>
            </a:r>
            <a:endParaRPr lang="en-US" sz="2200" dirty="0"/>
          </a:p>
        </p:txBody>
      </p:sp>
      <p:sp>
        <p:nvSpPr>
          <p:cNvPr id="11" name="Shape 8"/>
          <p:cNvSpPr/>
          <p:nvPr/>
        </p:nvSpPr>
        <p:spPr>
          <a:xfrm>
            <a:off x="640080" y="3611880"/>
            <a:ext cx="5760720" cy="960120"/>
          </a:xfrm>
          <a:prstGeom prst="rect">
            <a:avLst/>
          </a:prstGeom>
          <a:solidFill>
            <a:srgbClr val="F7F8FC"/>
          </a:solidFill>
          <a:ln/>
        </p:spPr>
      </p:sp>
      <p:sp>
        <p:nvSpPr>
          <p:cNvPr id="12" name="Shape 9"/>
          <p:cNvSpPr/>
          <p:nvPr/>
        </p:nvSpPr>
        <p:spPr>
          <a:xfrm>
            <a:off x="868680" y="3840480"/>
            <a:ext cx="502920" cy="502920"/>
          </a:xfrm>
          <a:prstGeom prst="ellipse">
            <a:avLst/>
          </a:prstGeom>
          <a:solidFill>
            <a:srgbClr val="1E9E84"/>
          </a:solidFill>
          <a:ln/>
        </p:spPr>
      </p:sp>
      <p:pic>
        <p:nvPicPr>
          <p:cNvPr id="13" name="Image 1" descr="preencoded.png"/>
          <p:cNvPicPr>
            <a:picLocks noChangeAspect="1"/>
          </p:cNvPicPr>
          <p:nvPr/>
        </p:nvPicPr>
        <p:blipFill>
          <a:blip r:embed="rId3"/>
          <a:stretch>
            <a:fillRect/>
          </a:stretch>
        </p:blipFill>
        <p:spPr>
          <a:xfrm>
            <a:off x="987552" y="3959352"/>
            <a:ext cx="274320" cy="274320"/>
          </a:xfrm>
          <a:prstGeom prst="rect">
            <a:avLst/>
          </a:prstGeom>
        </p:spPr>
      </p:pic>
      <p:sp>
        <p:nvSpPr>
          <p:cNvPr id="14" name="Text 10"/>
          <p:cNvSpPr/>
          <p:nvPr/>
        </p:nvSpPr>
        <p:spPr>
          <a:xfrm>
            <a:off x="1600200" y="3730752"/>
            <a:ext cx="2377440" cy="32004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Duplicate Rows</a:t>
            </a:r>
            <a:endParaRPr lang="en-US" sz="1400" dirty="0"/>
          </a:p>
        </p:txBody>
      </p:sp>
      <p:sp>
        <p:nvSpPr>
          <p:cNvPr id="15" name="Text 11"/>
          <p:cNvSpPr/>
          <p:nvPr/>
        </p:nvSpPr>
        <p:spPr>
          <a:xfrm>
            <a:off x="1600200" y="4087368"/>
            <a:ext cx="2926080" cy="411480"/>
          </a:xfrm>
          <a:prstGeom prst="rect">
            <a:avLst/>
          </a:prstGeom>
          <a:noFill/>
          <a:ln/>
        </p:spPr>
        <p:txBody>
          <a:bodyPr wrap="square" lIns="0" tIns="0" rIns="0" bIns="0" rtlCol="0" anchor="ctr"/>
          <a:lstStyle/>
          <a:p>
            <a:pPr marL="0" indent="0">
              <a:buNone/>
            </a:pPr>
            <a:r>
              <a:rPr lang="en-US" sz="1050" dirty="0">
                <a:solidFill>
                  <a:srgbClr val="667085"/>
                </a:solidFill>
                <a:latin typeface="Calibri" pitchFamily="34" charset="0"/>
                <a:ea typeface="Calibri" pitchFamily="34" charset="-122"/>
                <a:cs typeface="Calibri" pitchFamily="34" charset="-120"/>
              </a:rPr>
              <a:t>Every record is unique</a:t>
            </a:r>
            <a:endParaRPr lang="en-US" sz="1050" dirty="0"/>
          </a:p>
        </p:txBody>
      </p:sp>
      <p:sp>
        <p:nvSpPr>
          <p:cNvPr id="16" name="Text 12"/>
          <p:cNvSpPr/>
          <p:nvPr/>
        </p:nvSpPr>
        <p:spPr>
          <a:xfrm>
            <a:off x="4572000" y="3611880"/>
            <a:ext cx="1691640" cy="960120"/>
          </a:xfrm>
          <a:prstGeom prst="rect">
            <a:avLst/>
          </a:prstGeom>
          <a:noFill/>
          <a:ln/>
        </p:spPr>
        <p:txBody>
          <a:bodyPr wrap="square" lIns="0" tIns="0" rIns="0" bIns="0" rtlCol="0" anchor="ctr"/>
          <a:lstStyle/>
          <a:p>
            <a:pPr marL="0" indent="0" algn="r">
              <a:buNone/>
            </a:pPr>
            <a:r>
              <a:rPr lang="en-US" sz="2200" b="1" dirty="0">
                <a:solidFill>
                  <a:srgbClr val="1E2761"/>
                </a:solidFill>
                <a:latin typeface="Cambria" pitchFamily="34" charset="0"/>
                <a:ea typeface="Cambria" pitchFamily="34" charset="-122"/>
                <a:cs typeface="Cambria" pitchFamily="34" charset="-120"/>
              </a:rPr>
              <a:t>0</a:t>
            </a:r>
            <a:endParaRPr lang="en-US" sz="2200" dirty="0"/>
          </a:p>
        </p:txBody>
      </p:sp>
      <p:sp>
        <p:nvSpPr>
          <p:cNvPr id="17" name="Shape 13"/>
          <p:cNvSpPr/>
          <p:nvPr/>
        </p:nvSpPr>
        <p:spPr>
          <a:xfrm>
            <a:off x="640080" y="4754880"/>
            <a:ext cx="5760720" cy="960120"/>
          </a:xfrm>
          <a:prstGeom prst="rect">
            <a:avLst/>
          </a:prstGeom>
          <a:solidFill>
            <a:srgbClr val="F7F8FC"/>
          </a:solidFill>
          <a:ln/>
        </p:spPr>
      </p:sp>
      <p:sp>
        <p:nvSpPr>
          <p:cNvPr id="18" name="Shape 14"/>
          <p:cNvSpPr/>
          <p:nvPr/>
        </p:nvSpPr>
        <p:spPr>
          <a:xfrm>
            <a:off x="868680" y="4983480"/>
            <a:ext cx="502920" cy="502920"/>
          </a:xfrm>
          <a:prstGeom prst="ellipse">
            <a:avLst/>
          </a:prstGeom>
          <a:solidFill>
            <a:srgbClr val="1E9E84"/>
          </a:solidFill>
          <a:ln/>
        </p:spPr>
      </p:sp>
      <p:pic>
        <p:nvPicPr>
          <p:cNvPr id="19" name="Image 2" descr="preencoded.png"/>
          <p:cNvPicPr>
            <a:picLocks noChangeAspect="1"/>
          </p:cNvPicPr>
          <p:nvPr/>
        </p:nvPicPr>
        <p:blipFill>
          <a:blip r:embed="rId3"/>
          <a:stretch>
            <a:fillRect/>
          </a:stretch>
        </p:blipFill>
        <p:spPr>
          <a:xfrm>
            <a:off x="987552" y="5102352"/>
            <a:ext cx="274320" cy="274320"/>
          </a:xfrm>
          <a:prstGeom prst="rect">
            <a:avLst/>
          </a:prstGeom>
        </p:spPr>
      </p:pic>
      <p:sp>
        <p:nvSpPr>
          <p:cNvPr id="20" name="Text 15"/>
          <p:cNvSpPr/>
          <p:nvPr/>
        </p:nvSpPr>
        <p:spPr>
          <a:xfrm>
            <a:off x="1600200" y="4873752"/>
            <a:ext cx="2377440" cy="32004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Train + Test Merged</a:t>
            </a:r>
            <a:endParaRPr lang="en-US" sz="1400" dirty="0"/>
          </a:p>
        </p:txBody>
      </p:sp>
      <p:sp>
        <p:nvSpPr>
          <p:cNvPr id="21" name="Text 16"/>
          <p:cNvSpPr/>
          <p:nvPr/>
        </p:nvSpPr>
        <p:spPr>
          <a:xfrm>
            <a:off x="1600200" y="5230368"/>
            <a:ext cx="2926080" cy="411480"/>
          </a:xfrm>
          <a:prstGeom prst="rect">
            <a:avLst/>
          </a:prstGeom>
          <a:noFill/>
          <a:ln/>
        </p:spPr>
        <p:txBody>
          <a:bodyPr wrap="square" lIns="0" tIns="0" rIns="0" bIns="0" rtlCol="0" anchor="ctr"/>
          <a:lstStyle/>
          <a:p>
            <a:pPr marL="0" indent="0">
              <a:buNone/>
            </a:pPr>
            <a:r>
              <a:rPr lang="en-US" sz="1050" dirty="0">
                <a:solidFill>
                  <a:srgbClr val="667085"/>
                </a:solidFill>
                <a:latin typeface="Calibri" pitchFamily="34" charset="0"/>
                <a:ea typeface="Calibri" pitchFamily="34" charset="-122"/>
                <a:cs typeface="Calibri" pitchFamily="34" charset="-120"/>
              </a:rPr>
              <a:t>7,352 train + 2,947 test rows combined</a:t>
            </a:r>
            <a:endParaRPr lang="en-US" sz="1050" dirty="0"/>
          </a:p>
        </p:txBody>
      </p:sp>
      <p:sp>
        <p:nvSpPr>
          <p:cNvPr id="22" name="Text 17"/>
          <p:cNvSpPr/>
          <p:nvPr/>
        </p:nvSpPr>
        <p:spPr>
          <a:xfrm>
            <a:off x="4572000" y="4754880"/>
            <a:ext cx="1691640" cy="960120"/>
          </a:xfrm>
          <a:prstGeom prst="rect">
            <a:avLst/>
          </a:prstGeom>
          <a:noFill/>
          <a:ln/>
        </p:spPr>
        <p:txBody>
          <a:bodyPr wrap="square" lIns="0" tIns="0" rIns="0" bIns="0" rtlCol="0" anchor="ctr"/>
          <a:lstStyle/>
          <a:p>
            <a:pPr marL="0" indent="0" algn="r">
              <a:buNone/>
            </a:pPr>
            <a:r>
              <a:rPr lang="en-US" sz="2200" b="1" dirty="0">
                <a:solidFill>
                  <a:srgbClr val="1E2761"/>
                </a:solidFill>
                <a:latin typeface="Cambria" pitchFamily="34" charset="0"/>
                <a:ea typeface="Cambria" pitchFamily="34" charset="-122"/>
                <a:cs typeface="Cambria" pitchFamily="34" charset="-120"/>
              </a:rPr>
              <a:t>10,299</a:t>
            </a:r>
            <a:endParaRPr lang="en-US" sz="2200" dirty="0"/>
          </a:p>
        </p:txBody>
      </p:sp>
      <p:pic>
        <p:nvPicPr>
          <p:cNvPr id="23" name="Image 3" descr="/home/claude/imgs/27_activity_distribution.png"/>
          <p:cNvPicPr>
            <a:picLocks noChangeAspect="1"/>
          </p:cNvPicPr>
          <p:nvPr/>
        </p:nvPicPr>
        <p:blipFill>
          <a:blip r:embed="rId4"/>
          <a:stretch>
            <a:fillRect/>
          </a:stretch>
        </p:blipFill>
        <p:spPr>
          <a:xfrm>
            <a:off x="6263640" y="2167871"/>
            <a:ext cx="5836920" cy="3318529"/>
          </a:xfrm>
          <a:prstGeom prst="rect">
            <a:avLst/>
          </a:prstGeom>
        </p:spPr>
      </p:pic>
      <p:sp>
        <p:nvSpPr>
          <p:cNvPr id="24" name="Text 18"/>
          <p:cNvSpPr/>
          <p:nvPr/>
        </p:nvSpPr>
        <p:spPr>
          <a:xfrm>
            <a:off x="7178040" y="6172200"/>
            <a:ext cx="4572000" cy="457200"/>
          </a:xfrm>
          <a:prstGeom prst="rect">
            <a:avLst/>
          </a:prstGeom>
          <a:noFill/>
          <a:ln/>
        </p:spPr>
        <p:txBody>
          <a:bodyPr wrap="square" lIns="0" tIns="0" rIns="0" bIns="0"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Activity distribution is well balanced — no class dominates, which keeps clustering bias low.</a:t>
            </a:r>
            <a:endParaRPr lang="en-US" sz="1050" dirty="0"/>
          </a:p>
        </p:txBody>
      </p:sp>
      <p:sp>
        <p:nvSpPr>
          <p:cNvPr id="25" name="Text 19"/>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26" name="Text 20"/>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STEP 2</a:t>
            </a:r>
            <a:endParaRPr lang="en-US" sz="1200" dirty="0"/>
          </a:p>
        </p:txBody>
      </p:sp>
      <p:sp>
        <p:nvSpPr>
          <p:cNvPr id="3" name="Text 1"/>
          <p:cNvSpPr/>
          <p:nvPr/>
        </p:nvSpPr>
        <p:spPr>
          <a:xfrm>
            <a:off x="640080" y="777240"/>
            <a:ext cx="82296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Preprocessing Pipeline</a:t>
            </a:r>
            <a:endParaRPr lang="en-US" sz="3000" dirty="0"/>
          </a:p>
        </p:txBody>
      </p:sp>
      <p:sp>
        <p:nvSpPr>
          <p:cNvPr id="4" name="Shape 2"/>
          <p:cNvSpPr/>
          <p:nvPr/>
        </p:nvSpPr>
        <p:spPr>
          <a:xfrm>
            <a:off x="640080" y="1828800"/>
            <a:ext cx="2606040" cy="2743200"/>
          </a:xfrm>
          <a:prstGeom prst="rect">
            <a:avLst/>
          </a:prstGeom>
          <a:solidFill>
            <a:srgbClr val="F7F8FC"/>
          </a:solidFill>
          <a:ln/>
        </p:spPr>
      </p:sp>
      <p:sp>
        <p:nvSpPr>
          <p:cNvPr id="5" name="Text 3"/>
          <p:cNvSpPr/>
          <p:nvPr/>
        </p:nvSpPr>
        <p:spPr>
          <a:xfrm>
            <a:off x="822960" y="1993392"/>
            <a:ext cx="1097280" cy="457200"/>
          </a:xfrm>
          <a:prstGeom prst="rect">
            <a:avLst/>
          </a:prstGeom>
          <a:noFill/>
          <a:ln/>
        </p:spPr>
        <p:txBody>
          <a:bodyPr wrap="square" lIns="0" tIns="0" rIns="0" bIns="0" rtlCol="0" anchor="ctr"/>
          <a:lstStyle/>
          <a:p>
            <a:pPr marL="0" indent="0">
              <a:buNone/>
            </a:pPr>
            <a:r>
              <a:rPr lang="en-US" sz="2200" b="1" dirty="0">
                <a:solidFill>
                  <a:srgbClr val="0FB5AE"/>
                </a:solidFill>
                <a:latin typeface="Cambria" pitchFamily="34" charset="0"/>
                <a:ea typeface="Cambria" pitchFamily="34" charset="-122"/>
                <a:cs typeface="Cambria" pitchFamily="34" charset="-120"/>
              </a:rPr>
              <a:t>01</a:t>
            </a:r>
            <a:endParaRPr lang="en-US" sz="2200" dirty="0"/>
          </a:p>
        </p:txBody>
      </p:sp>
      <p:sp>
        <p:nvSpPr>
          <p:cNvPr id="6" name="Shape 4"/>
          <p:cNvSpPr/>
          <p:nvPr/>
        </p:nvSpPr>
        <p:spPr>
          <a:xfrm>
            <a:off x="822960" y="2606040"/>
            <a:ext cx="502920" cy="502920"/>
          </a:xfrm>
          <a:prstGeom prst="ellipse">
            <a:avLst/>
          </a:prstGeom>
          <a:solidFill>
            <a:srgbClr val="1E2761"/>
          </a:solidFill>
          <a:ln/>
        </p:spPr>
      </p:sp>
      <p:pic>
        <p:nvPicPr>
          <p:cNvPr id="7" name="Image 0" descr="preencoded.png"/>
          <p:cNvPicPr>
            <a:picLocks noChangeAspect="1"/>
          </p:cNvPicPr>
          <p:nvPr/>
        </p:nvPicPr>
        <p:blipFill>
          <a:blip r:embed="rId3"/>
          <a:stretch>
            <a:fillRect/>
          </a:stretch>
        </p:blipFill>
        <p:spPr>
          <a:xfrm>
            <a:off x="946404" y="2729484"/>
            <a:ext cx="256032" cy="256032"/>
          </a:xfrm>
          <a:prstGeom prst="rect">
            <a:avLst/>
          </a:prstGeom>
        </p:spPr>
      </p:pic>
      <p:sp>
        <p:nvSpPr>
          <p:cNvPr id="8" name="Text 5"/>
          <p:cNvSpPr/>
          <p:nvPr/>
        </p:nvSpPr>
        <p:spPr>
          <a:xfrm>
            <a:off x="822960" y="3291840"/>
            <a:ext cx="2240280" cy="45720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Drop Identifiers</a:t>
            </a:r>
            <a:endParaRPr lang="en-US" sz="1400" dirty="0"/>
          </a:p>
        </p:txBody>
      </p:sp>
      <p:sp>
        <p:nvSpPr>
          <p:cNvPr id="9" name="Text 6"/>
          <p:cNvSpPr/>
          <p:nvPr/>
        </p:nvSpPr>
        <p:spPr>
          <a:xfrm>
            <a:off x="822960" y="3730752"/>
            <a:ext cx="2240280" cy="777240"/>
          </a:xfrm>
          <a:prstGeom prst="rect">
            <a:avLst/>
          </a:prstGeom>
          <a:noFill/>
          <a:ln/>
        </p:spPr>
        <p:txBody>
          <a:bodyPr wrap="square" lIns="0" tIns="0" rIns="0" bIns="0" rtlCol="0" anchor="ctr"/>
          <a:lstStyle/>
          <a:p>
            <a:pPr marL="0" indent="0">
              <a:lnSpc>
                <a:spcPct val="115000"/>
              </a:lnSpc>
              <a:buNone/>
            </a:pPr>
            <a:r>
              <a:rPr lang="en-US" sz="1050" dirty="0">
                <a:solidFill>
                  <a:srgbClr val="667085"/>
                </a:solidFill>
                <a:latin typeface="Calibri" pitchFamily="34" charset="0"/>
                <a:ea typeface="Calibri" pitchFamily="34" charset="-122"/>
                <a:cs typeface="Calibri" pitchFamily="34" charset="-120"/>
              </a:rPr>
              <a:t>Remove 'subject' &amp; 'Activity' columns to isolate the 561 sensor features (X)</a:t>
            </a:r>
            <a:endParaRPr lang="en-US" sz="1050" dirty="0"/>
          </a:p>
        </p:txBody>
      </p:sp>
      <p:sp>
        <p:nvSpPr>
          <p:cNvPr id="10" name="Text 7"/>
          <p:cNvSpPr/>
          <p:nvPr/>
        </p:nvSpPr>
        <p:spPr>
          <a:xfrm>
            <a:off x="3200400" y="2971800"/>
            <a:ext cx="320040"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474720" y="1828800"/>
            <a:ext cx="2606040" cy="2743200"/>
          </a:xfrm>
          <a:prstGeom prst="rect">
            <a:avLst/>
          </a:prstGeom>
          <a:solidFill>
            <a:srgbClr val="F7F8FC"/>
          </a:solidFill>
          <a:ln/>
        </p:spPr>
      </p:sp>
      <p:sp>
        <p:nvSpPr>
          <p:cNvPr id="12" name="Text 9"/>
          <p:cNvSpPr/>
          <p:nvPr/>
        </p:nvSpPr>
        <p:spPr>
          <a:xfrm>
            <a:off x="3657600" y="1993392"/>
            <a:ext cx="1097280" cy="457200"/>
          </a:xfrm>
          <a:prstGeom prst="rect">
            <a:avLst/>
          </a:prstGeom>
          <a:noFill/>
          <a:ln/>
        </p:spPr>
        <p:txBody>
          <a:bodyPr wrap="square" lIns="0" tIns="0" rIns="0" bIns="0" rtlCol="0" anchor="ctr"/>
          <a:lstStyle/>
          <a:p>
            <a:pPr marL="0" indent="0">
              <a:buNone/>
            </a:pPr>
            <a:r>
              <a:rPr lang="en-US" sz="2200" b="1" dirty="0">
                <a:solidFill>
                  <a:srgbClr val="0FB5AE"/>
                </a:solidFill>
                <a:latin typeface="Cambria" pitchFamily="34" charset="0"/>
                <a:ea typeface="Cambria" pitchFamily="34" charset="-122"/>
                <a:cs typeface="Cambria" pitchFamily="34" charset="-120"/>
              </a:rPr>
              <a:t>02</a:t>
            </a:r>
            <a:endParaRPr lang="en-US" sz="2200" dirty="0"/>
          </a:p>
        </p:txBody>
      </p:sp>
      <p:sp>
        <p:nvSpPr>
          <p:cNvPr id="13" name="Shape 10"/>
          <p:cNvSpPr/>
          <p:nvPr/>
        </p:nvSpPr>
        <p:spPr>
          <a:xfrm>
            <a:off x="3657600" y="2606040"/>
            <a:ext cx="502920" cy="502920"/>
          </a:xfrm>
          <a:prstGeom prst="ellipse">
            <a:avLst/>
          </a:prstGeom>
          <a:solidFill>
            <a:srgbClr val="1E2761"/>
          </a:solidFill>
          <a:ln/>
        </p:spPr>
      </p:sp>
      <p:pic>
        <p:nvPicPr>
          <p:cNvPr id="14" name="Image 1" descr="preencoded.png"/>
          <p:cNvPicPr>
            <a:picLocks noChangeAspect="1"/>
          </p:cNvPicPr>
          <p:nvPr/>
        </p:nvPicPr>
        <p:blipFill>
          <a:blip r:embed="rId4"/>
          <a:stretch>
            <a:fillRect/>
          </a:stretch>
        </p:blipFill>
        <p:spPr>
          <a:xfrm>
            <a:off x="3781044" y="2729484"/>
            <a:ext cx="256032" cy="256032"/>
          </a:xfrm>
          <a:prstGeom prst="rect">
            <a:avLst/>
          </a:prstGeom>
        </p:spPr>
      </p:pic>
      <p:sp>
        <p:nvSpPr>
          <p:cNvPr id="15" name="Text 11"/>
          <p:cNvSpPr/>
          <p:nvPr/>
        </p:nvSpPr>
        <p:spPr>
          <a:xfrm>
            <a:off x="3657600" y="3291840"/>
            <a:ext cx="2240280" cy="45720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Standardize</a:t>
            </a:r>
            <a:endParaRPr lang="en-US" sz="1400" dirty="0"/>
          </a:p>
        </p:txBody>
      </p:sp>
      <p:sp>
        <p:nvSpPr>
          <p:cNvPr id="16" name="Text 12"/>
          <p:cNvSpPr/>
          <p:nvPr/>
        </p:nvSpPr>
        <p:spPr>
          <a:xfrm>
            <a:off x="3657600" y="3730752"/>
            <a:ext cx="2240280" cy="777240"/>
          </a:xfrm>
          <a:prstGeom prst="rect">
            <a:avLst/>
          </a:prstGeom>
          <a:noFill/>
          <a:ln/>
        </p:spPr>
        <p:txBody>
          <a:bodyPr wrap="square" lIns="0" tIns="0" rIns="0" bIns="0" rtlCol="0" anchor="ctr"/>
          <a:lstStyle/>
          <a:p>
            <a:pPr marL="0" indent="0">
              <a:lnSpc>
                <a:spcPct val="115000"/>
              </a:lnSpc>
              <a:buNone/>
            </a:pPr>
            <a:r>
              <a:rPr lang="en-US" sz="1050" dirty="0">
                <a:solidFill>
                  <a:srgbClr val="667085"/>
                </a:solidFill>
                <a:latin typeface="Calibri" pitchFamily="34" charset="0"/>
                <a:ea typeface="Calibri" pitchFamily="34" charset="-122"/>
                <a:cs typeface="Calibri" pitchFamily="34" charset="-120"/>
              </a:rPr>
              <a:t>StandardScaler applied — zero mean, unit variance across all features</a:t>
            </a:r>
            <a:endParaRPr lang="en-US" sz="1050" dirty="0"/>
          </a:p>
        </p:txBody>
      </p:sp>
      <p:sp>
        <p:nvSpPr>
          <p:cNvPr id="17" name="Text 13"/>
          <p:cNvSpPr/>
          <p:nvPr/>
        </p:nvSpPr>
        <p:spPr>
          <a:xfrm>
            <a:off x="6035040" y="2971800"/>
            <a:ext cx="320040"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8" name="Shape 14"/>
          <p:cNvSpPr/>
          <p:nvPr/>
        </p:nvSpPr>
        <p:spPr>
          <a:xfrm>
            <a:off x="6309360" y="1828800"/>
            <a:ext cx="2606040" cy="2743200"/>
          </a:xfrm>
          <a:prstGeom prst="rect">
            <a:avLst/>
          </a:prstGeom>
          <a:solidFill>
            <a:srgbClr val="F7F8FC"/>
          </a:solidFill>
          <a:ln/>
        </p:spPr>
      </p:sp>
      <p:sp>
        <p:nvSpPr>
          <p:cNvPr id="19" name="Text 15"/>
          <p:cNvSpPr/>
          <p:nvPr/>
        </p:nvSpPr>
        <p:spPr>
          <a:xfrm>
            <a:off x="6492240" y="1993392"/>
            <a:ext cx="1097280" cy="457200"/>
          </a:xfrm>
          <a:prstGeom prst="rect">
            <a:avLst/>
          </a:prstGeom>
          <a:noFill/>
          <a:ln/>
        </p:spPr>
        <p:txBody>
          <a:bodyPr wrap="square" lIns="0" tIns="0" rIns="0" bIns="0" rtlCol="0" anchor="ctr"/>
          <a:lstStyle/>
          <a:p>
            <a:pPr marL="0" indent="0">
              <a:buNone/>
            </a:pPr>
            <a:r>
              <a:rPr lang="en-US" sz="2200" b="1" dirty="0">
                <a:solidFill>
                  <a:srgbClr val="0FB5AE"/>
                </a:solidFill>
                <a:latin typeface="Cambria" pitchFamily="34" charset="0"/>
                <a:ea typeface="Cambria" pitchFamily="34" charset="-122"/>
                <a:cs typeface="Cambria" pitchFamily="34" charset="-120"/>
              </a:rPr>
              <a:t>03</a:t>
            </a:r>
            <a:endParaRPr lang="en-US" sz="2200" dirty="0"/>
          </a:p>
        </p:txBody>
      </p:sp>
      <p:sp>
        <p:nvSpPr>
          <p:cNvPr id="20" name="Shape 16"/>
          <p:cNvSpPr/>
          <p:nvPr/>
        </p:nvSpPr>
        <p:spPr>
          <a:xfrm>
            <a:off x="6492240" y="2606040"/>
            <a:ext cx="502920" cy="502920"/>
          </a:xfrm>
          <a:prstGeom prst="ellipse">
            <a:avLst/>
          </a:prstGeom>
          <a:solidFill>
            <a:srgbClr val="1E2761"/>
          </a:solidFill>
          <a:ln/>
        </p:spPr>
      </p:sp>
      <p:pic>
        <p:nvPicPr>
          <p:cNvPr id="21" name="Image 2" descr="preencoded.png"/>
          <p:cNvPicPr>
            <a:picLocks noChangeAspect="1"/>
          </p:cNvPicPr>
          <p:nvPr/>
        </p:nvPicPr>
        <p:blipFill>
          <a:blip r:embed="rId5"/>
          <a:stretch>
            <a:fillRect/>
          </a:stretch>
        </p:blipFill>
        <p:spPr>
          <a:xfrm>
            <a:off x="6615684" y="2729484"/>
            <a:ext cx="256032" cy="256032"/>
          </a:xfrm>
          <a:prstGeom prst="rect">
            <a:avLst/>
          </a:prstGeom>
        </p:spPr>
      </p:pic>
      <p:sp>
        <p:nvSpPr>
          <p:cNvPr id="22" name="Text 17"/>
          <p:cNvSpPr/>
          <p:nvPr/>
        </p:nvSpPr>
        <p:spPr>
          <a:xfrm>
            <a:off x="6492240" y="3291840"/>
            <a:ext cx="2240280" cy="45720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Reduce with PCA</a:t>
            </a:r>
            <a:endParaRPr lang="en-US" sz="1400" dirty="0"/>
          </a:p>
        </p:txBody>
      </p:sp>
      <p:sp>
        <p:nvSpPr>
          <p:cNvPr id="23" name="Text 18"/>
          <p:cNvSpPr/>
          <p:nvPr/>
        </p:nvSpPr>
        <p:spPr>
          <a:xfrm>
            <a:off x="6492240" y="3730752"/>
            <a:ext cx="2240280" cy="777240"/>
          </a:xfrm>
          <a:prstGeom prst="rect">
            <a:avLst/>
          </a:prstGeom>
          <a:noFill/>
          <a:ln/>
        </p:spPr>
        <p:txBody>
          <a:bodyPr wrap="square" lIns="0" tIns="0" rIns="0" bIns="0" rtlCol="0" anchor="ctr"/>
          <a:lstStyle/>
          <a:p>
            <a:pPr marL="0" indent="0">
              <a:lnSpc>
                <a:spcPct val="115000"/>
              </a:lnSpc>
              <a:buNone/>
            </a:pPr>
            <a:r>
              <a:rPr lang="en-US" sz="1050" dirty="0">
                <a:solidFill>
                  <a:srgbClr val="667085"/>
                </a:solidFill>
                <a:latin typeface="Calibri" pitchFamily="34" charset="0"/>
                <a:ea typeface="Calibri" pitchFamily="34" charset="-122"/>
                <a:cs typeface="Calibri" pitchFamily="34" charset="-120"/>
              </a:rPr>
              <a:t>Project onto principal components that retain 95% of variance</a:t>
            </a:r>
            <a:endParaRPr lang="en-US" sz="1050" dirty="0"/>
          </a:p>
        </p:txBody>
      </p:sp>
      <p:sp>
        <p:nvSpPr>
          <p:cNvPr id="24" name="Text 19"/>
          <p:cNvSpPr/>
          <p:nvPr/>
        </p:nvSpPr>
        <p:spPr>
          <a:xfrm>
            <a:off x="8869680" y="2971800"/>
            <a:ext cx="320040"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25" name="Shape 20"/>
          <p:cNvSpPr/>
          <p:nvPr/>
        </p:nvSpPr>
        <p:spPr>
          <a:xfrm>
            <a:off x="9144000" y="1828800"/>
            <a:ext cx="2606040" cy="2743200"/>
          </a:xfrm>
          <a:prstGeom prst="rect">
            <a:avLst/>
          </a:prstGeom>
          <a:solidFill>
            <a:srgbClr val="F7F8FC"/>
          </a:solidFill>
          <a:ln/>
        </p:spPr>
      </p:sp>
      <p:sp>
        <p:nvSpPr>
          <p:cNvPr id="26" name="Text 21"/>
          <p:cNvSpPr/>
          <p:nvPr/>
        </p:nvSpPr>
        <p:spPr>
          <a:xfrm>
            <a:off x="9326880" y="1993392"/>
            <a:ext cx="1097280" cy="457200"/>
          </a:xfrm>
          <a:prstGeom prst="rect">
            <a:avLst/>
          </a:prstGeom>
          <a:noFill/>
          <a:ln/>
        </p:spPr>
        <p:txBody>
          <a:bodyPr wrap="square" lIns="0" tIns="0" rIns="0" bIns="0" rtlCol="0" anchor="ctr"/>
          <a:lstStyle/>
          <a:p>
            <a:pPr marL="0" indent="0">
              <a:buNone/>
            </a:pPr>
            <a:r>
              <a:rPr lang="en-US" sz="2200" b="1" dirty="0">
                <a:solidFill>
                  <a:srgbClr val="0FB5AE"/>
                </a:solidFill>
                <a:latin typeface="Cambria" pitchFamily="34" charset="0"/>
                <a:ea typeface="Cambria" pitchFamily="34" charset="-122"/>
                <a:cs typeface="Cambria" pitchFamily="34" charset="-120"/>
              </a:rPr>
              <a:t>04</a:t>
            </a:r>
            <a:endParaRPr lang="en-US" sz="2200" dirty="0"/>
          </a:p>
        </p:txBody>
      </p:sp>
      <p:sp>
        <p:nvSpPr>
          <p:cNvPr id="27" name="Shape 22"/>
          <p:cNvSpPr/>
          <p:nvPr/>
        </p:nvSpPr>
        <p:spPr>
          <a:xfrm>
            <a:off x="9326880" y="2606040"/>
            <a:ext cx="502920" cy="502920"/>
          </a:xfrm>
          <a:prstGeom prst="ellipse">
            <a:avLst/>
          </a:prstGeom>
          <a:solidFill>
            <a:srgbClr val="1E2761"/>
          </a:solidFill>
          <a:ln/>
        </p:spPr>
      </p:sp>
      <p:pic>
        <p:nvPicPr>
          <p:cNvPr id="28" name="Image 3" descr="preencoded.png"/>
          <p:cNvPicPr>
            <a:picLocks noChangeAspect="1"/>
          </p:cNvPicPr>
          <p:nvPr/>
        </p:nvPicPr>
        <p:blipFill>
          <a:blip r:embed="rId6"/>
          <a:stretch>
            <a:fillRect/>
          </a:stretch>
        </p:blipFill>
        <p:spPr>
          <a:xfrm>
            <a:off x="9450324" y="2729484"/>
            <a:ext cx="256032" cy="256032"/>
          </a:xfrm>
          <a:prstGeom prst="rect">
            <a:avLst/>
          </a:prstGeom>
        </p:spPr>
      </p:pic>
      <p:sp>
        <p:nvSpPr>
          <p:cNvPr id="29" name="Text 23"/>
          <p:cNvSpPr/>
          <p:nvPr/>
        </p:nvSpPr>
        <p:spPr>
          <a:xfrm>
            <a:off x="9326880" y="3291840"/>
            <a:ext cx="2240280" cy="457200"/>
          </a:xfrm>
          <a:prstGeom prst="rect">
            <a:avLst/>
          </a:prstGeom>
          <a:noFill/>
          <a:ln/>
        </p:spPr>
        <p:txBody>
          <a:bodyPr wrap="square" lIns="0" tIns="0" rIns="0" bIns="0" rtlCol="0" anchor="ctr"/>
          <a:lstStyle/>
          <a:p>
            <a:pPr marL="0" indent="0">
              <a:buNone/>
            </a:pPr>
            <a:r>
              <a:rPr lang="en-US" sz="1400" b="1" dirty="0">
                <a:solidFill>
                  <a:srgbClr val="1A1F36"/>
                </a:solidFill>
                <a:latin typeface="Cambria" pitchFamily="34" charset="0"/>
                <a:ea typeface="Cambria" pitchFamily="34" charset="-122"/>
                <a:cs typeface="Cambria" pitchFamily="34" charset="-120"/>
              </a:rPr>
              <a:t>Rank Features</a:t>
            </a:r>
            <a:endParaRPr lang="en-US" sz="1400" dirty="0"/>
          </a:p>
        </p:txBody>
      </p:sp>
      <p:sp>
        <p:nvSpPr>
          <p:cNvPr id="30" name="Text 24"/>
          <p:cNvSpPr/>
          <p:nvPr/>
        </p:nvSpPr>
        <p:spPr>
          <a:xfrm>
            <a:off x="9326880" y="3730752"/>
            <a:ext cx="2240280" cy="777240"/>
          </a:xfrm>
          <a:prstGeom prst="rect">
            <a:avLst/>
          </a:prstGeom>
          <a:noFill/>
          <a:ln/>
        </p:spPr>
        <p:txBody>
          <a:bodyPr wrap="square" lIns="0" tIns="0" rIns="0" bIns="0" rtlCol="0" anchor="ctr"/>
          <a:lstStyle/>
          <a:p>
            <a:pPr marL="0" indent="0">
              <a:lnSpc>
                <a:spcPct val="115000"/>
              </a:lnSpc>
              <a:buNone/>
            </a:pPr>
            <a:r>
              <a:rPr lang="en-US" sz="1050" dirty="0">
                <a:solidFill>
                  <a:srgbClr val="667085"/>
                </a:solidFill>
                <a:latin typeface="Calibri" pitchFamily="34" charset="0"/>
                <a:ea typeface="Calibri" pitchFamily="34" charset="-122"/>
                <a:cs typeface="Calibri" pitchFamily="34" charset="-120"/>
              </a:rPr>
              <a:t>Random Forest importance highlights the most discriminative sensors</a:t>
            </a:r>
            <a:endParaRPr lang="en-US" sz="1050" dirty="0"/>
          </a:p>
        </p:txBody>
      </p:sp>
      <p:sp>
        <p:nvSpPr>
          <p:cNvPr id="31" name="Shape 25"/>
          <p:cNvSpPr/>
          <p:nvPr/>
        </p:nvSpPr>
        <p:spPr>
          <a:xfrm>
            <a:off x="640080" y="4892040"/>
            <a:ext cx="10881360" cy="1417320"/>
          </a:xfrm>
          <a:prstGeom prst="rect">
            <a:avLst/>
          </a:prstGeom>
          <a:solidFill>
            <a:srgbClr val="12173B"/>
          </a:solidFill>
          <a:ln/>
        </p:spPr>
      </p:sp>
      <p:sp>
        <p:nvSpPr>
          <p:cNvPr id="32" name="Text 26"/>
          <p:cNvSpPr/>
          <p:nvPr/>
        </p:nvSpPr>
        <p:spPr>
          <a:xfrm>
            <a:off x="914400" y="5074920"/>
            <a:ext cx="3291840" cy="502920"/>
          </a:xfrm>
          <a:prstGeom prst="rect">
            <a:avLst/>
          </a:prstGeom>
          <a:noFill/>
          <a:ln/>
        </p:spPr>
        <p:txBody>
          <a:bodyPr wrap="square" lIns="0" tIns="0" rIns="0" bIns="0" rtlCol="0" anchor="ctr"/>
          <a:lstStyle/>
          <a:p>
            <a:pPr marL="0" indent="0">
              <a:buNone/>
            </a:pPr>
            <a:r>
              <a:rPr lang="en-US" sz="1900" b="1" dirty="0">
                <a:solidFill>
                  <a:srgbClr val="0FB5AE"/>
                </a:solidFill>
                <a:latin typeface="Cambria" pitchFamily="34" charset="0"/>
                <a:ea typeface="Cambria" pitchFamily="34" charset="-122"/>
                <a:cs typeface="Cambria" pitchFamily="34" charset="-120"/>
              </a:rPr>
              <a:t>561 → 105</a:t>
            </a:r>
            <a:endParaRPr lang="en-US" sz="1900" dirty="0"/>
          </a:p>
        </p:txBody>
      </p:sp>
      <p:sp>
        <p:nvSpPr>
          <p:cNvPr id="33" name="Text 27"/>
          <p:cNvSpPr/>
          <p:nvPr/>
        </p:nvSpPr>
        <p:spPr>
          <a:xfrm>
            <a:off x="914400" y="5596128"/>
            <a:ext cx="3291840" cy="548640"/>
          </a:xfrm>
          <a:prstGeom prst="rect">
            <a:avLst/>
          </a:prstGeom>
          <a:noFill/>
          <a:ln/>
        </p:spPr>
        <p:txBody>
          <a:bodyPr wrap="square" lIns="0" tIns="0" rIns="0" bIns="0" rtlCol="0" anchor="ctr"/>
          <a:lstStyle/>
          <a:p>
            <a:pPr marL="0" indent="0">
              <a:lnSpc>
                <a:spcPct val="110000"/>
              </a:lnSpc>
              <a:buNone/>
            </a:pPr>
            <a:r>
              <a:rPr lang="en-US" sz="1050" dirty="0">
                <a:solidFill>
                  <a:srgbClr val="C7CCE8"/>
                </a:solidFill>
                <a:latin typeface="Calibri" pitchFamily="34" charset="0"/>
                <a:ea typeface="Calibri" pitchFamily="34" charset="-122"/>
                <a:cs typeface="Calibri" pitchFamily="34" charset="-120"/>
              </a:rPr>
              <a:t>Features after PCA (95% variance retained)</a:t>
            </a:r>
            <a:endParaRPr lang="en-US" sz="1050" dirty="0"/>
          </a:p>
        </p:txBody>
      </p:sp>
      <p:sp>
        <p:nvSpPr>
          <p:cNvPr id="34" name="Text 28"/>
          <p:cNvSpPr/>
          <p:nvPr/>
        </p:nvSpPr>
        <p:spPr>
          <a:xfrm>
            <a:off x="4526280" y="5074920"/>
            <a:ext cx="3291840" cy="502920"/>
          </a:xfrm>
          <a:prstGeom prst="rect">
            <a:avLst/>
          </a:prstGeom>
          <a:noFill/>
          <a:ln/>
        </p:spPr>
        <p:txBody>
          <a:bodyPr wrap="square" lIns="0" tIns="0" rIns="0" bIns="0" rtlCol="0" anchor="ctr"/>
          <a:lstStyle/>
          <a:p>
            <a:pPr marL="0" indent="0">
              <a:buNone/>
            </a:pPr>
            <a:r>
              <a:rPr lang="en-US" sz="1900" b="1" dirty="0">
                <a:solidFill>
                  <a:srgbClr val="0FB5AE"/>
                </a:solidFill>
                <a:latin typeface="Cambria" pitchFamily="34" charset="0"/>
                <a:ea typeface="Cambria" pitchFamily="34" charset="-122"/>
                <a:cs typeface="Cambria" pitchFamily="34" charset="-120"/>
              </a:rPr>
              <a:t>82%</a:t>
            </a:r>
            <a:endParaRPr lang="en-US" sz="1900" dirty="0"/>
          </a:p>
        </p:txBody>
      </p:sp>
      <p:sp>
        <p:nvSpPr>
          <p:cNvPr id="35" name="Text 29"/>
          <p:cNvSpPr/>
          <p:nvPr/>
        </p:nvSpPr>
        <p:spPr>
          <a:xfrm>
            <a:off x="4526280" y="5596128"/>
            <a:ext cx="3291840" cy="548640"/>
          </a:xfrm>
          <a:prstGeom prst="rect">
            <a:avLst/>
          </a:prstGeom>
          <a:noFill/>
          <a:ln/>
        </p:spPr>
        <p:txBody>
          <a:bodyPr wrap="square" lIns="0" tIns="0" rIns="0" bIns="0" rtlCol="0" anchor="ctr"/>
          <a:lstStyle/>
          <a:p>
            <a:pPr marL="0" indent="0">
              <a:lnSpc>
                <a:spcPct val="110000"/>
              </a:lnSpc>
              <a:buNone/>
            </a:pPr>
            <a:r>
              <a:rPr lang="en-US" sz="1050" dirty="0">
                <a:solidFill>
                  <a:srgbClr val="C7CCE8"/>
                </a:solidFill>
                <a:latin typeface="Calibri" pitchFamily="34" charset="0"/>
                <a:ea typeface="Calibri" pitchFamily="34" charset="-122"/>
                <a:cs typeface="Calibri" pitchFamily="34" charset="-120"/>
              </a:rPr>
              <a:t>Dimensionality reduction achieved</a:t>
            </a:r>
            <a:endParaRPr lang="en-US" sz="1050" dirty="0"/>
          </a:p>
        </p:txBody>
      </p:sp>
      <p:sp>
        <p:nvSpPr>
          <p:cNvPr id="36" name="Text 30"/>
          <p:cNvSpPr/>
          <p:nvPr/>
        </p:nvSpPr>
        <p:spPr>
          <a:xfrm>
            <a:off x="8138160" y="5074920"/>
            <a:ext cx="3291840" cy="502920"/>
          </a:xfrm>
          <a:prstGeom prst="rect">
            <a:avLst/>
          </a:prstGeom>
          <a:noFill/>
          <a:ln/>
        </p:spPr>
        <p:txBody>
          <a:bodyPr wrap="square" lIns="0" tIns="0" rIns="0" bIns="0" rtlCol="0" anchor="ctr"/>
          <a:lstStyle/>
          <a:p>
            <a:pPr marL="0" indent="0">
              <a:buNone/>
            </a:pPr>
            <a:r>
              <a:rPr lang="en-US" sz="1900" b="1" dirty="0">
                <a:solidFill>
                  <a:srgbClr val="0FB5AE"/>
                </a:solidFill>
                <a:latin typeface="Cambria" pitchFamily="34" charset="0"/>
                <a:ea typeface="Cambria" pitchFamily="34" charset="-122"/>
                <a:cs typeface="Cambria" pitchFamily="34" charset="-120"/>
              </a:rPr>
              <a:t>StandardScaler</a:t>
            </a:r>
            <a:endParaRPr lang="en-US" sz="1900" dirty="0"/>
          </a:p>
        </p:txBody>
      </p:sp>
      <p:sp>
        <p:nvSpPr>
          <p:cNvPr id="37" name="Text 31"/>
          <p:cNvSpPr/>
          <p:nvPr/>
        </p:nvSpPr>
        <p:spPr>
          <a:xfrm>
            <a:off x="8138160" y="5596128"/>
            <a:ext cx="3291840" cy="548640"/>
          </a:xfrm>
          <a:prstGeom prst="rect">
            <a:avLst/>
          </a:prstGeom>
          <a:noFill/>
          <a:ln/>
        </p:spPr>
        <p:txBody>
          <a:bodyPr wrap="square" lIns="0" tIns="0" rIns="0" bIns="0" rtlCol="0" anchor="ctr"/>
          <a:lstStyle/>
          <a:p>
            <a:pPr marL="0" indent="0">
              <a:lnSpc>
                <a:spcPct val="110000"/>
              </a:lnSpc>
              <a:buNone/>
            </a:pPr>
            <a:r>
              <a:rPr lang="en-US" sz="1050" dirty="0">
                <a:solidFill>
                  <a:srgbClr val="C7CCE8"/>
                </a:solidFill>
                <a:latin typeface="Calibri" pitchFamily="34" charset="0"/>
                <a:ea typeface="Calibri" pitchFamily="34" charset="-122"/>
                <a:cs typeface="Calibri" pitchFamily="34" charset="-120"/>
              </a:rPr>
              <a:t>Zero mean, unit variance normalization</a:t>
            </a:r>
            <a:endParaRPr lang="en-US" sz="1050" dirty="0"/>
          </a:p>
        </p:txBody>
      </p:sp>
      <p:sp>
        <p:nvSpPr>
          <p:cNvPr id="38" name="Text 32"/>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39" name="Text 33"/>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Dimensionality Reduction with PCA</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Compressing 561 correlated sensor features down to their essential signal</a:t>
            </a:r>
            <a:endParaRPr lang="en-US" sz="1300" dirty="0"/>
          </a:p>
        </p:txBody>
      </p:sp>
      <p:sp>
        <p:nvSpPr>
          <p:cNvPr id="5" name="Shape 2"/>
          <p:cNvSpPr/>
          <p:nvPr/>
        </p:nvSpPr>
        <p:spPr>
          <a:xfrm>
            <a:off x="457200" y="1188720"/>
            <a:ext cx="6309360" cy="4480560"/>
          </a:xfrm>
          <a:prstGeom prst="roundRect">
            <a:avLst>
              <a:gd name="adj" fmla="val 1633"/>
            </a:avLst>
          </a:prstGeom>
          <a:solidFill>
            <a:srgbClr val="FFFFFF"/>
          </a:solidFill>
          <a:ln/>
          <a:effectLst>
            <a:outerShdw blurRad="101600" dist="38100" dir="2700000" algn="bl" rotWithShape="0">
              <a:srgbClr val="0B2545">
                <a:alpha val="15000"/>
              </a:srgbClr>
            </a:outerShdw>
          </a:effectLst>
        </p:spPr>
      </p:sp>
      <p:pic>
        <p:nvPicPr>
          <p:cNvPr id="6" name="Image 1" descr="cell19_img2.png"/>
          <p:cNvPicPr>
            <a:picLocks noChangeAspect="1"/>
          </p:cNvPicPr>
          <p:nvPr/>
        </p:nvPicPr>
        <p:blipFill>
          <a:blip r:embed="rId4"/>
          <a:stretch>
            <a:fillRect/>
          </a:stretch>
        </p:blipFill>
        <p:spPr>
          <a:xfrm>
            <a:off x="594360" y="1371600"/>
            <a:ext cx="6035040" cy="4056338"/>
          </a:xfrm>
          <a:prstGeom prst="rect">
            <a:avLst/>
          </a:prstGeom>
        </p:spPr>
      </p:pic>
      <p:sp>
        <p:nvSpPr>
          <p:cNvPr id="7" name="Shape 3"/>
          <p:cNvSpPr/>
          <p:nvPr/>
        </p:nvSpPr>
        <p:spPr>
          <a:xfrm>
            <a:off x="7040880" y="1188720"/>
            <a:ext cx="4663440" cy="2011680"/>
          </a:xfrm>
          <a:prstGeom prst="roundRect">
            <a:avLst>
              <a:gd name="adj" fmla="val 3636"/>
            </a:avLst>
          </a:prstGeom>
          <a:solidFill>
            <a:srgbClr val="13315C"/>
          </a:solidFill>
          <a:ln/>
          <a:effectLst>
            <a:outerShdw blurRad="101600" dist="38100" dir="2700000" algn="bl" rotWithShape="0">
              <a:srgbClr val="0B2545">
                <a:alpha val="15000"/>
              </a:srgbClr>
            </a:outerShdw>
          </a:effectLst>
        </p:spPr>
      </p:sp>
      <p:sp>
        <p:nvSpPr>
          <p:cNvPr id="8" name="Text 4"/>
          <p:cNvSpPr/>
          <p:nvPr/>
        </p:nvSpPr>
        <p:spPr>
          <a:xfrm>
            <a:off x="7223760" y="1371600"/>
            <a:ext cx="4297680" cy="822960"/>
          </a:xfrm>
          <a:prstGeom prst="rect">
            <a:avLst/>
          </a:prstGeom>
          <a:noFill/>
          <a:ln/>
        </p:spPr>
        <p:txBody>
          <a:bodyPr wrap="square" rtlCol="0" anchor="ctr"/>
          <a:lstStyle/>
          <a:p>
            <a:pPr marL="0" indent="0">
              <a:buNone/>
            </a:pPr>
            <a:r>
              <a:rPr lang="en-US" sz="3600" b="1" dirty="0">
                <a:solidFill>
                  <a:srgbClr val="F2A541"/>
                </a:solidFill>
                <a:latin typeface="Cambria" pitchFamily="34" charset="0"/>
                <a:ea typeface="Cambria" pitchFamily="34" charset="-122"/>
                <a:cs typeface="Cambria" pitchFamily="34" charset="-120"/>
              </a:rPr>
              <a:t>561 → 105</a:t>
            </a:r>
            <a:endParaRPr lang="en-US" sz="3600" dirty="0"/>
          </a:p>
        </p:txBody>
      </p:sp>
      <p:sp>
        <p:nvSpPr>
          <p:cNvPr id="9" name="Text 5"/>
          <p:cNvSpPr/>
          <p:nvPr/>
        </p:nvSpPr>
        <p:spPr>
          <a:xfrm>
            <a:off x="7223760" y="2148840"/>
            <a:ext cx="4297680" cy="9144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components needed to retain 95% of the dataset's variance — a ~81% reduction in dimensionality.</a:t>
            </a:r>
            <a:endParaRPr lang="en-US" sz="1250" dirty="0"/>
          </a:p>
        </p:txBody>
      </p:sp>
      <p:sp>
        <p:nvSpPr>
          <p:cNvPr id="10" name="Text 6"/>
          <p:cNvSpPr/>
          <p:nvPr/>
        </p:nvSpPr>
        <p:spPr>
          <a:xfrm>
            <a:off x="7040880" y="3429000"/>
            <a:ext cx="4663440" cy="2194560"/>
          </a:xfrm>
          <a:prstGeom prst="rect">
            <a:avLst/>
          </a:prstGeom>
          <a:noFill/>
          <a:ln/>
        </p:spPr>
        <p:txBody>
          <a:bodyPr wrap="square" rtlCol="0" anchor="t"/>
          <a:lstStyle/>
          <a:p>
            <a:pPr marL="0" indent="0" algn="just">
              <a:lnSpc>
                <a:spcPct val="125000"/>
              </a:lnSpc>
              <a:buNone/>
            </a:pPr>
            <a:r>
              <a:rPr lang="en-US" sz="1300" dirty="0">
                <a:solidFill>
                  <a:srgbClr val="1B2A3D"/>
                </a:solidFill>
                <a:latin typeface="Calibri" pitchFamily="34" charset="0"/>
                <a:ea typeface="Calibri" pitchFamily="34" charset="-122"/>
                <a:cs typeface="Calibri" pitchFamily="34" charset="-120"/>
              </a:rPr>
              <a:t>The red dashed line marks the 95% variance threshold. The steep early rise confirms heavy redundancy among the 561 raw features (many are derived from the same X/Y/Z accelerometer and gyroscope signals), so a much smaller set of components captures nearly all the information.</a:t>
            </a:r>
            <a:endParaRPr lang="en-US" sz="1300" dirty="0"/>
          </a:p>
        </p:txBody>
      </p:sp>
      <p:sp>
        <p:nvSpPr>
          <p:cNvPr id="11" name="Text 7"/>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2" name="Text 8"/>
          <p:cNvSpPr/>
          <p:nvPr/>
        </p:nvSpPr>
        <p:spPr>
          <a:xfrm>
            <a:off x="11365992" y="6492240"/>
            <a:ext cx="365760" cy="228600"/>
          </a:xfrm>
          <a:prstGeom prst="rect">
            <a:avLst/>
          </a:prstGeom>
          <a:noFill/>
          <a:ln/>
        </p:spPr>
        <p:txBody>
          <a:bodyPr wrap="square" rtlCol="0" anchor="ctr"/>
          <a:lstStyle/>
          <a:p>
            <a:pPr marL="0" indent="0" algn="r">
              <a:buNone/>
            </a:pPr>
            <a:r>
              <a:rPr lang="en-US" sz="900"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FEATURE INSIGHT</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Which Sensor Signals Matter Most?</a:t>
            </a:r>
            <a:endParaRPr lang="en-US" sz="3000" dirty="0"/>
          </a:p>
        </p:txBody>
      </p:sp>
      <p:sp>
        <p:nvSpPr>
          <p:cNvPr id="4" name="Text 2"/>
          <p:cNvSpPr/>
          <p:nvPr/>
        </p:nvSpPr>
        <p:spPr>
          <a:xfrm>
            <a:off x="640080" y="1554480"/>
            <a:ext cx="5120640" cy="1554480"/>
          </a:xfrm>
          <a:prstGeom prst="rect">
            <a:avLst/>
          </a:prstGeom>
          <a:noFill/>
          <a:ln/>
        </p:spPr>
        <p:txBody>
          <a:bodyPr wrap="square" lIns="0" tIns="0" rIns="0" bIns="0" rtlCol="0" anchor="ctr"/>
          <a:lstStyle/>
          <a:p>
            <a:pPr marL="0" indent="0" algn="just">
              <a:lnSpc>
                <a:spcPct val="125000"/>
              </a:lnSpc>
              <a:buNone/>
            </a:pPr>
            <a:r>
              <a:rPr lang="en-US" sz="1250" dirty="0">
                <a:solidFill>
                  <a:srgbClr val="1A1F36"/>
                </a:solidFill>
                <a:latin typeface="Calibri" pitchFamily="34" charset="0"/>
                <a:ea typeface="Calibri" pitchFamily="34" charset="-122"/>
                <a:cs typeface="Calibri" pitchFamily="34" charset="-120"/>
              </a:rPr>
              <a:t>A Random Forest classifier (trained only to rank features, not for prediction) surfaces the top contributors. Gravity-axis acceleration dominates — it directly encodes phone orientation, which is highly diagnostic of posture (sitting vs. standing vs. laying) and motion.</a:t>
            </a:r>
            <a:endParaRPr lang="en-US" sz="1250" dirty="0"/>
          </a:p>
        </p:txBody>
      </p:sp>
      <p:sp>
        <p:nvSpPr>
          <p:cNvPr id="5" name="Shape 3"/>
          <p:cNvSpPr/>
          <p:nvPr/>
        </p:nvSpPr>
        <p:spPr>
          <a:xfrm>
            <a:off x="640080" y="3337560"/>
            <a:ext cx="5120640" cy="713232"/>
          </a:xfrm>
          <a:prstGeom prst="rect">
            <a:avLst/>
          </a:prstGeom>
          <a:solidFill>
            <a:srgbClr val="F7F8FC"/>
          </a:solidFill>
          <a:ln/>
        </p:spPr>
      </p:sp>
      <p:sp>
        <p:nvSpPr>
          <p:cNvPr id="6" name="Text 4"/>
          <p:cNvSpPr/>
          <p:nvPr/>
        </p:nvSpPr>
        <p:spPr>
          <a:xfrm>
            <a:off x="777240" y="3337560"/>
            <a:ext cx="640080" cy="713232"/>
          </a:xfrm>
          <a:prstGeom prst="rect">
            <a:avLst/>
          </a:prstGeom>
          <a:noFill/>
          <a:ln/>
        </p:spPr>
        <p:txBody>
          <a:bodyPr wrap="square" lIns="0" tIns="0" rIns="0" bIns="0" rtlCol="0" anchor="ctr"/>
          <a:lstStyle/>
          <a:p>
            <a:pPr marL="0" indent="0">
              <a:buNone/>
            </a:pPr>
            <a:r>
              <a:rPr lang="en-US" sz="1600" b="1" dirty="0">
                <a:solidFill>
                  <a:srgbClr val="0FB5AE"/>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63040" y="3337560"/>
            <a:ext cx="3017520" cy="713232"/>
          </a:xfrm>
          <a:prstGeom prst="rect">
            <a:avLst/>
          </a:prstGeom>
          <a:noFill/>
          <a:ln/>
        </p:spPr>
        <p:txBody>
          <a:bodyPr wrap="square" lIns="0" tIns="0" rIns="0" bIns="0" rtlCol="0" anchor="ctr"/>
          <a:lstStyle/>
          <a:p>
            <a:pPr marL="0" indent="0">
              <a:buNone/>
            </a:pPr>
            <a:r>
              <a:rPr lang="en-US" sz="1150" dirty="0">
                <a:solidFill>
                  <a:srgbClr val="1A1F36"/>
                </a:solidFill>
                <a:latin typeface="Calibri" pitchFamily="34" charset="0"/>
                <a:ea typeface="Calibri" pitchFamily="34" charset="-122"/>
                <a:cs typeface="Calibri" pitchFamily="34" charset="-120"/>
              </a:rPr>
              <a:t>tGravityAcc-mean()-X</a:t>
            </a:r>
            <a:endParaRPr lang="en-US" sz="1150" dirty="0"/>
          </a:p>
        </p:txBody>
      </p:sp>
      <p:sp>
        <p:nvSpPr>
          <p:cNvPr id="8" name="Text 6"/>
          <p:cNvSpPr/>
          <p:nvPr/>
        </p:nvSpPr>
        <p:spPr>
          <a:xfrm>
            <a:off x="4526280" y="3337560"/>
            <a:ext cx="1143000" cy="713232"/>
          </a:xfrm>
          <a:prstGeom prst="rect">
            <a:avLst/>
          </a:prstGeom>
          <a:noFill/>
          <a:ln/>
        </p:spPr>
        <p:txBody>
          <a:bodyPr wrap="square" lIns="0" tIns="0" rIns="0" bIns="0" rtlCol="0" anchor="ctr"/>
          <a:lstStyle/>
          <a:p>
            <a:pPr marL="0" indent="0" algn="r">
              <a:buNone/>
            </a:pPr>
            <a:r>
              <a:rPr lang="en-US" sz="1400" b="1" dirty="0">
                <a:solidFill>
                  <a:srgbClr val="1E2761"/>
                </a:solidFill>
                <a:latin typeface="Cambria" pitchFamily="34" charset="0"/>
                <a:ea typeface="Cambria" pitchFamily="34" charset="-122"/>
                <a:cs typeface="Cambria" pitchFamily="34" charset="-120"/>
              </a:rPr>
              <a:t>3.71%</a:t>
            </a:r>
            <a:endParaRPr lang="en-US" sz="1400" dirty="0"/>
          </a:p>
        </p:txBody>
      </p:sp>
      <p:sp>
        <p:nvSpPr>
          <p:cNvPr id="9" name="Shape 7"/>
          <p:cNvSpPr/>
          <p:nvPr/>
        </p:nvSpPr>
        <p:spPr>
          <a:xfrm>
            <a:off x="640080" y="4187952"/>
            <a:ext cx="5120640" cy="713232"/>
          </a:xfrm>
          <a:prstGeom prst="rect">
            <a:avLst/>
          </a:prstGeom>
          <a:solidFill>
            <a:srgbClr val="F7F8FC"/>
          </a:solidFill>
          <a:ln/>
        </p:spPr>
      </p:sp>
      <p:sp>
        <p:nvSpPr>
          <p:cNvPr id="10" name="Text 8"/>
          <p:cNvSpPr/>
          <p:nvPr/>
        </p:nvSpPr>
        <p:spPr>
          <a:xfrm>
            <a:off x="777240" y="4187952"/>
            <a:ext cx="640080" cy="713232"/>
          </a:xfrm>
          <a:prstGeom prst="rect">
            <a:avLst/>
          </a:prstGeom>
          <a:noFill/>
          <a:ln/>
        </p:spPr>
        <p:txBody>
          <a:bodyPr wrap="square" lIns="0" tIns="0" rIns="0" bIns="0" rtlCol="0" anchor="ctr"/>
          <a:lstStyle/>
          <a:p>
            <a:pPr marL="0" indent="0">
              <a:buNone/>
            </a:pPr>
            <a:r>
              <a:rPr lang="en-US" sz="1600" b="1" dirty="0">
                <a:solidFill>
                  <a:srgbClr val="0FB5AE"/>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463040" y="4187952"/>
            <a:ext cx="3017520" cy="713232"/>
          </a:xfrm>
          <a:prstGeom prst="rect">
            <a:avLst/>
          </a:prstGeom>
          <a:noFill/>
          <a:ln/>
        </p:spPr>
        <p:txBody>
          <a:bodyPr wrap="square" lIns="0" tIns="0" rIns="0" bIns="0" rtlCol="0" anchor="ctr"/>
          <a:lstStyle/>
          <a:p>
            <a:pPr marL="0" indent="0">
              <a:buNone/>
            </a:pPr>
            <a:r>
              <a:rPr lang="en-US" sz="1150" dirty="0">
                <a:solidFill>
                  <a:srgbClr val="1A1F36"/>
                </a:solidFill>
                <a:latin typeface="Calibri" pitchFamily="34" charset="0"/>
                <a:ea typeface="Calibri" pitchFamily="34" charset="-122"/>
                <a:cs typeface="Calibri" pitchFamily="34" charset="-120"/>
              </a:rPr>
              <a:t>tGravityAcc-max()-X</a:t>
            </a:r>
            <a:endParaRPr lang="en-US" sz="1150" dirty="0"/>
          </a:p>
        </p:txBody>
      </p:sp>
      <p:sp>
        <p:nvSpPr>
          <p:cNvPr id="12" name="Text 10"/>
          <p:cNvSpPr/>
          <p:nvPr/>
        </p:nvSpPr>
        <p:spPr>
          <a:xfrm>
            <a:off x="4526280" y="4187952"/>
            <a:ext cx="1143000" cy="713232"/>
          </a:xfrm>
          <a:prstGeom prst="rect">
            <a:avLst/>
          </a:prstGeom>
          <a:noFill/>
          <a:ln/>
        </p:spPr>
        <p:txBody>
          <a:bodyPr wrap="square" lIns="0" tIns="0" rIns="0" bIns="0" rtlCol="0" anchor="ctr"/>
          <a:lstStyle/>
          <a:p>
            <a:pPr marL="0" indent="0" algn="r">
              <a:buNone/>
            </a:pPr>
            <a:r>
              <a:rPr lang="en-US" sz="1400" b="1" dirty="0">
                <a:solidFill>
                  <a:srgbClr val="1E2761"/>
                </a:solidFill>
                <a:latin typeface="Cambria" pitchFamily="34" charset="0"/>
                <a:ea typeface="Cambria" pitchFamily="34" charset="-122"/>
                <a:cs typeface="Cambria" pitchFamily="34" charset="-120"/>
              </a:rPr>
              <a:t>3.29%</a:t>
            </a:r>
            <a:endParaRPr lang="en-US" sz="1400" dirty="0"/>
          </a:p>
        </p:txBody>
      </p:sp>
      <p:sp>
        <p:nvSpPr>
          <p:cNvPr id="13" name="Shape 11"/>
          <p:cNvSpPr/>
          <p:nvPr/>
        </p:nvSpPr>
        <p:spPr>
          <a:xfrm>
            <a:off x="640080" y="5038344"/>
            <a:ext cx="5120640" cy="713232"/>
          </a:xfrm>
          <a:prstGeom prst="rect">
            <a:avLst/>
          </a:prstGeom>
          <a:solidFill>
            <a:srgbClr val="F7F8FC"/>
          </a:solidFill>
          <a:ln/>
        </p:spPr>
      </p:sp>
      <p:sp>
        <p:nvSpPr>
          <p:cNvPr id="14" name="Text 12"/>
          <p:cNvSpPr/>
          <p:nvPr/>
        </p:nvSpPr>
        <p:spPr>
          <a:xfrm>
            <a:off x="777240" y="5038344"/>
            <a:ext cx="640080" cy="713232"/>
          </a:xfrm>
          <a:prstGeom prst="rect">
            <a:avLst/>
          </a:prstGeom>
          <a:noFill/>
          <a:ln/>
        </p:spPr>
        <p:txBody>
          <a:bodyPr wrap="square" lIns="0" tIns="0" rIns="0" bIns="0" rtlCol="0" anchor="ctr"/>
          <a:lstStyle/>
          <a:p>
            <a:pPr marL="0" indent="0">
              <a:buNone/>
            </a:pPr>
            <a:r>
              <a:rPr lang="en-US" sz="1600" b="1" dirty="0">
                <a:solidFill>
                  <a:srgbClr val="0FB5AE"/>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463040" y="5038344"/>
            <a:ext cx="3017520" cy="713232"/>
          </a:xfrm>
          <a:prstGeom prst="rect">
            <a:avLst/>
          </a:prstGeom>
          <a:noFill/>
          <a:ln/>
        </p:spPr>
        <p:txBody>
          <a:bodyPr wrap="square" lIns="0" tIns="0" rIns="0" bIns="0" rtlCol="0" anchor="ctr"/>
          <a:lstStyle/>
          <a:p>
            <a:pPr marL="0" indent="0">
              <a:buNone/>
            </a:pPr>
            <a:r>
              <a:rPr lang="en-US" sz="1150" dirty="0">
                <a:solidFill>
                  <a:srgbClr val="1A1F36"/>
                </a:solidFill>
                <a:latin typeface="Calibri" pitchFamily="34" charset="0"/>
                <a:ea typeface="Calibri" pitchFamily="34" charset="-122"/>
                <a:cs typeface="Calibri" pitchFamily="34" charset="-120"/>
              </a:rPr>
              <a:t>angle(X, gravityMean)</a:t>
            </a:r>
            <a:endParaRPr lang="en-US" sz="1150" dirty="0"/>
          </a:p>
        </p:txBody>
      </p:sp>
      <p:sp>
        <p:nvSpPr>
          <p:cNvPr id="16" name="Text 14"/>
          <p:cNvSpPr/>
          <p:nvPr/>
        </p:nvSpPr>
        <p:spPr>
          <a:xfrm>
            <a:off x="4526280" y="5038344"/>
            <a:ext cx="1143000" cy="713232"/>
          </a:xfrm>
          <a:prstGeom prst="rect">
            <a:avLst/>
          </a:prstGeom>
          <a:noFill/>
          <a:ln/>
        </p:spPr>
        <p:txBody>
          <a:bodyPr wrap="square" lIns="0" tIns="0" rIns="0" bIns="0" rtlCol="0" anchor="ctr"/>
          <a:lstStyle/>
          <a:p>
            <a:pPr marL="0" indent="0" algn="r">
              <a:buNone/>
            </a:pPr>
            <a:r>
              <a:rPr lang="en-US" sz="1400" b="1" dirty="0">
                <a:solidFill>
                  <a:srgbClr val="1E2761"/>
                </a:solidFill>
                <a:latin typeface="Cambria" pitchFamily="34" charset="0"/>
                <a:ea typeface="Cambria" pitchFamily="34" charset="-122"/>
                <a:cs typeface="Cambria" pitchFamily="34" charset="-120"/>
              </a:rPr>
              <a:t>3.18%</a:t>
            </a:r>
            <a:endParaRPr lang="en-US" sz="1400" dirty="0"/>
          </a:p>
        </p:txBody>
      </p:sp>
      <p:sp>
        <p:nvSpPr>
          <p:cNvPr id="17" name="Text 15"/>
          <p:cNvSpPr/>
          <p:nvPr/>
        </p:nvSpPr>
        <p:spPr>
          <a:xfrm>
            <a:off x="640080" y="5897880"/>
            <a:ext cx="5120640" cy="457200"/>
          </a:xfrm>
          <a:prstGeom prst="rect">
            <a:avLst/>
          </a:prstGeom>
          <a:noFill/>
          <a:ln/>
        </p:spPr>
        <p:txBody>
          <a:bodyPr wrap="square" lIns="0" tIns="0" rIns="0" bIns="0" rtlCol="0" anchor="ctr"/>
          <a:lstStyle/>
          <a:p>
            <a:pPr marL="0" indent="0">
              <a:buNone/>
            </a:pPr>
            <a:r>
              <a:rPr lang="en-US" sz="1000" i="1" dirty="0">
                <a:solidFill>
                  <a:srgbClr val="667085"/>
                </a:solidFill>
                <a:latin typeface="Calibri" pitchFamily="34" charset="0"/>
                <a:ea typeface="Calibri" pitchFamily="34" charset="-122"/>
                <a:cs typeface="Calibri" pitchFamily="34" charset="-120"/>
              </a:rPr>
              <a:t>Top 50 ranked features were carried forward as a curated feature subset for downstream checks.</a:t>
            </a:r>
            <a:endParaRPr lang="en-US" sz="1000" dirty="0"/>
          </a:p>
        </p:txBody>
      </p:sp>
      <p:pic>
        <p:nvPicPr>
          <p:cNvPr id="18" name="Image 0" descr="/home/claude/imgs/35_top20_features.png"/>
          <p:cNvPicPr>
            <a:picLocks noChangeAspect="1"/>
          </p:cNvPicPr>
          <p:nvPr/>
        </p:nvPicPr>
        <p:blipFill>
          <a:blip r:embed="rId3"/>
          <a:stretch>
            <a:fillRect/>
          </a:stretch>
        </p:blipFill>
        <p:spPr>
          <a:xfrm>
            <a:off x="6355080" y="2158356"/>
            <a:ext cx="5486400" cy="3638568"/>
          </a:xfrm>
          <a:prstGeom prst="rect">
            <a:avLst/>
          </a:prstGeom>
        </p:spPr>
      </p:pic>
      <p:sp>
        <p:nvSpPr>
          <p:cNvPr id="19" name="Text 1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20" name="Text 17"/>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Choosing the Number of Clusters: Elbow Method</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Top 50 most important features selected and standardized before clustering</a:t>
            </a:r>
            <a:endParaRPr lang="en-US" sz="1300" dirty="0"/>
          </a:p>
        </p:txBody>
      </p:sp>
      <p:sp>
        <p:nvSpPr>
          <p:cNvPr id="5" name="Shape 2"/>
          <p:cNvSpPr/>
          <p:nvPr/>
        </p:nvSpPr>
        <p:spPr>
          <a:xfrm>
            <a:off x="457200" y="1188720"/>
            <a:ext cx="6309360" cy="4572000"/>
          </a:xfrm>
          <a:prstGeom prst="roundRect">
            <a:avLst>
              <a:gd name="adj" fmla="val 1600"/>
            </a:avLst>
          </a:prstGeom>
          <a:solidFill>
            <a:srgbClr val="FFFFFF"/>
          </a:solidFill>
          <a:ln/>
          <a:effectLst>
            <a:outerShdw blurRad="101600" dist="38100" dir="2700000" algn="bl" rotWithShape="0">
              <a:srgbClr val="0B2545">
                <a:alpha val="15000"/>
              </a:srgbClr>
            </a:outerShdw>
          </a:effectLst>
        </p:spPr>
      </p:sp>
      <p:pic>
        <p:nvPicPr>
          <p:cNvPr id="6" name="Image 1" descr="cell26_img5.png"/>
          <p:cNvPicPr>
            <a:picLocks noChangeAspect="1"/>
          </p:cNvPicPr>
          <p:nvPr/>
        </p:nvPicPr>
        <p:blipFill>
          <a:blip r:embed="rId4"/>
          <a:stretch>
            <a:fillRect/>
          </a:stretch>
        </p:blipFill>
        <p:spPr>
          <a:xfrm>
            <a:off x="594360" y="1371600"/>
            <a:ext cx="6035040" cy="3934076"/>
          </a:xfrm>
          <a:prstGeom prst="rect">
            <a:avLst/>
          </a:prstGeom>
        </p:spPr>
      </p:pic>
      <p:sp>
        <p:nvSpPr>
          <p:cNvPr id="7" name="Shape 3"/>
          <p:cNvSpPr/>
          <p:nvPr/>
        </p:nvSpPr>
        <p:spPr>
          <a:xfrm>
            <a:off x="7040880" y="1188720"/>
            <a:ext cx="4663440" cy="1554480"/>
          </a:xfrm>
          <a:prstGeom prst="roundRect">
            <a:avLst>
              <a:gd name="adj" fmla="val 4706"/>
            </a:avLst>
          </a:prstGeom>
          <a:solidFill>
            <a:srgbClr val="13315C"/>
          </a:solidFill>
          <a:ln/>
          <a:effectLst>
            <a:outerShdw blurRad="101600" dist="38100" dir="2700000" algn="bl" rotWithShape="0">
              <a:srgbClr val="0B2545">
                <a:alpha val="15000"/>
              </a:srgbClr>
            </a:outerShdw>
          </a:effectLst>
        </p:spPr>
      </p:sp>
      <p:sp>
        <p:nvSpPr>
          <p:cNvPr id="8" name="Text 4"/>
          <p:cNvSpPr/>
          <p:nvPr/>
        </p:nvSpPr>
        <p:spPr>
          <a:xfrm>
            <a:off x="7223760" y="1325880"/>
            <a:ext cx="4297680" cy="685800"/>
          </a:xfrm>
          <a:prstGeom prst="rect">
            <a:avLst/>
          </a:prstGeom>
          <a:noFill/>
          <a:ln/>
        </p:spPr>
        <p:txBody>
          <a:bodyPr wrap="square" rtlCol="0" anchor="ctr"/>
          <a:lstStyle/>
          <a:p>
            <a:pPr marL="0" indent="0">
              <a:buNone/>
            </a:pPr>
            <a:r>
              <a:rPr lang="en-US" sz="3400" b="1" dirty="0">
                <a:solidFill>
                  <a:srgbClr val="F2A541"/>
                </a:solidFill>
                <a:latin typeface="Cambria" pitchFamily="34" charset="0"/>
                <a:ea typeface="Cambria" pitchFamily="34" charset="-122"/>
                <a:cs typeface="Cambria" pitchFamily="34" charset="-120"/>
              </a:rPr>
              <a:t>50</a:t>
            </a:r>
            <a:endParaRPr lang="en-US" sz="3400" dirty="0"/>
          </a:p>
        </p:txBody>
      </p:sp>
      <p:sp>
        <p:nvSpPr>
          <p:cNvPr id="9" name="Text 5"/>
          <p:cNvSpPr/>
          <p:nvPr/>
        </p:nvSpPr>
        <p:spPr>
          <a:xfrm>
            <a:off x="7223760" y="2011680"/>
            <a:ext cx="4297680" cy="64008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top-ranked features carried forward into clustering (down from 561 raw / 105 PCA components)</a:t>
            </a:r>
            <a:endParaRPr lang="en-US" sz="1200" dirty="0"/>
          </a:p>
        </p:txBody>
      </p:sp>
      <p:sp>
        <p:nvSpPr>
          <p:cNvPr id="10" name="Text 6"/>
          <p:cNvSpPr/>
          <p:nvPr/>
        </p:nvSpPr>
        <p:spPr>
          <a:xfrm>
            <a:off x="7040880" y="3017520"/>
            <a:ext cx="4663440" cy="2468880"/>
          </a:xfrm>
          <a:prstGeom prst="rect">
            <a:avLst/>
          </a:prstGeom>
          <a:noFill/>
          <a:ln/>
        </p:spPr>
        <p:txBody>
          <a:bodyPr wrap="square" rtlCol="0" anchor="t"/>
          <a:lstStyle/>
          <a:p>
            <a:pPr marL="0" indent="0" algn="just">
              <a:lnSpc>
                <a:spcPct val="125000"/>
              </a:lnSpc>
              <a:buNone/>
            </a:pPr>
            <a:r>
              <a:rPr lang="en-US" sz="1300" dirty="0">
                <a:solidFill>
                  <a:srgbClr val="1B2A3D"/>
                </a:solidFill>
                <a:latin typeface="Calibri" pitchFamily="34" charset="0"/>
                <a:ea typeface="Calibri" pitchFamily="34" charset="-122"/>
                <a:cs typeface="Calibri" pitchFamily="34" charset="-120"/>
              </a:rPr>
              <a:t>The inertia (within-cluster sum of squares) drops sharply from k=2 to k=4, then flattens. The visible bend around k=3–4 suggests diminishing returns from adding more clusters beyond that point — consistent with the silhouette analysis on the next slide.</a:t>
            </a:r>
            <a:endParaRPr lang="en-US" sz="1300" dirty="0"/>
          </a:p>
        </p:txBody>
      </p:sp>
      <p:sp>
        <p:nvSpPr>
          <p:cNvPr id="11" name="Text 7"/>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2" name="Text 8"/>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Silhouette Analysis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Testing k = 2 through 10 to find the best-separated clustering solution</a:t>
            </a:r>
            <a:endParaRPr lang="en-US" sz="1300" dirty="0"/>
          </a:p>
        </p:txBody>
      </p:sp>
      <p:sp>
        <p:nvSpPr>
          <p:cNvPr id="5" name="Shape 2"/>
          <p:cNvSpPr/>
          <p:nvPr/>
        </p:nvSpPr>
        <p:spPr>
          <a:xfrm>
            <a:off x="457200" y="1188720"/>
            <a:ext cx="6309360" cy="4572000"/>
          </a:xfrm>
          <a:prstGeom prst="roundRect">
            <a:avLst>
              <a:gd name="adj" fmla="val 1600"/>
            </a:avLst>
          </a:prstGeom>
          <a:solidFill>
            <a:srgbClr val="FFFFFF"/>
          </a:solidFill>
          <a:ln/>
          <a:effectLst>
            <a:outerShdw blurRad="101600" dist="38100" dir="2700000" algn="bl" rotWithShape="0">
              <a:srgbClr val="0B2545">
                <a:alpha val="15000"/>
              </a:srgbClr>
            </a:outerShdw>
          </a:effectLst>
        </p:spPr>
      </p:sp>
      <p:pic>
        <p:nvPicPr>
          <p:cNvPr id="6" name="Image 1" descr="cell27_img6.png"/>
          <p:cNvPicPr>
            <a:picLocks noChangeAspect="1"/>
          </p:cNvPicPr>
          <p:nvPr/>
        </p:nvPicPr>
        <p:blipFill>
          <a:blip r:embed="rId4"/>
          <a:stretch>
            <a:fillRect/>
          </a:stretch>
        </p:blipFill>
        <p:spPr>
          <a:xfrm>
            <a:off x="594360" y="1371600"/>
            <a:ext cx="6035040" cy="4057895"/>
          </a:xfrm>
          <a:prstGeom prst="rect">
            <a:avLst/>
          </a:prstGeom>
        </p:spPr>
      </p:pic>
      <p:graphicFrame>
        <p:nvGraphicFramePr>
          <p:cNvPr id="9" name="Table 0"/>
          <p:cNvGraphicFramePr>
            <a:graphicFrameLocks noGrp="1"/>
          </p:cNvGraphicFramePr>
          <p:nvPr/>
        </p:nvGraphicFramePr>
        <p:xfrm>
          <a:off x="7040880" y="1188720"/>
          <a:ext cx="4663440"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Silhouette</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0.4313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C729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b="1" dirty="0">
                          <a:solidFill>
                            <a:srgbClr val="1C7293"/>
                          </a:solidFill>
                          <a:latin typeface="Calibri" pitchFamily="34" charset="0"/>
                          <a:ea typeface="Calibri" pitchFamily="34" charset="-122"/>
                          <a:cs typeface="Calibri" pitchFamily="34" charset="-120"/>
                        </a:rPr>
                        <a:t>0.4459</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0.3815</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0.3572</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0.2773</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7 – 10</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200" dirty="0">
                          <a:solidFill>
                            <a:srgbClr val="1B2A3D"/>
                          </a:solidFill>
                          <a:latin typeface="Calibri" pitchFamily="34" charset="0"/>
                          <a:ea typeface="Calibri" pitchFamily="34" charset="-122"/>
                          <a:cs typeface="Calibri" pitchFamily="34" charset="-120"/>
                        </a:rPr>
                        <a:t>0.23 – 0.24</a:t>
                      </a:r>
                      <a:endParaRPr lang="en-US" sz="12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3"/>
          <p:cNvSpPr/>
          <p:nvPr/>
        </p:nvSpPr>
        <p:spPr>
          <a:xfrm>
            <a:off x="7040880" y="4069080"/>
            <a:ext cx="4663440" cy="1737360"/>
          </a:xfrm>
          <a:prstGeom prst="rect">
            <a:avLst/>
          </a:prstGeom>
          <a:noFill/>
          <a:ln/>
        </p:spPr>
        <p:txBody>
          <a:bodyPr wrap="square" rtlCol="0" anchor="t"/>
          <a:lstStyle/>
          <a:p>
            <a:pPr marL="0" indent="0" algn="just">
              <a:lnSpc>
                <a:spcPct val="120000"/>
              </a:lnSpc>
              <a:buNone/>
            </a:pPr>
            <a:r>
              <a:rPr lang="en-US" sz="1250" dirty="0">
                <a:solidFill>
                  <a:srgbClr val="1B2A3D"/>
                </a:solidFill>
                <a:latin typeface="Calibri" pitchFamily="34" charset="0"/>
                <a:ea typeface="Calibri" pitchFamily="34" charset="-122"/>
                <a:cs typeface="Calibri" pitchFamily="34" charset="-120"/>
              </a:rPr>
              <a:t>k = 3 produces the highest silhouette score (0.4459) of any tested value — higher even than k = 6, the number of true activity labels. This is the first quantitative signal that the natural cluster structure is coarser than the original labeling.</a:t>
            </a:r>
            <a:endParaRPr lang="en-US" sz="1250" dirty="0"/>
          </a:p>
        </p:txBody>
      </p:sp>
      <p:sp>
        <p:nvSpPr>
          <p:cNvPr id="7"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2173B"/>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STEP 4</a:t>
            </a:r>
            <a:endParaRPr lang="en-US" sz="1200" dirty="0"/>
          </a:p>
        </p:txBody>
      </p:sp>
      <p:sp>
        <p:nvSpPr>
          <p:cNvPr id="3" name="Text 1"/>
          <p:cNvSpPr/>
          <p:nvPr/>
        </p:nvSpPr>
        <p:spPr>
          <a:xfrm>
            <a:off x="640080" y="914400"/>
            <a:ext cx="8229600" cy="1371600"/>
          </a:xfrm>
          <a:prstGeom prst="rect">
            <a:avLst/>
          </a:prstGeom>
          <a:noFill/>
          <a:ln/>
        </p:spPr>
        <p:txBody>
          <a:bodyPr wrap="square" lIns="0" tIns="0" rIns="0" bIns="0" rtlCol="0" anchor="ctr"/>
          <a:lstStyle/>
          <a:p>
            <a:pPr marL="0" indent="0">
              <a:lnSpc>
                <a:spcPct val="105000"/>
              </a:lnSpc>
              <a:buNone/>
            </a:pPr>
            <a:r>
              <a:rPr lang="en-US" sz="3200" b="1" dirty="0">
                <a:solidFill>
                  <a:srgbClr val="FFFFFF"/>
                </a:solidFill>
                <a:latin typeface="Cambria" pitchFamily="34" charset="0"/>
                <a:ea typeface="Cambria" pitchFamily="34" charset="-122"/>
                <a:cs typeface="Cambria" pitchFamily="34" charset="-120"/>
              </a:rPr>
              <a:t>Four Clustering Algorithms,</a:t>
            </a:r>
            <a:endParaRPr lang="en-US" sz="3200" dirty="0"/>
          </a:p>
          <a:p>
            <a:pPr marL="0" indent="0">
              <a:lnSpc>
                <a:spcPct val="105000"/>
              </a:lnSpc>
              <a:buNone/>
            </a:pPr>
            <a:r>
              <a:rPr lang="en-US" sz="3200" b="1" dirty="0">
                <a:solidFill>
                  <a:srgbClr val="FFFFFF"/>
                </a:solidFill>
                <a:latin typeface="Cambria" pitchFamily="34" charset="0"/>
                <a:ea typeface="Cambria" pitchFamily="34" charset="-122"/>
                <a:cs typeface="Cambria" pitchFamily="34" charset="-120"/>
              </a:rPr>
              <a:t>One Dataset</a:t>
            </a:r>
            <a:endParaRPr lang="en-US" sz="3200" dirty="0"/>
          </a:p>
        </p:txBody>
      </p:sp>
      <p:sp>
        <p:nvSpPr>
          <p:cNvPr id="4" name="Text 2"/>
          <p:cNvSpPr/>
          <p:nvPr/>
        </p:nvSpPr>
        <p:spPr>
          <a:xfrm>
            <a:off x="640080" y="2331720"/>
            <a:ext cx="7772400" cy="822960"/>
          </a:xfrm>
          <a:prstGeom prst="rect">
            <a:avLst/>
          </a:prstGeom>
          <a:noFill/>
          <a:ln/>
        </p:spPr>
        <p:txBody>
          <a:bodyPr wrap="square" lIns="0" tIns="0" rIns="0" bIns="0" rtlCol="0" anchor="ctr"/>
          <a:lstStyle/>
          <a:p>
            <a:pPr marL="0" indent="0">
              <a:lnSpc>
                <a:spcPct val="125000"/>
              </a:lnSpc>
              <a:buNone/>
            </a:pPr>
            <a:r>
              <a:rPr lang="en-US" sz="1300" dirty="0">
                <a:solidFill>
                  <a:srgbClr val="C7CCE8"/>
                </a:solidFill>
                <a:latin typeface="Calibri" pitchFamily="34" charset="0"/>
                <a:ea typeface="Calibri" pitchFamily="34" charset="-122"/>
                <a:cs typeface="Calibri" pitchFamily="34" charset="-120"/>
              </a:rPr>
              <a:t>Each algorithm makes different assumptions about cluster shape, density, and boundaries. Running all four on the same PCA-reduced space reveals which assumptions actually fit human activity signals.</a:t>
            </a:r>
            <a:endParaRPr lang="en-US" sz="1300" dirty="0"/>
          </a:p>
        </p:txBody>
      </p:sp>
      <p:sp>
        <p:nvSpPr>
          <p:cNvPr id="5" name="Shape 3"/>
          <p:cNvSpPr/>
          <p:nvPr/>
        </p:nvSpPr>
        <p:spPr>
          <a:xfrm>
            <a:off x="640080" y="3520440"/>
            <a:ext cx="2606040" cy="2377440"/>
          </a:xfrm>
          <a:prstGeom prst="rect">
            <a:avLst/>
          </a:prstGeom>
          <a:solidFill>
            <a:srgbClr val="1B2156"/>
          </a:solidFill>
          <a:ln/>
        </p:spPr>
      </p:sp>
      <p:sp>
        <p:nvSpPr>
          <p:cNvPr id="6" name="Shape 4"/>
          <p:cNvSpPr/>
          <p:nvPr/>
        </p:nvSpPr>
        <p:spPr>
          <a:xfrm>
            <a:off x="868680" y="3794760"/>
            <a:ext cx="548640" cy="548640"/>
          </a:xfrm>
          <a:prstGeom prst="ellipse">
            <a:avLst/>
          </a:prstGeom>
          <a:solidFill>
            <a:srgbClr val="0FB5AE"/>
          </a:solidFill>
          <a:ln/>
        </p:spPr>
      </p:sp>
      <p:pic>
        <p:nvPicPr>
          <p:cNvPr id="7" name="Image 0" descr="preencoded.png"/>
          <p:cNvPicPr>
            <a:picLocks noChangeAspect="1"/>
          </p:cNvPicPr>
          <p:nvPr/>
        </p:nvPicPr>
        <p:blipFill>
          <a:blip r:embed="rId3"/>
          <a:stretch>
            <a:fillRect/>
          </a:stretch>
        </p:blipFill>
        <p:spPr>
          <a:xfrm>
            <a:off x="996696" y="3922776"/>
            <a:ext cx="292608" cy="292608"/>
          </a:xfrm>
          <a:prstGeom prst="rect">
            <a:avLst/>
          </a:prstGeom>
        </p:spPr>
      </p:pic>
      <p:sp>
        <p:nvSpPr>
          <p:cNvPr id="8" name="Text 5"/>
          <p:cNvSpPr/>
          <p:nvPr/>
        </p:nvSpPr>
        <p:spPr>
          <a:xfrm>
            <a:off x="868680" y="452628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K-Means</a:t>
            </a:r>
            <a:endParaRPr lang="en-US" sz="1600" dirty="0"/>
          </a:p>
        </p:txBody>
      </p:sp>
      <p:sp>
        <p:nvSpPr>
          <p:cNvPr id="9" name="Text 6"/>
          <p:cNvSpPr/>
          <p:nvPr/>
        </p:nvSpPr>
        <p:spPr>
          <a:xfrm>
            <a:off x="868680" y="4937760"/>
            <a:ext cx="2194560" cy="822960"/>
          </a:xfrm>
          <a:prstGeom prst="rect">
            <a:avLst/>
          </a:prstGeom>
          <a:noFill/>
          <a:ln/>
        </p:spPr>
        <p:txBody>
          <a:bodyPr wrap="square" lIns="0" tIns="0" rIns="0" bIns="0" rtlCol="0" anchor="ctr"/>
          <a:lstStyle/>
          <a:p>
            <a:pPr marL="0" indent="0">
              <a:lnSpc>
                <a:spcPct val="120000"/>
              </a:lnSpc>
              <a:buNone/>
            </a:pPr>
            <a:r>
              <a:rPr lang="en-US" sz="1050" dirty="0">
                <a:solidFill>
                  <a:srgbClr val="B9C2E8"/>
                </a:solidFill>
                <a:latin typeface="Calibri" pitchFamily="34" charset="0"/>
                <a:ea typeface="Calibri" pitchFamily="34" charset="-122"/>
                <a:cs typeface="Calibri" pitchFamily="34" charset="-120"/>
              </a:rPr>
              <a:t>Centroid-based, assumes spherical clusters</a:t>
            </a:r>
            <a:endParaRPr lang="en-US" sz="1050" dirty="0"/>
          </a:p>
        </p:txBody>
      </p:sp>
      <p:sp>
        <p:nvSpPr>
          <p:cNvPr id="10" name="Shape 7"/>
          <p:cNvSpPr/>
          <p:nvPr/>
        </p:nvSpPr>
        <p:spPr>
          <a:xfrm>
            <a:off x="3429000" y="3520440"/>
            <a:ext cx="2606040" cy="2377440"/>
          </a:xfrm>
          <a:prstGeom prst="rect">
            <a:avLst/>
          </a:prstGeom>
          <a:solidFill>
            <a:srgbClr val="1B2156"/>
          </a:solidFill>
          <a:ln/>
        </p:spPr>
      </p:sp>
      <p:sp>
        <p:nvSpPr>
          <p:cNvPr id="11" name="Shape 8"/>
          <p:cNvSpPr/>
          <p:nvPr/>
        </p:nvSpPr>
        <p:spPr>
          <a:xfrm>
            <a:off x="3657600" y="3794760"/>
            <a:ext cx="548640" cy="548640"/>
          </a:xfrm>
          <a:prstGeom prst="ellipse">
            <a:avLst/>
          </a:prstGeom>
          <a:solidFill>
            <a:srgbClr val="0FB5AE"/>
          </a:solidFill>
          <a:ln/>
        </p:spPr>
      </p:sp>
      <p:pic>
        <p:nvPicPr>
          <p:cNvPr id="12" name="Image 1" descr="preencoded.png"/>
          <p:cNvPicPr>
            <a:picLocks noChangeAspect="1"/>
          </p:cNvPicPr>
          <p:nvPr/>
        </p:nvPicPr>
        <p:blipFill>
          <a:blip r:embed="rId4"/>
          <a:stretch>
            <a:fillRect/>
          </a:stretch>
        </p:blipFill>
        <p:spPr>
          <a:xfrm>
            <a:off x="3785616" y="3922776"/>
            <a:ext cx="292608" cy="292608"/>
          </a:xfrm>
          <a:prstGeom prst="rect">
            <a:avLst/>
          </a:prstGeom>
        </p:spPr>
      </p:pic>
      <p:sp>
        <p:nvSpPr>
          <p:cNvPr id="13" name="Text 9"/>
          <p:cNvSpPr/>
          <p:nvPr/>
        </p:nvSpPr>
        <p:spPr>
          <a:xfrm>
            <a:off x="3657600" y="452628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Hierarchical</a:t>
            </a:r>
            <a:endParaRPr lang="en-US" sz="1600" dirty="0"/>
          </a:p>
        </p:txBody>
      </p:sp>
      <p:sp>
        <p:nvSpPr>
          <p:cNvPr id="14" name="Text 10"/>
          <p:cNvSpPr/>
          <p:nvPr/>
        </p:nvSpPr>
        <p:spPr>
          <a:xfrm>
            <a:off x="3657600" y="4937760"/>
            <a:ext cx="2194560" cy="822960"/>
          </a:xfrm>
          <a:prstGeom prst="rect">
            <a:avLst/>
          </a:prstGeom>
          <a:noFill/>
          <a:ln/>
        </p:spPr>
        <p:txBody>
          <a:bodyPr wrap="square" lIns="0" tIns="0" rIns="0" bIns="0" rtlCol="0" anchor="ctr"/>
          <a:lstStyle/>
          <a:p>
            <a:pPr marL="0" indent="0">
              <a:lnSpc>
                <a:spcPct val="120000"/>
              </a:lnSpc>
              <a:buNone/>
            </a:pPr>
            <a:r>
              <a:rPr lang="en-US" sz="1050" dirty="0">
                <a:solidFill>
                  <a:srgbClr val="B9C2E8"/>
                </a:solidFill>
                <a:latin typeface="Calibri" pitchFamily="34" charset="0"/>
                <a:ea typeface="Calibri" pitchFamily="34" charset="-122"/>
                <a:cs typeface="Calibri" pitchFamily="34" charset="-120"/>
              </a:rPr>
              <a:t>Builds a tree via agglomerative merging</a:t>
            </a:r>
            <a:endParaRPr lang="en-US" sz="1050" dirty="0"/>
          </a:p>
        </p:txBody>
      </p:sp>
      <p:sp>
        <p:nvSpPr>
          <p:cNvPr id="15" name="Shape 11"/>
          <p:cNvSpPr/>
          <p:nvPr/>
        </p:nvSpPr>
        <p:spPr>
          <a:xfrm>
            <a:off x="6217920" y="3520440"/>
            <a:ext cx="2606040" cy="2377440"/>
          </a:xfrm>
          <a:prstGeom prst="rect">
            <a:avLst/>
          </a:prstGeom>
          <a:solidFill>
            <a:srgbClr val="1B2156"/>
          </a:solidFill>
          <a:ln/>
        </p:spPr>
      </p:sp>
      <p:sp>
        <p:nvSpPr>
          <p:cNvPr id="16" name="Shape 12"/>
          <p:cNvSpPr/>
          <p:nvPr/>
        </p:nvSpPr>
        <p:spPr>
          <a:xfrm>
            <a:off x="6446520" y="3794760"/>
            <a:ext cx="548640" cy="548640"/>
          </a:xfrm>
          <a:prstGeom prst="ellipse">
            <a:avLst/>
          </a:prstGeom>
          <a:solidFill>
            <a:srgbClr val="0FB5AE"/>
          </a:solidFill>
          <a:ln/>
        </p:spPr>
      </p:sp>
      <p:pic>
        <p:nvPicPr>
          <p:cNvPr id="17" name="Image 2" descr="preencoded.png"/>
          <p:cNvPicPr>
            <a:picLocks noChangeAspect="1"/>
          </p:cNvPicPr>
          <p:nvPr/>
        </p:nvPicPr>
        <p:blipFill>
          <a:blip r:embed="rId5"/>
          <a:stretch>
            <a:fillRect/>
          </a:stretch>
        </p:blipFill>
        <p:spPr>
          <a:xfrm>
            <a:off x="6574536" y="3922776"/>
            <a:ext cx="292608" cy="292608"/>
          </a:xfrm>
          <a:prstGeom prst="rect">
            <a:avLst/>
          </a:prstGeom>
        </p:spPr>
      </p:pic>
      <p:sp>
        <p:nvSpPr>
          <p:cNvPr id="18" name="Text 13"/>
          <p:cNvSpPr/>
          <p:nvPr/>
        </p:nvSpPr>
        <p:spPr>
          <a:xfrm>
            <a:off x="6446520" y="452628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GMM</a:t>
            </a:r>
            <a:endParaRPr lang="en-US" sz="1600" dirty="0"/>
          </a:p>
        </p:txBody>
      </p:sp>
      <p:sp>
        <p:nvSpPr>
          <p:cNvPr id="19" name="Text 14"/>
          <p:cNvSpPr/>
          <p:nvPr/>
        </p:nvSpPr>
        <p:spPr>
          <a:xfrm>
            <a:off x="6446520" y="4937760"/>
            <a:ext cx="2194560" cy="822960"/>
          </a:xfrm>
          <a:prstGeom prst="rect">
            <a:avLst/>
          </a:prstGeom>
          <a:noFill/>
          <a:ln/>
        </p:spPr>
        <p:txBody>
          <a:bodyPr wrap="square" lIns="0" tIns="0" rIns="0" bIns="0" rtlCol="0" anchor="ctr"/>
          <a:lstStyle/>
          <a:p>
            <a:pPr marL="0" indent="0">
              <a:lnSpc>
                <a:spcPct val="120000"/>
              </a:lnSpc>
              <a:buNone/>
            </a:pPr>
            <a:r>
              <a:rPr lang="en-US" sz="1050" dirty="0">
                <a:solidFill>
                  <a:srgbClr val="B9C2E8"/>
                </a:solidFill>
                <a:latin typeface="Calibri" pitchFamily="34" charset="0"/>
                <a:ea typeface="Calibri" pitchFamily="34" charset="-122"/>
                <a:cs typeface="Calibri" pitchFamily="34" charset="-120"/>
              </a:rPr>
              <a:t>Probabilistic, soft elliptical clusters</a:t>
            </a:r>
            <a:endParaRPr lang="en-US" sz="1050" dirty="0"/>
          </a:p>
        </p:txBody>
      </p:sp>
      <p:sp>
        <p:nvSpPr>
          <p:cNvPr id="20" name="Shape 15"/>
          <p:cNvSpPr/>
          <p:nvPr/>
        </p:nvSpPr>
        <p:spPr>
          <a:xfrm>
            <a:off x="9006840" y="3520440"/>
            <a:ext cx="2606040" cy="2377440"/>
          </a:xfrm>
          <a:prstGeom prst="rect">
            <a:avLst/>
          </a:prstGeom>
          <a:solidFill>
            <a:srgbClr val="1B2156"/>
          </a:solidFill>
          <a:ln/>
        </p:spPr>
      </p:sp>
      <p:sp>
        <p:nvSpPr>
          <p:cNvPr id="21" name="Shape 16"/>
          <p:cNvSpPr/>
          <p:nvPr/>
        </p:nvSpPr>
        <p:spPr>
          <a:xfrm>
            <a:off x="9235440" y="3794760"/>
            <a:ext cx="548640" cy="548640"/>
          </a:xfrm>
          <a:prstGeom prst="ellipse">
            <a:avLst/>
          </a:prstGeom>
          <a:solidFill>
            <a:srgbClr val="0FB5AE"/>
          </a:solidFill>
          <a:ln/>
        </p:spPr>
      </p:sp>
      <p:pic>
        <p:nvPicPr>
          <p:cNvPr id="22" name="Image 3" descr="preencoded.png"/>
          <p:cNvPicPr>
            <a:picLocks noChangeAspect="1"/>
          </p:cNvPicPr>
          <p:nvPr/>
        </p:nvPicPr>
        <p:blipFill>
          <a:blip r:embed="rId6"/>
          <a:stretch>
            <a:fillRect/>
          </a:stretch>
        </p:blipFill>
        <p:spPr>
          <a:xfrm>
            <a:off x="9363456" y="3922776"/>
            <a:ext cx="292608" cy="292608"/>
          </a:xfrm>
          <a:prstGeom prst="rect">
            <a:avLst/>
          </a:prstGeom>
        </p:spPr>
      </p:pic>
      <p:sp>
        <p:nvSpPr>
          <p:cNvPr id="23" name="Text 17"/>
          <p:cNvSpPr/>
          <p:nvPr/>
        </p:nvSpPr>
        <p:spPr>
          <a:xfrm>
            <a:off x="9235440" y="4526280"/>
            <a:ext cx="219456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DBSCAN</a:t>
            </a:r>
            <a:endParaRPr lang="en-US" sz="1600" dirty="0"/>
          </a:p>
        </p:txBody>
      </p:sp>
      <p:sp>
        <p:nvSpPr>
          <p:cNvPr id="24" name="Text 18"/>
          <p:cNvSpPr/>
          <p:nvPr/>
        </p:nvSpPr>
        <p:spPr>
          <a:xfrm>
            <a:off x="9235440" y="4937760"/>
            <a:ext cx="2194560" cy="822960"/>
          </a:xfrm>
          <a:prstGeom prst="rect">
            <a:avLst/>
          </a:prstGeom>
          <a:noFill/>
          <a:ln/>
        </p:spPr>
        <p:txBody>
          <a:bodyPr wrap="square" lIns="0" tIns="0" rIns="0" bIns="0" rtlCol="0" anchor="ctr"/>
          <a:lstStyle/>
          <a:p>
            <a:pPr marL="0" indent="0">
              <a:lnSpc>
                <a:spcPct val="120000"/>
              </a:lnSpc>
              <a:buNone/>
            </a:pPr>
            <a:r>
              <a:rPr lang="en-US" sz="1050" dirty="0">
                <a:solidFill>
                  <a:srgbClr val="B9C2E8"/>
                </a:solidFill>
                <a:latin typeface="Calibri" pitchFamily="34" charset="0"/>
                <a:ea typeface="Calibri" pitchFamily="34" charset="-122"/>
                <a:cs typeface="Calibri" pitchFamily="34" charset="-120"/>
              </a:rPr>
              <a:t>Density-based, finds arbitrary shapes</a:t>
            </a:r>
            <a:endParaRPr lang="en-US" sz="1050" dirty="0"/>
          </a:p>
        </p:txBody>
      </p:sp>
      <p:sp>
        <p:nvSpPr>
          <p:cNvPr id="25" name="Text 5">
            <a:extLst>
              <a:ext uri="{FF2B5EF4-FFF2-40B4-BE49-F238E27FC236}">
                <a16:creationId xmlns:a16="http://schemas.microsoft.com/office/drawing/2014/main" id="{6EB0B923-EB39-739B-2143-9452BAB6A530}"/>
              </a:ext>
            </a:extLst>
          </p:cNvPr>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chemeClr val="bg1"/>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ALGORITHM 1 OF 4</a:t>
            </a:r>
            <a:endParaRPr lang="en-US" sz="1200" dirty="0"/>
          </a:p>
        </p:txBody>
      </p:sp>
      <p:sp>
        <p:nvSpPr>
          <p:cNvPr id="3" name="Text 1"/>
          <p:cNvSpPr/>
          <p:nvPr/>
        </p:nvSpPr>
        <p:spPr>
          <a:xfrm>
            <a:off x="640080" y="777240"/>
            <a:ext cx="54864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K-Means Clustering</a:t>
            </a:r>
            <a:endParaRPr lang="en-US" sz="3000" dirty="0"/>
          </a:p>
        </p:txBody>
      </p:sp>
      <p:pic>
        <p:nvPicPr>
          <p:cNvPr id="4" name="Image 0" descr="preencoded.png"/>
          <p:cNvPicPr>
            <a:picLocks noChangeAspect="1"/>
          </p:cNvPicPr>
          <p:nvPr/>
        </p:nvPicPr>
        <p:blipFill>
          <a:blip r:embed="rId3"/>
          <a:stretch>
            <a:fillRect/>
          </a:stretch>
        </p:blipFill>
        <p:spPr>
          <a:xfrm>
            <a:off x="9692640" y="502920"/>
            <a:ext cx="457200" cy="457200"/>
          </a:xfrm>
          <a:prstGeom prst="rect">
            <a:avLst/>
          </a:prstGeom>
        </p:spPr>
      </p:pic>
      <p:sp>
        <p:nvSpPr>
          <p:cNvPr id="5" name="Text 2"/>
          <p:cNvSpPr/>
          <p:nvPr/>
        </p:nvSpPr>
        <p:spPr>
          <a:xfrm>
            <a:off x="640080" y="1554480"/>
            <a:ext cx="5120640" cy="914400"/>
          </a:xfrm>
          <a:prstGeom prst="rect">
            <a:avLst/>
          </a:prstGeom>
          <a:noFill/>
          <a:ln/>
        </p:spPr>
        <p:txBody>
          <a:bodyPr wrap="square" lIns="0" tIns="0" rIns="0" bIns="0" rtlCol="0" anchor="ctr"/>
          <a:lstStyle/>
          <a:p>
            <a:pPr marL="0" indent="0">
              <a:lnSpc>
                <a:spcPct val="125000"/>
              </a:lnSpc>
              <a:buNone/>
            </a:pPr>
            <a:r>
              <a:rPr lang="en-US" sz="1250" dirty="0">
                <a:solidFill>
                  <a:srgbClr val="1A1F36"/>
                </a:solidFill>
                <a:latin typeface="Calibri" pitchFamily="34" charset="0"/>
                <a:ea typeface="Calibri" pitchFamily="34" charset="-122"/>
                <a:cs typeface="Calibri" pitchFamily="34" charset="-120"/>
              </a:rPr>
              <a:t>Partitions data into K=3 clusters by minimizing within-cluster variance around centroids — run on the PCA-reduced feature space.</a:t>
            </a:r>
            <a:endParaRPr lang="en-US" sz="1250" dirty="0"/>
          </a:p>
        </p:txBody>
      </p:sp>
      <p:sp>
        <p:nvSpPr>
          <p:cNvPr id="6" name="Shape 3"/>
          <p:cNvSpPr/>
          <p:nvPr/>
        </p:nvSpPr>
        <p:spPr>
          <a:xfrm>
            <a:off x="640080" y="2743200"/>
            <a:ext cx="5120640" cy="868680"/>
          </a:xfrm>
          <a:prstGeom prst="rect">
            <a:avLst/>
          </a:prstGeom>
          <a:solidFill>
            <a:srgbClr val="E3F7F5"/>
          </a:solidFill>
          <a:ln/>
        </p:spPr>
      </p:sp>
      <p:sp>
        <p:nvSpPr>
          <p:cNvPr id="7" name="Text 4"/>
          <p:cNvSpPr/>
          <p:nvPr/>
        </p:nvSpPr>
        <p:spPr>
          <a:xfrm>
            <a:off x="822960" y="2834640"/>
            <a:ext cx="2743200" cy="36576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Silhouette Score</a:t>
            </a:r>
            <a:endParaRPr lang="en-US" sz="1150" dirty="0"/>
          </a:p>
        </p:txBody>
      </p:sp>
      <p:sp>
        <p:nvSpPr>
          <p:cNvPr id="8" name="Text 5"/>
          <p:cNvSpPr/>
          <p:nvPr/>
        </p:nvSpPr>
        <p:spPr>
          <a:xfrm>
            <a:off x="822960" y="3200400"/>
            <a:ext cx="2743200" cy="365760"/>
          </a:xfrm>
          <a:prstGeom prst="rect">
            <a:avLst/>
          </a:prstGeom>
          <a:noFill/>
          <a:ln/>
        </p:spPr>
        <p:txBody>
          <a:bodyPr wrap="square" lIns="0" tIns="0" rIns="0" bIns="0" rtlCol="0" anchor="ctr"/>
          <a:lstStyle/>
          <a:p>
            <a:pPr marL="0" indent="0">
              <a:buNone/>
            </a:pPr>
            <a:r>
              <a:rPr lang="en-US" sz="950" dirty="0">
                <a:solidFill>
                  <a:srgbClr val="667085"/>
                </a:solidFill>
                <a:latin typeface="Calibri" pitchFamily="34" charset="0"/>
                <a:ea typeface="Calibri" pitchFamily="34" charset="-122"/>
                <a:cs typeface="Calibri" pitchFamily="34" charset="-120"/>
              </a:rPr>
              <a:t>Highest of all 4 algorithms</a:t>
            </a:r>
            <a:endParaRPr lang="en-US" sz="950" dirty="0"/>
          </a:p>
        </p:txBody>
      </p:sp>
      <p:sp>
        <p:nvSpPr>
          <p:cNvPr id="9" name="Text 6"/>
          <p:cNvSpPr/>
          <p:nvPr/>
        </p:nvSpPr>
        <p:spPr>
          <a:xfrm>
            <a:off x="3611880" y="2743200"/>
            <a:ext cx="2057400" cy="868680"/>
          </a:xfrm>
          <a:prstGeom prst="rect">
            <a:avLst/>
          </a:prstGeom>
          <a:noFill/>
          <a:ln/>
        </p:spPr>
        <p:txBody>
          <a:bodyPr wrap="square" lIns="0" tIns="0" rIns="0" bIns="0" rtlCol="0" anchor="ctr"/>
          <a:lstStyle/>
          <a:p>
            <a:pPr marL="0" indent="0" algn="r">
              <a:buNone/>
            </a:pPr>
            <a:r>
              <a:rPr lang="en-US" sz="1900" b="1" dirty="0">
                <a:solidFill>
                  <a:srgbClr val="1E2761"/>
                </a:solidFill>
                <a:latin typeface="Cambria" pitchFamily="34" charset="0"/>
                <a:ea typeface="Cambria" pitchFamily="34" charset="-122"/>
                <a:cs typeface="Cambria" pitchFamily="34" charset="-120"/>
              </a:rPr>
              <a:t>0.4239</a:t>
            </a:r>
            <a:endParaRPr lang="en-US" sz="1900" dirty="0"/>
          </a:p>
        </p:txBody>
      </p:sp>
      <p:sp>
        <p:nvSpPr>
          <p:cNvPr id="10" name="Shape 7"/>
          <p:cNvSpPr/>
          <p:nvPr/>
        </p:nvSpPr>
        <p:spPr>
          <a:xfrm>
            <a:off x="640080" y="3749040"/>
            <a:ext cx="5120640" cy="868680"/>
          </a:xfrm>
          <a:prstGeom prst="rect">
            <a:avLst/>
          </a:prstGeom>
          <a:solidFill>
            <a:srgbClr val="E3F7F5"/>
          </a:solidFill>
          <a:ln/>
        </p:spPr>
      </p:sp>
      <p:sp>
        <p:nvSpPr>
          <p:cNvPr id="11" name="Text 8"/>
          <p:cNvSpPr/>
          <p:nvPr/>
        </p:nvSpPr>
        <p:spPr>
          <a:xfrm>
            <a:off x="822960" y="3840480"/>
            <a:ext cx="2743200" cy="36576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Calinski-Harabasz</a:t>
            </a:r>
            <a:endParaRPr lang="en-US" sz="1150" dirty="0"/>
          </a:p>
        </p:txBody>
      </p:sp>
      <p:sp>
        <p:nvSpPr>
          <p:cNvPr id="12" name="Text 9"/>
          <p:cNvSpPr/>
          <p:nvPr/>
        </p:nvSpPr>
        <p:spPr>
          <a:xfrm>
            <a:off x="822960" y="4206240"/>
            <a:ext cx="2743200" cy="365760"/>
          </a:xfrm>
          <a:prstGeom prst="rect">
            <a:avLst/>
          </a:prstGeom>
          <a:noFill/>
          <a:ln/>
        </p:spPr>
        <p:txBody>
          <a:bodyPr wrap="square" lIns="0" tIns="0" rIns="0" bIns="0" rtlCol="0" anchor="ctr"/>
          <a:lstStyle/>
          <a:p>
            <a:pPr marL="0" indent="0">
              <a:buNone/>
            </a:pPr>
            <a:r>
              <a:rPr lang="en-US" sz="950" dirty="0">
                <a:solidFill>
                  <a:srgbClr val="667085"/>
                </a:solidFill>
                <a:latin typeface="Calibri" pitchFamily="34" charset="0"/>
                <a:ea typeface="Calibri" pitchFamily="34" charset="-122"/>
                <a:cs typeface="Calibri" pitchFamily="34" charset="-120"/>
              </a:rPr>
              <a:t>Highest of all 4 algorithms</a:t>
            </a:r>
            <a:endParaRPr lang="en-US" sz="950" dirty="0"/>
          </a:p>
        </p:txBody>
      </p:sp>
      <p:sp>
        <p:nvSpPr>
          <p:cNvPr id="13" name="Text 10"/>
          <p:cNvSpPr/>
          <p:nvPr/>
        </p:nvSpPr>
        <p:spPr>
          <a:xfrm>
            <a:off x="3611880" y="3749040"/>
            <a:ext cx="2057400" cy="868680"/>
          </a:xfrm>
          <a:prstGeom prst="rect">
            <a:avLst/>
          </a:prstGeom>
          <a:noFill/>
          <a:ln/>
        </p:spPr>
        <p:txBody>
          <a:bodyPr wrap="square" lIns="0" tIns="0" rIns="0" bIns="0" rtlCol="0" anchor="ctr"/>
          <a:lstStyle/>
          <a:p>
            <a:pPr marL="0" indent="0" algn="r">
              <a:buNone/>
            </a:pPr>
            <a:r>
              <a:rPr lang="en-US" sz="1900" b="1" dirty="0">
                <a:solidFill>
                  <a:srgbClr val="1E2761"/>
                </a:solidFill>
                <a:latin typeface="Cambria" pitchFamily="34" charset="0"/>
                <a:ea typeface="Cambria" pitchFamily="34" charset="-122"/>
                <a:cs typeface="Cambria" pitchFamily="34" charset="-120"/>
              </a:rPr>
              <a:t>9,268.6</a:t>
            </a:r>
            <a:endParaRPr lang="en-US" sz="1900" dirty="0"/>
          </a:p>
        </p:txBody>
      </p:sp>
      <p:sp>
        <p:nvSpPr>
          <p:cNvPr id="14" name="Shape 11"/>
          <p:cNvSpPr/>
          <p:nvPr/>
        </p:nvSpPr>
        <p:spPr>
          <a:xfrm>
            <a:off x="640080" y="4754880"/>
            <a:ext cx="5120640" cy="868680"/>
          </a:xfrm>
          <a:prstGeom prst="rect">
            <a:avLst/>
          </a:prstGeom>
          <a:solidFill>
            <a:srgbClr val="E3F7F5"/>
          </a:solidFill>
          <a:ln/>
        </p:spPr>
      </p:sp>
      <p:sp>
        <p:nvSpPr>
          <p:cNvPr id="15" name="Text 12"/>
          <p:cNvSpPr/>
          <p:nvPr/>
        </p:nvSpPr>
        <p:spPr>
          <a:xfrm>
            <a:off x="822960" y="4846320"/>
            <a:ext cx="2743200" cy="36576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Davies-Bouldin</a:t>
            </a:r>
            <a:endParaRPr lang="en-US" sz="1150" dirty="0"/>
          </a:p>
        </p:txBody>
      </p:sp>
      <p:sp>
        <p:nvSpPr>
          <p:cNvPr id="16" name="Text 13"/>
          <p:cNvSpPr/>
          <p:nvPr/>
        </p:nvSpPr>
        <p:spPr>
          <a:xfrm>
            <a:off x="822960" y="5212080"/>
            <a:ext cx="2743200" cy="365760"/>
          </a:xfrm>
          <a:prstGeom prst="rect">
            <a:avLst/>
          </a:prstGeom>
          <a:noFill/>
          <a:ln/>
        </p:spPr>
        <p:txBody>
          <a:bodyPr wrap="square" lIns="0" tIns="0" rIns="0" bIns="0" rtlCol="0" anchor="ctr"/>
          <a:lstStyle/>
          <a:p>
            <a:pPr marL="0" indent="0">
              <a:buNone/>
            </a:pPr>
            <a:r>
              <a:rPr lang="en-US" sz="950" dirty="0">
                <a:solidFill>
                  <a:srgbClr val="667085"/>
                </a:solidFill>
                <a:latin typeface="Calibri" pitchFamily="34" charset="0"/>
                <a:ea typeface="Calibri" pitchFamily="34" charset="-122"/>
                <a:cs typeface="Calibri" pitchFamily="34" charset="-120"/>
              </a:rPr>
              <a:t>Lowest (best) of all 4 algorithms</a:t>
            </a:r>
            <a:endParaRPr lang="en-US" sz="950" dirty="0"/>
          </a:p>
        </p:txBody>
      </p:sp>
      <p:sp>
        <p:nvSpPr>
          <p:cNvPr id="17" name="Text 14"/>
          <p:cNvSpPr/>
          <p:nvPr/>
        </p:nvSpPr>
        <p:spPr>
          <a:xfrm>
            <a:off x="3611880" y="4754880"/>
            <a:ext cx="2057400" cy="868680"/>
          </a:xfrm>
          <a:prstGeom prst="rect">
            <a:avLst/>
          </a:prstGeom>
          <a:noFill/>
          <a:ln/>
        </p:spPr>
        <p:txBody>
          <a:bodyPr wrap="square" lIns="0" tIns="0" rIns="0" bIns="0" rtlCol="0" anchor="ctr"/>
          <a:lstStyle/>
          <a:p>
            <a:pPr marL="0" indent="0" algn="r">
              <a:buNone/>
            </a:pPr>
            <a:r>
              <a:rPr lang="en-US" sz="1900" b="1" dirty="0">
                <a:solidFill>
                  <a:srgbClr val="1E2761"/>
                </a:solidFill>
                <a:latin typeface="Cambria" pitchFamily="34" charset="0"/>
                <a:ea typeface="Cambria" pitchFamily="34" charset="-122"/>
                <a:cs typeface="Cambria" pitchFamily="34" charset="-120"/>
              </a:rPr>
              <a:t>1.2948</a:t>
            </a:r>
            <a:endParaRPr lang="en-US" sz="1900" dirty="0"/>
          </a:p>
        </p:txBody>
      </p:sp>
      <p:pic>
        <p:nvPicPr>
          <p:cNvPr id="18" name="Image 1" descr="/home/claude/imgs/44_kmeans_clusters.png"/>
          <p:cNvPicPr>
            <a:picLocks noChangeAspect="1"/>
          </p:cNvPicPr>
          <p:nvPr/>
        </p:nvPicPr>
        <p:blipFill>
          <a:blip r:embed="rId4"/>
          <a:stretch>
            <a:fillRect/>
          </a:stretch>
        </p:blipFill>
        <p:spPr>
          <a:xfrm>
            <a:off x="6355080" y="2133664"/>
            <a:ext cx="5486400" cy="3642232"/>
          </a:xfrm>
          <a:prstGeom prst="rect">
            <a:avLst/>
          </a:prstGeom>
        </p:spPr>
      </p:pic>
      <p:sp>
        <p:nvSpPr>
          <p:cNvPr id="19" name="Text 15"/>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20" name="Text 16"/>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KMeans Clusters Across k Values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PCA (2-component) projections for k = 3, 4, 5, and 6</a:t>
            </a:r>
            <a:endParaRPr lang="en-US" sz="1300" dirty="0"/>
          </a:p>
        </p:txBody>
      </p:sp>
      <p:sp>
        <p:nvSpPr>
          <p:cNvPr id="5" name="Shape 2"/>
          <p:cNvSpPr/>
          <p:nvPr/>
        </p:nvSpPr>
        <p:spPr>
          <a:xfrm>
            <a:off x="457200" y="11887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6" name="Image 1" descr="cell40_img11.png"/>
          <p:cNvPicPr>
            <a:picLocks noChangeAspect="1"/>
          </p:cNvPicPr>
          <p:nvPr/>
        </p:nvPicPr>
        <p:blipFill>
          <a:blip r:embed="rId4"/>
          <a:stretch>
            <a:fillRect/>
          </a:stretch>
        </p:blipFill>
        <p:spPr>
          <a:xfrm>
            <a:off x="1982497" y="1280160"/>
            <a:ext cx="2435806" cy="1828800"/>
          </a:xfrm>
          <a:prstGeom prst="rect">
            <a:avLst/>
          </a:prstGeom>
        </p:spPr>
      </p:pic>
      <p:sp>
        <p:nvSpPr>
          <p:cNvPr id="7" name="Text 3"/>
          <p:cNvSpPr/>
          <p:nvPr/>
        </p:nvSpPr>
        <p:spPr>
          <a:xfrm>
            <a:off x="594360" y="31546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3</a:t>
            </a:r>
            <a:endParaRPr lang="en-US" sz="1100" dirty="0"/>
          </a:p>
        </p:txBody>
      </p:sp>
      <p:sp>
        <p:nvSpPr>
          <p:cNvPr id="8" name="Shape 4"/>
          <p:cNvSpPr/>
          <p:nvPr/>
        </p:nvSpPr>
        <p:spPr>
          <a:xfrm>
            <a:off x="6245352" y="11887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9" name="Image 2" descr="cell40_img12.png"/>
          <p:cNvPicPr>
            <a:picLocks noChangeAspect="1"/>
          </p:cNvPicPr>
          <p:nvPr/>
        </p:nvPicPr>
        <p:blipFill>
          <a:blip r:embed="rId5"/>
          <a:stretch>
            <a:fillRect/>
          </a:stretch>
        </p:blipFill>
        <p:spPr>
          <a:xfrm>
            <a:off x="7770649" y="1280160"/>
            <a:ext cx="2435806" cy="1828800"/>
          </a:xfrm>
          <a:prstGeom prst="rect">
            <a:avLst/>
          </a:prstGeom>
        </p:spPr>
      </p:pic>
      <p:sp>
        <p:nvSpPr>
          <p:cNvPr id="10" name="Text 5"/>
          <p:cNvSpPr/>
          <p:nvPr/>
        </p:nvSpPr>
        <p:spPr>
          <a:xfrm>
            <a:off x="6382512" y="31546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4</a:t>
            </a:r>
            <a:endParaRPr lang="en-US" sz="1100" dirty="0"/>
          </a:p>
        </p:txBody>
      </p:sp>
      <p:sp>
        <p:nvSpPr>
          <p:cNvPr id="11" name="Shape 6"/>
          <p:cNvSpPr/>
          <p:nvPr/>
        </p:nvSpPr>
        <p:spPr>
          <a:xfrm>
            <a:off x="457200" y="37033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12" name="Image 3" descr="cell40_img13.png"/>
          <p:cNvPicPr>
            <a:picLocks noChangeAspect="1"/>
          </p:cNvPicPr>
          <p:nvPr/>
        </p:nvPicPr>
        <p:blipFill>
          <a:blip r:embed="rId6"/>
          <a:stretch>
            <a:fillRect/>
          </a:stretch>
        </p:blipFill>
        <p:spPr>
          <a:xfrm>
            <a:off x="1982497" y="3794760"/>
            <a:ext cx="2435806" cy="1828800"/>
          </a:xfrm>
          <a:prstGeom prst="rect">
            <a:avLst/>
          </a:prstGeom>
        </p:spPr>
      </p:pic>
      <p:sp>
        <p:nvSpPr>
          <p:cNvPr id="13" name="Text 7"/>
          <p:cNvSpPr/>
          <p:nvPr/>
        </p:nvSpPr>
        <p:spPr>
          <a:xfrm>
            <a:off x="594360" y="56692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5</a:t>
            </a:r>
            <a:endParaRPr lang="en-US" sz="1100" dirty="0"/>
          </a:p>
        </p:txBody>
      </p:sp>
      <p:sp>
        <p:nvSpPr>
          <p:cNvPr id="14" name="Shape 8"/>
          <p:cNvSpPr/>
          <p:nvPr/>
        </p:nvSpPr>
        <p:spPr>
          <a:xfrm>
            <a:off x="6245352" y="3703320"/>
            <a:ext cx="5486400" cy="2331720"/>
          </a:xfrm>
          <a:prstGeom prst="roundRect">
            <a:avLst>
              <a:gd name="adj" fmla="val 3137"/>
            </a:avLst>
          </a:prstGeom>
          <a:solidFill>
            <a:srgbClr val="FFFFFF"/>
          </a:solidFill>
          <a:ln/>
          <a:effectLst>
            <a:outerShdw blurRad="101600" dist="38100" dir="2700000" algn="bl" rotWithShape="0">
              <a:srgbClr val="0B2545">
                <a:alpha val="15000"/>
              </a:srgbClr>
            </a:outerShdw>
          </a:effectLst>
        </p:spPr>
      </p:sp>
      <p:pic>
        <p:nvPicPr>
          <p:cNvPr id="15" name="Image 4" descr="cell40_img14.png"/>
          <p:cNvPicPr>
            <a:picLocks noChangeAspect="1"/>
          </p:cNvPicPr>
          <p:nvPr/>
        </p:nvPicPr>
        <p:blipFill>
          <a:blip r:embed="rId7"/>
          <a:stretch>
            <a:fillRect/>
          </a:stretch>
        </p:blipFill>
        <p:spPr>
          <a:xfrm>
            <a:off x="7770649" y="3794760"/>
            <a:ext cx="2435806" cy="1828800"/>
          </a:xfrm>
          <a:prstGeom prst="rect">
            <a:avLst/>
          </a:prstGeom>
        </p:spPr>
      </p:pic>
      <p:sp>
        <p:nvSpPr>
          <p:cNvPr id="16" name="Text 9"/>
          <p:cNvSpPr/>
          <p:nvPr/>
        </p:nvSpPr>
        <p:spPr>
          <a:xfrm>
            <a:off x="6382512" y="5669280"/>
            <a:ext cx="1828800" cy="274320"/>
          </a:xfrm>
          <a:prstGeom prst="rect">
            <a:avLst/>
          </a:prstGeom>
          <a:noFill/>
          <a:ln/>
        </p:spPr>
        <p:txBody>
          <a:bodyPr wrap="square" rtlCol="0" anchor="ctr"/>
          <a:lstStyle/>
          <a:p>
            <a:pPr marL="0" indent="0">
              <a:buNone/>
            </a:pPr>
            <a:r>
              <a:rPr lang="en-US" sz="1100" b="1" dirty="0">
                <a:solidFill>
                  <a:srgbClr val="13315C"/>
                </a:solidFill>
                <a:latin typeface="Calibri" pitchFamily="34" charset="0"/>
                <a:ea typeface="Calibri" pitchFamily="34" charset="-122"/>
                <a:cs typeface="Calibri" pitchFamily="34" charset="-120"/>
              </a:rPr>
              <a:t>k = 6</a:t>
            </a:r>
            <a:endParaRPr lang="en-US" sz="1100" dirty="0"/>
          </a:p>
        </p:txBody>
      </p:sp>
      <p:sp>
        <p:nvSpPr>
          <p:cNvPr id="17" name="Text 10"/>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8" name="Text 11"/>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ALGORITHM 2 OF 4</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Hierarchical (Agglomerative) Clustering</a:t>
            </a:r>
            <a:endParaRPr lang="en-US" sz="3000" dirty="0"/>
          </a:p>
        </p:txBody>
      </p:sp>
      <p:pic>
        <p:nvPicPr>
          <p:cNvPr id="4" name="Image 0" descr="preencoded.png"/>
          <p:cNvPicPr>
            <a:picLocks noChangeAspect="1"/>
          </p:cNvPicPr>
          <p:nvPr/>
        </p:nvPicPr>
        <p:blipFill>
          <a:blip r:embed="rId3"/>
          <a:stretch>
            <a:fillRect/>
          </a:stretch>
        </p:blipFill>
        <p:spPr>
          <a:xfrm>
            <a:off x="10332720" y="502920"/>
            <a:ext cx="457200" cy="457200"/>
          </a:xfrm>
          <a:prstGeom prst="rect">
            <a:avLst/>
          </a:prstGeom>
        </p:spPr>
      </p:pic>
      <p:sp>
        <p:nvSpPr>
          <p:cNvPr id="5" name="Text 2"/>
          <p:cNvSpPr/>
          <p:nvPr/>
        </p:nvSpPr>
        <p:spPr>
          <a:xfrm>
            <a:off x="640080" y="1554480"/>
            <a:ext cx="10881360" cy="640080"/>
          </a:xfrm>
          <a:prstGeom prst="rect">
            <a:avLst/>
          </a:prstGeom>
          <a:noFill/>
          <a:ln/>
        </p:spPr>
        <p:txBody>
          <a:bodyPr wrap="square" lIns="0" tIns="0" rIns="0" bIns="0" rtlCol="0" anchor="ctr"/>
          <a:lstStyle/>
          <a:p>
            <a:pPr marL="0" indent="0">
              <a:lnSpc>
                <a:spcPct val="125000"/>
              </a:lnSpc>
              <a:buNone/>
            </a:pPr>
            <a:r>
              <a:rPr lang="en-US" sz="1250" dirty="0">
                <a:solidFill>
                  <a:srgbClr val="1A1F36"/>
                </a:solidFill>
                <a:latin typeface="Calibri" pitchFamily="34" charset="0"/>
                <a:ea typeface="Calibri" pitchFamily="34" charset="-122"/>
                <a:cs typeface="Calibri" pitchFamily="34" charset="-120"/>
              </a:rPr>
              <a:t>Ward-linkage clustering builds a tree of merges from the bottom up. Since the full dataset (10,299 rows) is too large for an efficient distance matrix, a random sample of 3,000 rows was used for the dendrogram.</a:t>
            </a:r>
            <a:endParaRPr lang="en-US" sz="1250" dirty="0"/>
          </a:p>
        </p:txBody>
      </p:sp>
      <p:pic>
        <p:nvPicPr>
          <p:cNvPr id="6" name="Image 1" descr="/home/claude/imgs/48_dendrogram.png"/>
          <p:cNvPicPr>
            <a:picLocks noChangeAspect="1"/>
          </p:cNvPicPr>
          <p:nvPr/>
        </p:nvPicPr>
        <p:blipFill>
          <a:blip r:embed="rId4"/>
          <a:stretch>
            <a:fillRect/>
          </a:stretch>
        </p:blipFill>
        <p:spPr>
          <a:xfrm>
            <a:off x="906211" y="2377440"/>
            <a:ext cx="6782937" cy="3657600"/>
          </a:xfrm>
          <a:prstGeom prst="rect">
            <a:avLst/>
          </a:prstGeom>
        </p:spPr>
      </p:pic>
      <p:sp>
        <p:nvSpPr>
          <p:cNvPr id="7" name="Text 3"/>
          <p:cNvSpPr/>
          <p:nvPr/>
        </p:nvSpPr>
        <p:spPr>
          <a:xfrm>
            <a:off x="640080" y="6080760"/>
            <a:ext cx="7315200" cy="320040"/>
          </a:xfrm>
          <a:prstGeom prst="rect">
            <a:avLst/>
          </a:prstGeom>
          <a:noFill/>
          <a:ln/>
        </p:spPr>
        <p:txBody>
          <a:bodyPr wrap="square" lIns="0" tIns="0" rIns="0" bIns="0"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Dendrogram (Ward linkage, truncated to 5 levels) — branch heights show merge distance</a:t>
            </a:r>
            <a:endParaRPr lang="en-US" sz="1000" dirty="0"/>
          </a:p>
        </p:txBody>
      </p:sp>
      <p:sp>
        <p:nvSpPr>
          <p:cNvPr id="8" name="Shape 4"/>
          <p:cNvSpPr/>
          <p:nvPr/>
        </p:nvSpPr>
        <p:spPr>
          <a:xfrm>
            <a:off x="8229600" y="2468880"/>
            <a:ext cx="3337560" cy="777240"/>
          </a:xfrm>
          <a:prstGeom prst="rect">
            <a:avLst/>
          </a:prstGeom>
          <a:solidFill>
            <a:srgbClr val="F7F8FC"/>
          </a:solidFill>
          <a:ln/>
        </p:spPr>
      </p:sp>
      <p:sp>
        <p:nvSpPr>
          <p:cNvPr id="9" name="Text 5"/>
          <p:cNvSpPr/>
          <p:nvPr/>
        </p:nvSpPr>
        <p:spPr>
          <a:xfrm>
            <a:off x="8412480" y="2468880"/>
            <a:ext cx="1828800" cy="777240"/>
          </a:xfrm>
          <a:prstGeom prst="rect">
            <a:avLst/>
          </a:prstGeom>
          <a:noFill/>
          <a:ln/>
        </p:spPr>
        <p:txBody>
          <a:bodyPr wrap="square" lIns="0" tIns="0" rIns="0" bIns="0" rtlCol="0" anchor="ctr"/>
          <a:lstStyle/>
          <a:p>
            <a:pPr marL="0" indent="0">
              <a:buNone/>
            </a:pPr>
            <a:r>
              <a:rPr lang="en-US" sz="1100" dirty="0">
                <a:solidFill>
                  <a:srgbClr val="667085"/>
                </a:solidFill>
                <a:latin typeface="Calibri" pitchFamily="34" charset="0"/>
                <a:ea typeface="Calibri" pitchFamily="34" charset="-122"/>
                <a:cs typeface="Calibri" pitchFamily="34" charset="-120"/>
              </a:rPr>
              <a:t>Silhouette Score</a:t>
            </a:r>
            <a:endParaRPr lang="en-US" sz="1100" dirty="0"/>
          </a:p>
        </p:txBody>
      </p:sp>
      <p:sp>
        <p:nvSpPr>
          <p:cNvPr id="10" name="Text 6"/>
          <p:cNvSpPr/>
          <p:nvPr/>
        </p:nvSpPr>
        <p:spPr>
          <a:xfrm>
            <a:off x="10058400" y="2468880"/>
            <a:ext cx="1371600" cy="777240"/>
          </a:xfrm>
          <a:prstGeom prst="rect">
            <a:avLst/>
          </a:prstGeom>
          <a:noFill/>
          <a:ln/>
        </p:spPr>
        <p:txBody>
          <a:bodyPr wrap="square" lIns="0" tIns="0" rIns="0" bIns="0" rtlCol="0" anchor="ctr"/>
          <a:lstStyle/>
          <a:p>
            <a:pPr marL="0" indent="0" algn="r">
              <a:buNone/>
            </a:pPr>
            <a:r>
              <a:rPr lang="en-US" sz="1600" b="1" dirty="0">
                <a:solidFill>
                  <a:srgbClr val="1E2761"/>
                </a:solidFill>
                <a:latin typeface="Cambria" pitchFamily="34" charset="0"/>
                <a:ea typeface="Cambria" pitchFamily="34" charset="-122"/>
                <a:cs typeface="Cambria" pitchFamily="34" charset="-120"/>
              </a:rPr>
              <a:t>0.2932</a:t>
            </a:r>
            <a:endParaRPr lang="en-US" sz="1600" dirty="0"/>
          </a:p>
        </p:txBody>
      </p:sp>
      <p:sp>
        <p:nvSpPr>
          <p:cNvPr id="11" name="Shape 7"/>
          <p:cNvSpPr/>
          <p:nvPr/>
        </p:nvSpPr>
        <p:spPr>
          <a:xfrm>
            <a:off x="8229600" y="3383280"/>
            <a:ext cx="3337560" cy="777240"/>
          </a:xfrm>
          <a:prstGeom prst="rect">
            <a:avLst/>
          </a:prstGeom>
          <a:solidFill>
            <a:srgbClr val="F7F8FC"/>
          </a:solidFill>
          <a:ln/>
        </p:spPr>
      </p:sp>
      <p:sp>
        <p:nvSpPr>
          <p:cNvPr id="12" name="Text 8"/>
          <p:cNvSpPr/>
          <p:nvPr/>
        </p:nvSpPr>
        <p:spPr>
          <a:xfrm>
            <a:off x="8412480" y="3383280"/>
            <a:ext cx="1828800" cy="777240"/>
          </a:xfrm>
          <a:prstGeom prst="rect">
            <a:avLst/>
          </a:prstGeom>
          <a:noFill/>
          <a:ln/>
        </p:spPr>
        <p:txBody>
          <a:bodyPr wrap="square" lIns="0" tIns="0" rIns="0" bIns="0" rtlCol="0" anchor="ctr"/>
          <a:lstStyle/>
          <a:p>
            <a:pPr marL="0" indent="0">
              <a:buNone/>
            </a:pPr>
            <a:r>
              <a:rPr lang="en-US" sz="1100" dirty="0">
                <a:solidFill>
                  <a:srgbClr val="667085"/>
                </a:solidFill>
                <a:latin typeface="Calibri" pitchFamily="34" charset="0"/>
                <a:ea typeface="Calibri" pitchFamily="34" charset="-122"/>
                <a:cs typeface="Calibri" pitchFamily="34" charset="-120"/>
              </a:rPr>
              <a:t>Calinski-Harabasz</a:t>
            </a:r>
            <a:endParaRPr lang="en-US" sz="1100" dirty="0"/>
          </a:p>
        </p:txBody>
      </p:sp>
      <p:sp>
        <p:nvSpPr>
          <p:cNvPr id="13" name="Text 9"/>
          <p:cNvSpPr/>
          <p:nvPr/>
        </p:nvSpPr>
        <p:spPr>
          <a:xfrm>
            <a:off x="10058400" y="3383280"/>
            <a:ext cx="1371600" cy="777240"/>
          </a:xfrm>
          <a:prstGeom prst="rect">
            <a:avLst/>
          </a:prstGeom>
          <a:noFill/>
          <a:ln/>
        </p:spPr>
        <p:txBody>
          <a:bodyPr wrap="square" lIns="0" tIns="0" rIns="0" bIns="0" rtlCol="0" anchor="ctr"/>
          <a:lstStyle/>
          <a:p>
            <a:pPr marL="0" indent="0" algn="r">
              <a:buNone/>
            </a:pPr>
            <a:r>
              <a:rPr lang="en-US" sz="1600" b="1" dirty="0">
                <a:solidFill>
                  <a:srgbClr val="1E2761"/>
                </a:solidFill>
                <a:latin typeface="Cambria" pitchFamily="34" charset="0"/>
                <a:ea typeface="Cambria" pitchFamily="34" charset="-122"/>
                <a:cs typeface="Cambria" pitchFamily="34" charset="-120"/>
              </a:rPr>
              <a:t>1,556.1</a:t>
            </a:r>
            <a:endParaRPr lang="en-US" sz="1600" dirty="0"/>
          </a:p>
        </p:txBody>
      </p:sp>
      <p:sp>
        <p:nvSpPr>
          <p:cNvPr id="14" name="Shape 10"/>
          <p:cNvSpPr/>
          <p:nvPr/>
        </p:nvSpPr>
        <p:spPr>
          <a:xfrm>
            <a:off x="8229600" y="4297680"/>
            <a:ext cx="3337560" cy="777240"/>
          </a:xfrm>
          <a:prstGeom prst="rect">
            <a:avLst/>
          </a:prstGeom>
          <a:solidFill>
            <a:srgbClr val="F7F8FC"/>
          </a:solidFill>
          <a:ln/>
        </p:spPr>
      </p:sp>
      <p:sp>
        <p:nvSpPr>
          <p:cNvPr id="15" name="Text 11"/>
          <p:cNvSpPr/>
          <p:nvPr/>
        </p:nvSpPr>
        <p:spPr>
          <a:xfrm>
            <a:off x="8412480" y="4297680"/>
            <a:ext cx="1828800" cy="777240"/>
          </a:xfrm>
          <a:prstGeom prst="rect">
            <a:avLst/>
          </a:prstGeom>
          <a:noFill/>
          <a:ln/>
        </p:spPr>
        <p:txBody>
          <a:bodyPr wrap="square" lIns="0" tIns="0" rIns="0" bIns="0" rtlCol="0" anchor="ctr"/>
          <a:lstStyle/>
          <a:p>
            <a:pPr marL="0" indent="0">
              <a:buNone/>
            </a:pPr>
            <a:r>
              <a:rPr lang="en-US" sz="1100" dirty="0">
                <a:solidFill>
                  <a:srgbClr val="667085"/>
                </a:solidFill>
                <a:latin typeface="Calibri" pitchFamily="34" charset="0"/>
                <a:ea typeface="Calibri" pitchFamily="34" charset="-122"/>
                <a:cs typeface="Calibri" pitchFamily="34" charset="-120"/>
              </a:rPr>
              <a:t>Davies-Bouldin</a:t>
            </a:r>
            <a:endParaRPr lang="en-US" sz="1100" dirty="0"/>
          </a:p>
        </p:txBody>
      </p:sp>
      <p:sp>
        <p:nvSpPr>
          <p:cNvPr id="16" name="Text 12"/>
          <p:cNvSpPr/>
          <p:nvPr/>
        </p:nvSpPr>
        <p:spPr>
          <a:xfrm>
            <a:off x="10058400" y="4297680"/>
            <a:ext cx="1371600" cy="777240"/>
          </a:xfrm>
          <a:prstGeom prst="rect">
            <a:avLst/>
          </a:prstGeom>
          <a:noFill/>
          <a:ln/>
        </p:spPr>
        <p:txBody>
          <a:bodyPr wrap="square" lIns="0" tIns="0" rIns="0" bIns="0" rtlCol="0" anchor="ctr"/>
          <a:lstStyle/>
          <a:p>
            <a:pPr marL="0" indent="0" algn="r">
              <a:buNone/>
            </a:pPr>
            <a:r>
              <a:rPr lang="en-US" sz="1600" b="1" dirty="0">
                <a:solidFill>
                  <a:srgbClr val="1E2761"/>
                </a:solidFill>
                <a:latin typeface="Cambria" pitchFamily="34" charset="0"/>
                <a:ea typeface="Cambria" pitchFamily="34" charset="-122"/>
                <a:cs typeface="Cambria" pitchFamily="34" charset="-120"/>
              </a:rPr>
              <a:t>1.8429</a:t>
            </a:r>
            <a:endParaRPr lang="en-US" sz="1600" dirty="0"/>
          </a:p>
        </p:txBody>
      </p:sp>
      <p:sp>
        <p:nvSpPr>
          <p:cNvPr id="17" name="Text 13"/>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18" name="Text 1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ALGORITHM 3 OF 4</a:t>
            </a:r>
            <a:endParaRPr lang="en-US" sz="1200" dirty="0"/>
          </a:p>
        </p:txBody>
      </p:sp>
      <p:sp>
        <p:nvSpPr>
          <p:cNvPr id="3" name="Text 1"/>
          <p:cNvSpPr/>
          <p:nvPr/>
        </p:nvSpPr>
        <p:spPr>
          <a:xfrm>
            <a:off x="640080" y="777240"/>
            <a:ext cx="64008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Gaussian Mixture Model (GMM)</a:t>
            </a:r>
            <a:endParaRPr lang="en-US" sz="3000" dirty="0"/>
          </a:p>
        </p:txBody>
      </p:sp>
      <p:pic>
        <p:nvPicPr>
          <p:cNvPr id="4" name="Image 0" descr="preencoded.png"/>
          <p:cNvPicPr>
            <a:picLocks noChangeAspect="1"/>
          </p:cNvPicPr>
          <p:nvPr/>
        </p:nvPicPr>
        <p:blipFill>
          <a:blip r:embed="rId3"/>
          <a:stretch>
            <a:fillRect/>
          </a:stretch>
        </p:blipFill>
        <p:spPr>
          <a:xfrm>
            <a:off x="9966960" y="502920"/>
            <a:ext cx="457200" cy="457200"/>
          </a:xfrm>
          <a:prstGeom prst="rect">
            <a:avLst/>
          </a:prstGeom>
        </p:spPr>
      </p:pic>
      <p:sp>
        <p:nvSpPr>
          <p:cNvPr id="5" name="Text 2"/>
          <p:cNvSpPr/>
          <p:nvPr/>
        </p:nvSpPr>
        <p:spPr>
          <a:xfrm>
            <a:off x="640080" y="1554480"/>
            <a:ext cx="5120640" cy="914400"/>
          </a:xfrm>
          <a:prstGeom prst="rect">
            <a:avLst/>
          </a:prstGeom>
          <a:noFill/>
          <a:ln/>
        </p:spPr>
        <p:txBody>
          <a:bodyPr wrap="square" lIns="0" tIns="0" rIns="0" bIns="0" rtlCol="0" anchor="ctr"/>
          <a:lstStyle/>
          <a:p>
            <a:pPr marL="0" indent="0">
              <a:lnSpc>
                <a:spcPct val="125000"/>
              </a:lnSpc>
              <a:buNone/>
            </a:pPr>
            <a:r>
              <a:rPr lang="en-US" sz="1250" dirty="0">
                <a:solidFill>
                  <a:srgbClr val="1A1F36"/>
                </a:solidFill>
                <a:latin typeface="Calibri" pitchFamily="34" charset="0"/>
                <a:ea typeface="Calibri" pitchFamily="34" charset="-122"/>
                <a:cs typeface="Calibri" pitchFamily="34" charset="-120"/>
              </a:rPr>
              <a:t>Models data as a mixture of 3 Gaussian distributions, assigning soft (probabilistic) cluster membership rather than hard boundaries.</a:t>
            </a:r>
            <a:endParaRPr lang="en-US" sz="1250" dirty="0"/>
          </a:p>
        </p:txBody>
      </p:sp>
      <p:sp>
        <p:nvSpPr>
          <p:cNvPr id="6" name="Shape 3"/>
          <p:cNvSpPr/>
          <p:nvPr/>
        </p:nvSpPr>
        <p:spPr>
          <a:xfrm>
            <a:off x="640080" y="2743200"/>
            <a:ext cx="5120640" cy="777240"/>
          </a:xfrm>
          <a:prstGeom prst="rect">
            <a:avLst/>
          </a:prstGeom>
          <a:solidFill>
            <a:srgbClr val="F7F8FC"/>
          </a:solidFill>
          <a:ln/>
        </p:spPr>
      </p:sp>
      <p:sp>
        <p:nvSpPr>
          <p:cNvPr id="7" name="Text 4"/>
          <p:cNvSpPr/>
          <p:nvPr/>
        </p:nvSpPr>
        <p:spPr>
          <a:xfrm>
            <a:off x="822960" y="2743200"/>
            <a:ext cx="2743200" cy="777240"/>
          </a:xfrm>
          <a:prstGeom prst="rect">
            <a:avLst/>
          </a:prstGeom>
          <a:noFill/>
          <a:ln/>
        </p:spPr>
        <p:txBody>
          <a:bodyPr wrap="square" lIns="0" tIns="0" rIns="0" bIns="0" rtlCol="0" anchor="ctr"/>
          <a:lstStyle/>
          <a:p>
            <a:pPr marL="0" indent="0">
              <a:buNone/>
            </a:pPr>
            <a:r>
              <a:rPr lang="en-US" sz="1200" dirty="0">
                <a:solidFill>
                  <a:srgbClr val="667085"/>
                </a:solidFill>
                <a:latin typeface="Calibri" pitchFamily="34" charset="0"/>
                <a:ea typeface="Calibri" pitchFamily="34" charset="-122"/>
                <a:cs typeface="Calibri" pitchFamily="34" charset="-120"/>
              </a:rPr>
              <a:t>Silhouette Score</a:t>
            </a:r>
            <a:endParaRPr lang="en-US" sz="1200" dirty="0"/>
          </a:p>
        </p:txBody>
      </p:sp>
      <p:sp>
        <p:nvSpPr>
          <p:cNvPr id="8" name="Text 5"/>
          <p:cNvSpPr/>
          <p:nvPr/>
        </p:nvSpPr>
        <p:spPr>
          <a:xfrm>
            <a:off x="3291840" y="2743200"/>
            <a:ext cx="2377440" cy="777240"/>
          </a:xfrm>
          <a:prstGeom prst="rect">
            <a:avLst/>
          </a:prstGeom>
          <a:noFill/>
          <a:ln/>
        </p:spPr>
        <p:txBody>
          <a:bodyPr wrap="square" lIns="0" tIns="0" rIns="0" bIns="0" rtlCol="0" anchor="ctr"/>
          <a:lstStyle/>
          <a:p>
            <a:pPr marL="0" indent="0" algn="r">
              <a:buNone/>
            </a:pPr>
            <a:r>
              <a:rPr lang="en-US" sz="1700" b="1" dirty="0">
                <a:solidFill>
                  <a:srgbClr val="1E2761"/>
                </a:solidFill>
                <a:latin typeface="Cambria" pitchFamily="34" charset="0"/>
                <a:ea typeface="Cambria" pitchFamily="34" charset="-122"/>
                <a:cs typeface="Cambria" pitchFamily="34" charset="-120"/>
              </a:rPr>
              <a:t>0.3021</a:t>
            </a:r>
            <a:endParaRPr lang="en-US" sz="1700" dirty="0"/>
          </a:p>
        </p:txBody>
      </p:sp>
      <p:sp>
        <p:nvSpPr>
          <p:cNvPr id="9" name="Shape 6"/>
          <p:cNvSpPr/>
          <p:nvPr/>
        </p:nvSpPr>
        <p:spPr>
          <a:xfrm>
            <a:off x="640080" y="3657600"/>
            <a:ext cx="5120640" cy="777240"/>
          </a:xfrm>
          <a:prstGeom prst="rect">
            <a:avLst/>
          </a:prstGeom>
          <a:solidFill>
            <a:srgbClr val="F7F8FC"/>
          </a:solidFill>
          <a:ln/>
        </p:spPr>
      </p:sp>
      <p:sp>
        <p:nvSpPr>
          <p:cNvPr id="10" name="Text 7"/>
          <p:cNvSpPr/>
          <p:nvPr/>
        </p:nvSpPr>
        <p:spPr>
          <a:xfrm>
            <a:off x="822960" y="3657600"/>
            <a:ext cx="2743200" cy="777240"/>
          </a:xfrm>
          <a:prstGeom prst="rect">
            <a:avLst/>
          </a:prstGeom>
          <a:noFill/>
          <a:ln/>
        </p:spPr>
        <p:txBody>
          <a:bodyPr wrap="square" lIns="0" tIns="0" rIns="0" bIns="0" rtlCol="0" anchor="ctr"/>
          <a:lstStyle/>
          <a:p>
            <a:pPr marL="0" indent="0">
              <a:buNone/>
            </a:pPr>
            <a:r>
              <a:rPr lang="en-US" sz="1200" dirty="0">
                <a:solidFill>
                  <a:srgbClr val="667085"/>
                </a:solidFill>
                <a:latin typeface="Calibri" pitchFamily="34" charset="0"/>
                <a:ea typeface="Calibri" pitchFamily="34" charset="-122"/>
                <a:cs typeface="Calibri" pitchFamily="34" charset="-120"/>
              </a:rPr>
              <a:t>Calinski-Harabasz</a:t>
            </a:r>
            <a:endParaRPr lang="en-US" sz="1200" dirty="0"/>
          </a:p>
        </p:txBody>
      </p:sp>
      <p:sp>
        <p:nvSpPr>
          <p:cNvPr id="11" name="Text 8"/>
          <p:cNvSpPr/>
          <p:nvPr/>
        </p:nvSpPr>
        <p:spPr>
          <a:xfrm>
            <a:off x="3291840" y="3657600"/>
            <a:ext cx="2377440" cy="777240"/>
          </a:xfrm>
          <a:prstGeom prst="rect">
            <a:avLst/>
          </a:prstGeom>
          <a:noFill/>
          <a:ln/>
        </p:spPr>
        <p:txBody>
          <a:bodyPr wrap="square" lIns="0" tIns="0" rIns="0" bIns="0" rtlCol="0" anchor="ctr"/>
          <a:lstStyle/>
          <a:p>
            <a:pPr marL="0" indent="0" algn="r">
              <a:buNone/>
            </a:pPr>
            <a:r>
              <a:rPr lang="en-US" sz="1700" b="1" dirty="0">
                <a:solidFill>
                  <a:srgbClr val="1E2761"/>
                </a:solidFill>
                <a:latin typeface="Cambria" pitchFamily="34" charset="0"/>
                <a:ea typeface="Cambria" pitchFamily="34" charset="-122"/>
                <a:cs typeface="Cambria" pitchFamily="34" charset="-120"/>
              </a:rPr>
              <a:t>7,307.9</a:t>
            </a:r>
            <a:endParaRPr lang="en-US" sz="1700" dirty="0"/>
          </a:p>
        </p:txBody>
      </p:sp>
      <p:sp>
        <p:nvSpPr>
          <p:cNvPr id="12" name="Shape 9"/>
          <p:cNvSpPr/>
          <p:nvPr/>
        </p:nvSpPr>
        <p:spPr>
          <a:xfrm>
            <a:off x="640080" y="4572000"/>
            <a:ext cx="5120640" cy="777240"/>
          </a:xfrm>
          <a:prstGeom prst="rect">
            <a:avLst/>
          </a:prstGeom>
          <a:solidFill>
            <a:srgbClr val="F7F8FC"/>
          </a:solidFill>
          <a:ln/>
        </p:spPr>
      </p:sp>
      <p:sp>
        <p:nvSpPr>
          <p:cNvPr id="13" name="Text 10"/>
          <p:cNvSpPr/>
          <p:nvPr/>
        </p:nvSpPr>
        <p:spPr>
          <a:xfrm>
            <a:off x="822960" y="4572000"/>
            <a:ext cx="2743200" cy="777240"/>
          </a:xfrm>
          <a:prstGeom prst="rect">
            <a:avLst/>
          </a:prstGeom>
          <a:noFill/>
          <a:ln/>
        </p:spPr>
        <p:txBody>
          <a:bodyPr wrap="square" lIns="0" tIns="0" rIns="0" bIns="0" rtlCol="0" anchor="ctr"/>
          <a:lstStyle/>
          <a:p>
            <a:pPr marL="0" indent="0">
              <a:buNone/>
            </a:pPr>
            <a:r>
              <a:rPr lang="en-US" sz="1200" dirty="0">
                <a:solidFill>
                  <a:srgbClr val="667085"/>
                </a:solidFill>
                <a:latin typeface="Calibri" pitchFamily="34" charset="0"/>
                <a:ea typeface="Calibri" pitchFamily="34" charset="-122"/>
                <a:cs typeface="Calibri" pitchFamily="34" charset="-120"/>
              </a:rPr>
              <a:t>Davies-Bouldin</a:t>
            </a:r>
            <a:endParaRPr lang="en-US" sz="1200" dirty="0"/>
          </a:p>
        </p:txBody>
      </p:sp>
      <p:sp>
        <p:nvSpPr>
          <p:cNvPr id="14" name="Text 11"/>
          <p:cNvSpPr/>
          <p:nvPr/>
        </p:nvSpPr>
        <p:spPr>
          <a:xfrm>
            <a:off x="3291840" y="4572000"/>
            <a:ext cx="2377440" cy="777240"/>
          </a:xfrm>
          <a:prstGeom prst="rect">
            <a:avLst/>
          </a:prstGeom>
          <a:noFill/>
          <a:ln/>
        </p:spPr>
        <p:txBody>
          <a:bodyPr wrap="square" lIns="0" tIns="0" rIns="0" bIns="0" rtlCol="0" anchor="ctr"/>
          <a:lstStyle/>
          <a:p>
            <a:pPr marL="0" indent="0" algn="r">
              <a:buNone/>
            </a:pPr>
            <a:r>
              <a:rPr lang="en-US" sz="1700" b="1" dirty="0">
                <a:solidFill>
                  <a:srgbClr val="1E2761"/>
                </a:solidFill>
                <a:latin typeface="Cambria" pitchFamily="34" charset="0"/>
                <a:ea typeface="Cambria" pitchFamily="34" charset="-122"/>
                <a:cs typeface="Cambria" pitchFamily="34" charset="-120"/>
              </a:rPr>
              <a:t>1.5225</a:t>
            </a:r>
            <a:endParaRPr lang="en-US" sz="1700" dirty="0"/>
          </a:p>
        </p:txBody>
      </p:sp>
      <p:sp>
        <p:nvSpPr>
          <p:cNvPr id="15" name="Text 12"/>
          <p:cNvSpPr/>
          <p:nvPr/>
        </p:nvSpPr>
        <p:spPr>
          <a:xfrm>
            <a:off x="640080" y="5577840"/>
            <a:ext cx="5120640" cy="640080"/>
          </a:xfrm>
          <a:prstGeom prst="rect">
            <a:avLst/>
          </a:prstGeom>
          <a:noFill/>
          <a:ln/>
        </p:spPr>
        <p:txBody>
          <a:bodyPr wrap="square" lIns="0" tIns="0" rIns="0" bIns="0" rtlCol="0" anchor="ctr"/>
          <a:lstStyle/>
          <a:p>
            <a:pPr marL="0" indent="0">
              <a:lnSpc>
                <a:spcPct val="120000"/>
              </a:lnSpc>
              <a:buNone/>
            </a:pPr>
            <a:r>
              <a:rPr lang="en-US" sz="1100" i="1" dirty="0">
                <a:solidFill>
                  <a:srgbClr val="667085"/>
                </a:solidFill>
                <a:latin typeface="Calibri" pitchFamily="34" charset="0"/>
                <a:ea typeface="Calibri" pitchFamily="34" charset="-122"/>
                <a:cs typeface="Calibri" pitchFamily="34" charset="-120"/>
              </a:rPr>
              <a:t>Second-best overall — strong Calinski-Harabasz score, but softer boundaries blur some activity transitions.</a:t>
            </a:r>
            <a:endParaRPr lang="en-US" sz="1100" dirty="0"/>
          </a:p>
        </p:txBody>
      </p:sp>
      <p:pic>
        <p:nvPicPr>
          <p:cNvPr id="16" name="Image 1" descr="/home/claude/imgs/52_gmm_clusters.png"/>
          <p:cNvPicPr>
            <a:picLocks noChangeAspect="1"/>
          </p:cNvPicPr>
          <p:nvPr/>
        </p:nvPicPr>
        <p:blipFill>
          <a:blip r:embed="rId4"/>
          <a:stretch>
            <a:fillRect/>
          </a:stretch>
        </p:blipFill>
        <p:spPr>
          <a:xfrm>
            <a:off x="6355080" y="2135193"/>
            <a:ext cx="5486400" cy="3639174"/>
          </a:xfrm>
          <a:prstGeom prst="rect">
            <a:avLst/>
          </a:prstGeom>
        </p:spPr>
      </p:pic>
      <p:sp>
        <p:nvSpPr>
          <p:cNvPr id="17" name="Text 13"/>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18" name="Text 1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ALGORITHM 4 OF 4</a:t>
            </a:r>
            <a:endParaRPr lang="en-US" sz="1200" dirty="0"/>
          </a:p>
        </p:txBody>
      </p:sp>
      <p:sp>
        <p:nvSpPr>
          <p:cNvPr id="3" name="Text 1"/>
          <p:cNvSpPr/>
          <p:nvPr/>
        </p:nvSpPr>
        <p:spPr>
          <a:xfrm>
            <a:off x="640080" y="777240"/>
            <a:ext cx="54864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DBSCAN</a:t>
            </a:r>
            <a:endParaRPr lang="en-US" sz="3000" dirty="0"/>
          </a:p>
        </p:txBody>
      </p:sp>
      <p:pic>
        <p:nvPicPr>
          <p:cNvPr id="4" name="Image 0" descr="preencoded.png"/>
          <p:cNvPicPr>
            <a:picLocks noChangeAspect="1"/>
          </p:cNvPicPr>
          <p:nvPr/>
        </p:nvPicPr>
        <p:blipFill>
          <a:blip r:embed="rId3"/>
          <a:stretch>
            <a:fillRect/>
          </a:stretch>
        </p:blipFill>
        <p:spPr>
          <a:xfrm>
            <a:off x="9692640" y="502920"/>
            <a:ext cx="457200" cy="457200"/>
          </a:xfrm>
          <a:prstGeom prst="rect">
            <a:avLst/>
          </a:prstGeom>
        </p:spPr>
      </p:pic>
      <p:sp>
        <p:nvSpPr>
          <p:cNvPr id="5" name="Text 2"/>
          <p:cNvSpPr/>
          <p:nvPr/>
        </p:nvSpPr>
        <p:spPr>
          <a:xfrm>
            <a:off x="640080" y="1554480"/>
            <a:ext cx="5120640" cy="1005840"/>
          </a:xfrm>
          <a:prstGeom prst="rect">
            <a:avLst/>
          </a:prstGeom>
          <a:noFill/>
          <a:ln/>
        </p:spPr>
        <p:txBody>
          <a:bodyPr wrap="square" lIns="0" tIns="0" rIns="0" bIns="0" rtlCol="0" anchor="ctr"/>
          <a:lstStyle/>
          <a:p>
            <a:pPr marL="0" indent="0">
              <a:lnSpc>
                <a:spcPct val="125000"/>
              </a:lnSpc>
              <a:buNone/>
            </a:pPr>
            <a:r>
              <a:rPr lang="en-US" sz="1250" dirty="0">
                <a:solidFill>
                  <a:srgbClr val="1A1F36"/>
                </a:solidFill>
                <a:latin typeface="Calibri" pitchFamily="34" charset="0"/>
                <a:ea typeface="Calibri" pitchFamily="34" charset="-122"/>
                <a:cs typeface="Calibri" pitchFamily="34" charset="-120"/>
              </a:rPr>
              <a:t>Density-based clustering that groups points by neighborhood density (eps=3, min_samples=10) and labels sparse points as noise — no need to pre-specify K.</a:t>
            </a:r>
            <a:endParaRPr lang="en-US" sz="1250" dirty="0"/>
          </a:p>
        </p:txBody>
      </p:sp>
      <p:sp>
        <p:nvSpPr>
          <p:cNvPr id="6" name="Shape 3"/>
          <p:cNvSpPr/>
          <p:nvPr/>
        </p:nvSpPr>
        <p:spPr>
          <a:xfrm>
            <a:off x="640080" y="2834640"/>
            <a:ext cx="5120640" cy="777240"/>
          </a:xfrm>
          <a:prstGeom prst="rect">
            <a:avLst/>
          </a:prstGeom>
          <a:solidFill>
            <a:srgbClr val="FBEAEA"/>
          </a:solidFill>
          <a:ln/>
        </p:spPr>
      </p:sp>
      <p:sp>
        <p:nvSpPr>
          <p:cNvPr id="7" name="Text 4"/>
          <p:cNvSpPr/>
          <p:nvPr/>
        </p:nvSpPr>
        <p:spPr>
          <a:xfrm>
            <a:off x="822960" y="2834640"/>
            <a:ext cx="2743200" cy="777240"/>
          </a:xfrm>
          <a:prstGeom prst="rect">
            <a:avLst/>
          </a:prstGeom>
          <a:noFill/>
          <a:ln/>
        </p:spPr>
        <p:txBody>
          <a:bodyPr wrap="square" lIns="0" tIns="0" rIns="0" bIns="0" rtlCol="0" anchor="ctr"/>
          <a:lstStyle/>
          <a:p>
            <a:pPr marL="0" indent="0">
              <a:buNone/>
            </a:pPr>
            <a:r>
              <a:rPr lang="en-US" sz="1200" dirty="0">
                <a:solidFill>
                  <a:srgbClr val="8A4040"/>
                </a:solidFill>
                <a:latin typeface="Calibri" pitchFamily="34" charset="0"/>
                <a:ea typeface="Calibri" pitchFamily="34" charset="-122"/>
                <a:cs typeface="Calibri" pitchFamily="34" charset="-120"/>
              </a:rPr>
              <a:t>Silhouette Score</a:t>
            </a:r>
            <a:endParaRPr lang="en-US" sz="1200" dirty="0"/>
          </a:p>
        </p:txBody>
      </p:sp>
      <p:sp>
        <p:nvSpPr>
          <p:cNvPr id="8" name="Text 5"/>
          <p:cNvSpPr/>
          <p:nvPr/>
        </p:nvSpPr>
        <p:spPr>
          <a:xfrm>
            <a:off x="3291840" y="2834640"/>
            <a:ext cx="2377440" cy="777240"/>
          </a:xfrm>
          <a:prstGeom prst="rect">
            <a:avLst/>
          </a:prstGeom>
          <a:noFill/>
          <a:ln/>
        </p:spPr>
        <p:txBody>
          <a:bodyPr wrap="square" lIns="0" tIns="0" rIns="0" bIns="0" rtlCol="0" anchor="ctr"/>
          <a:lstStyle/>
          <a:p>
            <a:pPr marL="0" indent="0" algn="r">
              <a:buNone/>
            </a:pPr>
            <a:r>
              <a:rPr lang="en-US" sz="1700" b="1" dirty="0">
                <a:solidFill>
                  <a:srgbClr val="B23B3B"/>
                </a:solidFill>
                <a:latin typeface="Cambria" pitchFamily="34" charset="0"/>
                <a:ea typeface="Cambria" pitchFamily="34" charset="-122"/>
                <a:cs typeface="Cambria" pitchFamily="34" charset="-120"/>
              </a:rPr>
              <a:t>-0.2224</a:t>
            </a:r>
            <a:endParaRPr lang="en-US" sz="1700" dirty="0"/>
          </a:p>
        </p:txBody>
      </p:sp>
      <p:sp>
        <p:nvSpPr>
          <p:cNvPr id="9" name="Shape 6"/>
          <p:cNvSpPr/>
          <p:nvPr/>
        </p:nvSpPr>
        <p:spPr>
          <a:xfrm>
            <a:off x="640080" y="3749040"/>
            <a:ext cx="5120640" cy="777240"/>
          </a:xfrm>
          <a:prstGeom prst="rect">
            <a:avLst/>
          </a:prstGeom>
          <a:solidFill>
            <a:srgbClr val="FBEAEA"/>
          </a:solidFill>
          <a:ln/>
        </p:spPr>
      </p:sp>
      <p:sp>
        <p:nvSpPr>
          <p:cNvPr id="10" name="Text 7"/>
          <p:cNvSpPr/>
          <p:nvPr/>
        </p:nvSpPr>
        <p:spPr>
          <a:xfrm>
            <a:off x="822960" y="3749040"/>
            <a:ext cx="2743200" cy="777240"/>
          </a:xfrm>
          <a:prstGeom prst="rect">
            <a:avLst/>
          </a:prstGeom>
          <a:noFill/>
          <a:ln/>
        </p:spPr>
        <p:txBody>
          <a:bodyPr wrap="square" lIns="0" tIns="0" rIns="0" bIns="0" rtlCol="0" anchor="ctr"/>
          <a:lstStyle/>
          <a:p>
            <a:pPr marL="0" indent="0">
              <a:buNone/>
            </a:pPr>
            <a:r>
              <a:rPr lang="en-US" sz="1200" dirty="0">
                <a:solidFill>
                  <a:srgbClr val="8A4040"/>
                </a:solidFill>
                <a:latin typeface="Calibri" pitchFamily="34" charset="0"/>
                <a:ea typeface="Calibri" pitchFamily="34" charset="-122"/>
                <a:cs typeface="Calibri" pitchFamily="34" charset="-120"/>
              </a:rPr>
              <a:t>Calinski-Harabasz</a:t>
            </a:r>
            <a:endParaRPr lang="en-US" sz="1200" dirty="0"/>
          </a:p>
        </p:txBody>
      </p:sp>
      <p:sp>
        <p:nvSpPr>
          <p:cNvPr id="11" name="Text 8"/>
          <p:cNvSpPr/>
          <p:nvPr/>
        </p:nvSpPr>
        <p:spPr>
          <a:xfrm>
            <a:off x="3291840" y="3749040"/>
            <a:ext cx="2377440" cy="777240"/>
          </a:xfrm>
          <a:prstGeom prst="rect">
            <a:avLst/>
          </a:prstGeom>
          <a:noFill/>
          <a:ln/>
        </p:spPr>
        <p:txBody>
          <a:bodyPr wrap="square" lIns="0" tIns="0" rIns="0" bIns="0" rtlCol="0" anchor="ctr"/>
          <a:lstStyle/>
          <a:p>
            <a:pPr marL="0" indent="0" algn="r">
              <a:buNone/>
            </a:pPr>
            <a:r>
              <a:rPr lang="en-US" sz="1700" b="1" dirty="0">
                <a:solidFill>
                  <a:srgbClr val="B23B3B"/>
                </a:solidFill>
                <a:latin typeface="Cambria" pitchFamily="34" charset="0"/>
                <a:ea typeface="Cambria" pitchFamily="34" charset="-122"/>
                <a:cs typeface="Cambria" pitchFamily="34" charset="-120"/>
              </a:rPr>
              <a:t>55.9</a:t>
            </a:r>
            <a:endParaRPr lang="en-US" sz="1700" dirty="0"/>
          </a:p>
        </p:txBody>
      </p:sp>
      <p:sp>
        <p:nvSpPr>
          <p:cNvPr id="12" name="Shape 9"/>
          <p:cNvSpPr/>
          <p:nvPr/>
        </p:nvSpPr>
        <p:spPr>
          <a:xfrm>
            <a:off x="640080" y="4663440"/>
            <a:ext cx="5120640" cy="777240"/>
          </a:xfrm>
          <a:prstGeom prst="rect">
            <a:avLst/>
          </a:prstGeom>
          <a:solidFill>
            <a:srgbClr val="FBEAEA"/>
          </a:solidFill>
          <a:ln/>
        </p:spPr>
      </p:sp>
      <p:sp>
        <p:nvSpPr>
          <p:cNvPr id="13" name="Text 10"/>
          <p:cNvSpPr/>
          <p:nvPr/>
        </p:nvSpPr>
        <p:spPr>
          <a:xfrm>
            <a:off x="822960" y="4663440"/>
            <a:ext cx="2743200" cy="777240"/>
          </a:xfrm>
          <a:prstGeom prst="rect">
            <a:avLst/>
          </a:prstGeom>
          <a:noFill/>
          <a:ln/>
        </p:spPr>
        <p:txBody>
          <a:bodyPr wrap="square" lIns="0" tIns="0" rIns="0" bIns="0" rtlCol="0" anchor="ctr"/>
          <a:lstStyle/>
          <a:p>
            <a:pPr marL="0" indent="0">
              <a:buNone/>
            </a:pPr>
            <a:r>
              <a:rPr lang="en-US" sz="1200" dirty="0">
                <a:solidFill>
                  <a:srgbClr val="8A4040"/>
                </a:solidFill>
                <a:latin typeface="Calibri" pitchFamily="34" charset="0"/>
                <a:ea typeface="Calibri" pitchFamily="34" charset="-122"/>
                <a:cs typeface="Calibri" pitchFamily="34" charset="-120"/>
              </a:rPr>
              <a:t>Davies-Bouldin</a:t>
            </a:r>
            <a:endParaRPr lang="en-US" sz="1200" dirty="0"/>
          </a:p>
        </p:txBody>
      </p:sp>
      <p:sp>
        <p:nvSpPr>
          <p:cNvPr id="14" name="Text 11"/>
          <p:cNvSpPr/>
          <p:nvPr/>
        </p:nvSpPr>
        <p:spPr>
          <a:xfrm>
            <a:off x="3291840" y="4663440"/>
            <a:ext cx="2377440" cy="777240"/>
          </a:xfrm>
          <a:prstGeom prst="rect">
            <a:avLst/>
          </a:prstGeom>
          <a:noFill/>
          <a:ln/>
        </p:spPr>
        <p:txBody>
          <a:bodyPr wrap="square" lIns="0" tIns="0" rIns="0" bIns="0" rtlCol="0" anchor="ctr"/>
          <a:lstStyle/>
          <a:p>
            <a:pPr marL="0" indent="0" algn="r">
              <a:buNone/>
            </a:pPr>
            <a:r>
              <a:rPr lang="en-US" sz="1700" b="1" dirty="0">
                <a:solidFill>
                  <a:srgbClr val="B23B3B"/>
                </a:solidFill>
                <a:latin typeface="Cambria" pitchFamily="34" charset="0"/>
                <a:ea typeface="Cambria" pitchFamily="34" charset="-122"/>
                <a:cs typeface="Cambria" pitchFamily="34" charset="-120"/>
              </a:rPr>
              <a:t>1.8039</a:t>
            </a:r>
            <a:endParaRPr lang="en-US" sz="1700" dirty="0"/>
          </a:p>
        </p:txBody>
      </p:sp>
      <p:sp>
        <p:nvSpPr>
          <p:cNvPr id="15" name="Text 12"/>
          <p:cNvSpPr/>
          <p:nvPr/>
        </p:nvSpPr>
        <p:spPr>
          <a:xfrm>
            <a:off x="640080" y="5623560"/>
            <a:ext cx="5120640" cy="777240"/>
          </a:xfrm>
          <a:prstGeom prst="rect">
            <a:avLst/>
          </a:prstGeom>
          <a:noFill/>
          <a:ln/>
        </p:spPr>
        <p:txBody>
          <a:bodyPr wrap="square" lIns="0" tIns="0" rIns="0" bIns="0" rtlCol="0" anchor="ctr"/>
          <a:lstStyle/>
          <a:p>
            <a:pPr marL="0" indent="0">
              <a:lnSpc>
                <a:spcPct val="120000"/>
              </a:lnSpc>
              <a:buNone/>
            </a:pPr>
            <a:r>
              <a:rPr lang="en-US" sz="1100" i="1" dirty="0">
                <a:solidFill>
                  <a:srgbClr val="667085"/>
                </a:solidFill>
                <a:latin typeface="Calibri" pitchFamily="34" charset="0"/>
                <a:ea typeface="Calibri" pitchFamily="34" charset="-122"/>
                <a:cs typeface="Calibri" pitchFamily="34" charset="-120"/>
              </a:rPr>
              <a:t>In this high-dimensional PCA space, density is too uniform — DBSCAN collapses almost everything into a single cluster, producing weak, negative-leaning metrics.</a:t>
            </a:r>
            <a:endParaRPr lang="en-US" sz="1100" dirty="0"/>
          </a:p>
        </p:txBody>
      </p:sp>
      <p:pic>
        <p:nvPicPr>
          <p:cNvPr id="16" name="Image 1" descr="/home/claude/imgs/56_dbscan_clusters.png"/>
          <p:cNvPicPr>
            <a:picLocks noChangeAspect="1"/>
          </p:cNvPicPr>
          <p:nvPr/>
        </p:nvPicPr>
        <p:blipFill>
          <a:blip r:embed="rId4"/>
          <a:stretch>
            <a:fillRect/>
          </a:stretch>
        </p:blipFill>
        <p:spPr>
          <a:xfrm>
            <a:off x="6355080" y="1718520"/>
            <a:ext cx="5486400" cy="4472520"/>
          </a:xfrm>
          <a:prstGeom prst="rect">
            <a:avLst/>
          </a:prstGeom>
        </p:spPr>
      </p:pic>
      <p:sp>
        <p:nvSpPr>
          <p:cNvPr id="17" name="Text 13"/>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18" name="Text 1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STEP 5</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Head-to-Head Comparison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2377440"/>
        </p:xfrm>
        <a:graphic>
          <a:graphicData uri="http://schemas.openxmlformats.org/drawingml/2006/table">
            <a:tbl>
              <a:tblPr/>
              <a:tblGrid>
                <a:gridCol w="2286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Silhouette ↑</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Calinski-Harabasz ↑</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Davies-Bouldin ↓</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Overall Rank</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A1F36"/>
                          </a:solidFill>
                          <a:latin typeface="Calibri" pitchFamily="34" charset="0"/>
                          <a:ea typeface="Calibri" pitchFamily="34" charset="-122"/>
                          <a:cs typeface="Calibri" pitchFamily="34" charset="-120"/>
                        </a:rPr>
                        <a:t>K-Means</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3F7F5"/>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0.4239</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3F7F5"/>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9,268.59</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3F7F5"/>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1.2948</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3F7F5"/>
                    </a:solidFill>
                  </a:tcPr>
                </a:tc>
                <a:tc>
                  <a:txBody>
                    <a:bodyPr/>
                    <a:lstStyle/>
                    <a:p>
                      <a:pPr marL="0" indent="0" algn="ctr">
                        <a:buNone/>
                      </a:pPr>
                      <a:r>
                        <a:rPr lang="en-US" sz="1200" b="1" dirty="0">
                          <a:solidFill>
                            <a:srgbClr val="0D7A73"/>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E3F7F5"/>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rgbClr val="1A1F36"/>
                          </a:solidFill>
                          <a:latin typeface="Calibri" pitchFamily="34" charset="0"/>
                          <a:ea typeface="Calibri" pitchFamily="34" charset="-122"/>
                          <a:cs typeface="Calibri" pitchFamily="34" charset="-120"/>
                        </a:rPr>
                        <a:t>GMM</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0.3021</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7,307.91</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1.5225</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dirty="0">
                          <a:solidFill>
                            <a:srgbClr val="1A1F36"/>
                          </a:solidFill>
                          <a:latin typeface="Calibri" pitchFamily="34" charset="0"/>
                          <a:ea typeface="Calibri" pitchFamily="34" charset="-122"/>
                          <a:cs typeface="Calibri" pitchFamily="34" charset="-120"/>
                        </a:rPr>
                        <a:t>Hierarchical</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7F8FC"/>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0.2932</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7F8FC"/>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1,556.11</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7F8FC"/>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1.8429</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7F8FC"/>
                    </a:solidFill>
                  </a:tcPr>
                </a:tc>
                <a:tc>
                  <a:txBody>
                    <a:bodyPr/>
                    <a:lstStyle/>
                    <a:p>
                      <a:pPr marL="0" indent="0" algn="ctr">
                        <a:buNone/>
                      </a:pPr>
                      <a:r>
                        <a:rPr lang="en-US" sz="1200" dirty="0">
                          <a:solidFill>
                            <a:srgbClr val="1A1F36"/>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solidFill>
                      <a:srgbClr val="F7F8FC"/>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rgbClr val="8A4040"/>
                          </a:solidFill>
                          <a:latin typeface="Calibri" pitchFamily="34" charset="0"/>
                          <a:ea typeface="Calibri" pitchFamily="34" charset="-122"/>
                          <a:cs typeface="Calibri" pitchFamily="34" charset="-120"/>
                        </a:rPr>
                        <a:t>DBSCAN</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8A4040"/>
                          </a:solidFill>
                          <a:latin typeface="Calibri" pitchFamily="34" charset="0"/>
                          <a:ea typeface="Calibri" pitchFamily="34" charset="-122"/>
                          <a:cs typeface="Calibri" pitchFamily="34" charset="-120"/>
                        </a:rPr>
                        <a:t>-0.2224</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8A4040"/>
                          </a:solidFill>
                          <a:latin typeface="Calibri" pitchFamily="34" charset="0"/>
                          <a:ea typeface="Calibri" pitchFamily="34" charset="-122"/>
                          <a:cs typeface="Calibri" pitchFamily="34" charset="-120"/>
                        </a:rPr>
                        <a:t>55.93</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8A4040"/>
                          </a:solidFill>
                          <a:latin typeface="Calibri" pitchFamily="34" charset="0"/>
                          <a:ea typeface="Calibri" pitchFamily="34" charset="-122"/>
                          <a:cs typeface="Calibri" pitchFamily="34" charset="-120"/>
                        </a:rPr>
                        <a:t>1.8039</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tc>
                  <a:txBody>
                    <a:bodyPr/>
                    <a:lstStyle/>
                    <a:p>
                      <a:pPr marL="0" indent="0" algn="ctr">
                        <a:buNone/>
                      </a:pPr>
                      <a:r>
                        <a:rPr lang="en-US" sz="1200" dirty="0">
                          <a:solidFill>
                            <a:srgbClr val="8A4040"/>
                          </a:solidFill>
                          <a:latin typeface="Calibri" pitchFamily="34" charset="0"/>
                          <a:ea typeface="Calibri" pitchFamily="34" charset="-122"/>
                          <a:cs typeface="Calibri" pitchFamily="34" charset="-120"/>
                        </a:rPr>
                        <a:t>4th</a:t>
                      </a:r>
                      <a:endParaRPr lang="en-US" sz="1200" dirty="0">
                        <a:latin typeface="Calibri" charset="0"/>
                        <a:ea typeface="Calibri" charset="0"/>
                        <a:cs typeface="Calibri" charset="0"/>
                      </a:endParaRPr>
                    </a:p>
                  </a:txBody>
                  <a:tcPr anchor="ctr">
                    <a:lnL w="9525" cap="flat" cmpd="sng" algn="ctr">
                      <a:solidFill>
                        <a:srgbClr val="E4E7F0"/>
                      </a:solidFill>
                      <a:prstDash val="solid"/>
                      <a:round/>
                      <a:headEnd type="none" w="med" len="med"/>
                      <a:tailEnd type="none" w="med" len="med"/>
                    </a:lnL>
                    <a:lnR w="9525" cap="flat" cmpd="sng" algn="ctr">
                      <a:solidFill>
                        <a:srgbClr val="E4E7F0"/>
                      </a:solidFill>
                      <a:prstDash val="solid"/>
                      <a:round/>
                      <a:headEnd type="none" w="med" len="med"/>
                      <a:tailEnd type="none" w="med" len="med"/>
                    </a:lnR>
                    <a:lnT w="9525" cap="flat" cmpd="sng" algn="ctr">
                      <a:solidFill>
                        <a:srgbClr val="E4E7F0"/>
                      </a:solidFill>
                      <a:prstDash val="solid"/>
                      <a:round/>
                      <a:headEnd type="none" w="med" len="med"/>
                      <a:tailEnd type="none" w="med" len="med"/>
                    </a:lnT>
                    <a:lnB w="9525" cap="flat" cmpd="sng" algn="ctr">
                      <a:solidFill>
                        <a:srgbClr val="E4E7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40080" y="4206240"/>
            <a:ext cx="10881360" cy="365760"/>
          </a:xfrm>
          <a:prstGeom prst="rect">
            <a:avLst/>
          </a:prstGeom>
          <a:noFill/>
          <a:ln/>
        </p:spPr>
        <p:txBody>
          <a:bodyPr wrap="square" lIns="0" tIns="0" rIns="0" bIns="0" rtlCol="0" anchor="ctr"/>
          <a:lstStyle/>
          <a:p>
            <a:pPr marL="0" indent="0">
              <a:buNone/>
            </a:pPr>
            <a:r>
              <a:rPr lang="en-US" sz="1000" i="1" dirty="0">
                <a:solidFill>
                  <a:srgbClr val="667085"/>
                </a:solidFill>
                <a:latin typeface="Calibri" pitchFamily="34" charset="0"/>
                <a:ea typeface="Calibri" pitchFamily="34" charset="-122"/>
                <a:cs typeface="Calibri" pitchFamily="34" charset="-120"/>
              </a:rPr>
              <a:t>Rank = sum of per-metric ranks (Silhouette desc + Calinski-Harabasz desc + Davies-Bouldin asc) — lower combined rank is better.</a:t>
            </a:r>
            <a:endParaRPr lang="en-US" sz="1000" dirty="0"/>
          </a:p>
        </p:txBody>
      </p:sp>
      <p:pic>
        <p:nvPicPr>
          <p:cNvPr id="6" name="Image 0" descr="/home/claude/imgs/62_silhouette_comparison_bar.png"/>
          <p:cNvPicPr>
            <a:picLocks noChangeAspect="1"/>
          </p:cNvPicPr>
          <p:nvPr/>
        </p:nvPicPr>
        <p:blipFill>
          <a:blip r:embed="rId3"/>
          <a:stretch>
            <a:fillRect/>
          </a:stretch>
        </p:blipFill>
        <p:spPr>
          <a:xfrm>
            <a:off x="640080" y="4709160"/>
            <a:ext cx="2948473" cy="1828800"/>
          </a:xfrm>
          <a:prstGeom prst="rect">
            <a:avLst/>
          </a:prstGeom>
        </p:spPr>
      </p:pic>
      <p:sp>
        <p:nvSpPr>
          <p:cNvPr id="7" name="Shape 3"/>
          <p:cNvSpPr/>
          <p:nvPr/>
        </p:nvSpPr>
        <p:spPr>
          <a:xfrm>
            <a:off x="6355080" y="4709160"/>
            <a:ext cx="5166360" cy="1874520"/>
          </a:xfrm>
          <a:prstGeom prst="rect">
            <a:avLst/>
          </a:prstGeom>
          <a:solidFill>
            <a:srgbClr val="12173B"/>
          </a:solidFill>
          <a:ln/>
        </p:spPr>
      </p:sp>
      <p:sp>
        <p:nvSpPr>
          <p:cNvPr id="8" name="Text 4"/>
          <p:cNvSpPr/>
          <p:nvPr/>
        </p:nvSpPr>
        <p:spPr>
          <a:xfrm>
            <a:off x="6583680" y="4864608"/>
            <a:ext cx="3657600" cy="274320"/>
          </a:xfrm>
          <a:prstGeom prst="rect">
            <a:avLst/>
          </a:prstGeom>
          <a:noFill/>
          <a:ln/>
        </p:spPr>
        <p:txBody>
          <a:bodyPr wrap="square" lIns="0" tIns="0" rIns="0" bIns="0" rtlCol="0" anchor="ctr"/>
          <a:lstStyle/>
          <a:p>
            <a:pPr marL="0" indent="0">
              <a:buNone/>
            </a:pPr>
            <a:r>
              <a:rPr lang="en-US" sz="1050" b="1" kern="0" spc="150" dirty="0">
                <a:solidFill>
                  <a:srgbClr val="0FB5AE"/>
                </a:solidFill>
                <a:latin typeface="Calibri" pitchFamily="34" charset="0"/>
                <a:ea typeface="Calibri" pitchFamily="34" charset="-122"/>
                <a:cs typeface="Calibri" pitchFamily="34" charset="-120"/>
              </a:rPr>
              <a:t>READING THE METRICS</a:t>
            </a:r>
            <a:endParaRPr lang="en-US" sz="1050" dirty="0"/>
          </a:p>
        </p:txBody>
      </p:sp>
      <p:sp>
        <p:nvSpPr>
          <p:cNvPr id="9" name="Text 5"/>
          <p:cNvSpPr/>
          <p:nvPr/>
        </p:nvSpPr>
        <p:spPr>
          <a:xfrm>
            <a:off x="6583680" y="5166360"/>
            <a:ext cx="4754880" cy="1325880"/>
          </a:xfrm>
          <a:prstGeom prst="rect">
            <a:avLst/>
          </a:prstGeom>
          <a:noFill/>
          <a:ln/>
        </p:spPr>
        <p:txBody>
          <a:bodyPr wrap="square" lIns="0" tIns="0" rIns="0" bIns="0" rtlCol="0" anchor="ctr"/>
          <a:lstStyle/>
          <a:p>
            <a:pPr marL="342900" indent="-342900">
              <a:lnSpc>
                <a:spcPct val="135000"/>
              </a:lnSpc>
              <a:spcAft>
                <a:spcPts val="800"/>
              </a:spcAft>
              <a:buSzPct val="100000"/>
              <a:buChar char="•"/>
            </a:pPr>
            <a:r>
              <a:rPr lang="en-US" sz="1100" dirty="0">
                <a:solidFill>
                  <a:srgbClr val="E3E6F5"/>
                </a:solidFill>
                <a:latin typeface="Calibri" pitchFamily="34" charset="0"/>
                <a:ea typeface="Calibri" pitchFamily="34" charset="-122"/>
                <a:cs typeface="Calibri" pitchFamily="34" charset="-120"/>
              </a:rPr>
              <a:t>Silhouette: higher (→1) = better-separated clusters</a:t>
            </a:r>
            <a:endParaRPr lang="en-US" sz="1100" dirty="0"/>
          </a:p>
          <a:p>
            <a:pPr marL="342900" indent="-342900">
              <a:lnSpc>
                <a:spcPct val="135000"/>
              </a:lnSpc>
              <a:spcAft>
                <a:spcPts val="800"/>
              </a:spcAft>
              <a:buSzPct val="100000"/>
              <a:buChar char="•"/>
            </a:pPr>
            <a:r>
              <a:rPr lang="en-US" sz="1100" dirty="0">
                <a:solidFill>
                  <a:srgbClr val="E3E6F5"/>
                </a:solidFill>
                <a:latin typeface="Calibri" pitchFamily="34" charset="0"/>
                <a:ea typeface="Calibri" pitchFamily="34" charset="-122"/>
                <a:cs typeface="Calibri" pitchFamily="34" charset="-120"/>
              </a:rPr>
              <a:t>Calinski-Harabasz: higher = more compact &amp; separated</a:t>
            </a:r>
            <a:endParaRPr lang="en-US" sz="1100" dirty="0"/>
          </a:p>
          <a:p>
            <a:pPr marL="342900" indent="-342900">
              <a:lnSpc>
                <a:spcPct val="135000"/>
              </a:lnSpc>
              <a:spcAft>
                <a:spcPts val="800"/>
              </a:spcAft>
              <a:buSzPct val="100000"/>
              <a:buChar char="•"/>
            </a:pPr>
            <a:r>
              <a:rPr lang="en-US" sz="1100" dirty="0">
                <a:solidFill>
                  <a:srgbClr val="E3E6F5"/>
                </a:solidFill>
                <a:latin typeface="Calibri" pitchFamily="34" charset="0"/>
                <a:ea typeface="Calibri" pitchFamily="34" charset="-122"/>
                <a:cs typeface="Calibri" pitchFamily="34" charset="-120"/>
              </a:rPr>
              <a:t>Davies-Bouldin: lower (→0) = better separation</a:t>
            </a:r>
            <a:endParaRPr lang="en-US" sz="1100" dirty="0"/>
          </a:p>
        </p:txBody>
      </p:sp>
      <p:sp>
        <p:nvSpPr>
          <p:cNvPr id="10" name="Text 6"/>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11" name="Text 7"/>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Algorithm Comparison: External Validation</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Agreement between cluster assignments and the true activity labels</a:t>
            </a:r>
            <a:endParaRPr lang="en-US" sz="1300" dirty="0"/>
          </a:p>
        </p:txBody>
      </p:sp>
      <p:graphicFrame>
        <p:nvGraphicFramePr>
          <p:cNvPr id="12" name="Table 0"/>
          <p:cNvGraphicFramePr>
            <a:graphicFrameLocks noGrp="1"/>
          </p:cNvGraphicFramePr>
          <p:nvPr/>
        </p:nvGraphicFramePr>
        <p:xfrm>
          <a:off x="457200" y="1234440"/>
          <a:ext cx="1124712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ARI</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NMI</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Homog.</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Complete.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V-Measure</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1C7293"/>
                          </a:solidFill>
                          <a:latin typeface="Calibri" pitchFamily="34" charset="0"/>
                          <a:ea typeface="Calibri" pitchFamily="34" charset="-122"/>
                          <a:cs typeface="Calibri" pitchFamily="34" charset="-120"/>
                        </a:rPr>
                        <a:t>KMeans</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b="1" dirty="0">
                          <a:solidFill>
                            <a:srgbClr val="1C7293"/>
                          </a:solidFill>
                          <a:latin typeface="Calibri" pitchFamily="34" charset="0"/>
                          <a:ea typeface="Calibri" pitchFamily="34" charset="-122"/>
                          <a:cs typeface="Calibri" pitchFamily="34" charset="-120"/>
                        </a:rPr>
                        <a:t>0.4765</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0.6597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0.5224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0.8947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0.6597</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Hierarchical</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-0.0001</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0.0009</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0.0008</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0.0013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0.0009</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GMM</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0.3255</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0.5034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0.3843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0.7293</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buNone/>
                      </a:pPr>
                      <a:r>
                        <a:rPr lang="en-US" sz="1100" dirty="0">
                          <a:solidFill>
                            <a:srgbClr val="1B2A3D"/>
                          </a:solidFill>
                          <a:latin typeface="Calibri" pitchFamily="34" charset="0"/>
                          <a:ea typeface="Calibri" pitchFamily="34" charset="-122"/>
                          <a:cs typeface="Calibri" pitchFamily="34" charset="-120"/>
                        </a:rPr>
                        <a:t>0.5034</a:t>
                      </a:r>
                      <a:endParaRPr lang="en-US" sz="110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457200" y="3017520"/>
            <a:ext cx="6309360" cy="3520440"/>
          </a:xfrm>
          <a:prstGeom prst="roundRect">
            <a:avLst>
              <a:gd name="adj" fmla="val 2078"/>
            </a:avLst>
          </a:prstGeom>
          <a:solidFill>
            <a:srgbClr val="FFFFFF"/>
          </a:solidFill>
          <a:ln/>
          <a:effectLst>
            <a:outerShdw blurRad="101600" dist="38100" dir="2700000" algn="bl" rotWithShape="0">
              <a:srgbClr val="0B2545">
                <a:alpha val="15000"/>
              </a:srgbClr>
            </a:outerShdw>
          </a:effectLst>
        </p:spPr>
      </p:sp>
      <p:pic>
        <p:nvPicPr>
          <p:cNvPr id="7" name="Image 1" descr="cell38_img10.png"/>
          <p:cNvPicPr>
            <a:picLocks noChangeAspect="1"/>
          </p:cNvPicPr>
          <p:nvPr/>
        </p:nvPicPr>
        <p:blipFill>
          <a:blip r:embed="rId4"/>
          <a:stretch>
            <a:fillRect/>
          </a:stretch>
        </p:blipFill>
        <p:spPr>
          <a:xfrm>
            <a:off x="1206632" y="3273552"/>
            <a:ext cx="4520936" cy="2642616"/>
          </a:xfrm>
          <a:prstGeom prst="rect">
            <a:avLst/>
          </a:prstGeom>
        </p:spPr>
      </p:pic>
      <p:sp>
        <p:nvSpPr>
          <p:cNvPr id="8" name="Text 3"/>
          <p:cNvSpPr/>
          <p:nvPr/>
        </p:nvSpPr>
        <p:spPr>
          <a:xfrm>
            <a:off x="7040880" y="3154680"/>
            <a:ext cx="4663440" cy="3291840"/>
          </a:xfrm>
          <a:prstGeom prst="rect">
            <a:avLst/>
          </a:prstGeom>
          <a:noFill/>
          <a:ln/>
        </p:spPr>
        <p:txBody>
          <a:bodyPr wrap="square" rtlCol="0" anchor="t"/>
          <a:lstStyle/>
          <a:p>
            <a:pPr marL="0" indent="0" algn="just">
              <a:lnSpc>
                <a:spcPct val="125000"/>
              </a:lnSpc>
              <a:buNone/>
            </a:pPr>
            <a:r>
              <a:rPr lang="en-US" sz="1250" dirty="0">
                <a:solidFill>
                  <a:srgbClr val="1B2A3D"/>
                </a:solidFill>
                <a:latin typeface="Calibri" pitchFamily="34" charset="0"/>
                <a:ea typeface="Calibri" pitchFamily="34" charset="-122"/>
                <a:cs typeface="Calibri" pitchFamily="34" charset="-120"/>
              </a:rPr>
              <a:t>Completeness is consistently the highest external score for every algorithm (0.89 for KMeans) — meaning each true activity tends to fall within a single cluster. Homogeneity is comparatively lower, telling us each cluster contains more than one true activity. This is the quantitative fingerprint of activities merging into broader clusters, not clusters splitting activities apart.</a:t>
            </a:r>
            <a:endParaRPr lang="en-US" sz="1250" dirty="0"/>
          </a:p>
        </p:txBody>
      </p:sp>
      <p:sp>
        <p:nvSpPr>
          <p:cNvPr id="9" name="Text 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0" name="Text 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STEP 5 (CONT.)</a:t>
            </a:r>
            <a:endParaRPr lang="en-US" sz="1200" dirty="0"/>
          </a:p>
        </p:txBody>
      </p:sp>
      <p:sp>
        <p:nvSpPr>
          <p:cNvPr id="3" name="Text 1"/>
          <p:cNvSpPr/>
          <p:nvPr/>
        </p:nvSpPr>
        <p:spPr>
          <a:xfrm>
            <a:off x="640080" y="777240"/>
            <a:ext cx="82296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Ranking Every Metric Side by Side</a:t>
            </a:r>
            <a:endParaRPr lang="en-US" sz="3000" dirty="0"/>
          </a:p>
        </p:txBody>
      </p:sp>
      <p:pic>
        <p:nvPicPr>
          <p:cNvPr id="4" name="Image 0" descr="/home/claude/imgs/65_rank_comparison.png"/>
          <p:cNvPicPr>
            <a:picLocks noChangeAspect="1"/>
          </p:cNvPicPr>
          <p:nvPr/>
        </p:nvPicPr>
        <p:blipFill>
          <a:blip r:embed="rId3"/>
          <a:stretch>
            <a:fillRect/>
          </a:stretch>
        </p:blipFill>
        <p:spPr>
          <a:xfrm>
            <a:off x="1758600" y="1508760"/>
            <a:ext cx="8644321" cy="4297680"/>
          </a:xfrm>
          <a:prstGeom prst="rect">
            <a:avLst/>
          </a:prstGeom>
        </p:spPr>
      </p:pic>
      <p:sp>
        <p:nvSpPr>
          <p:cNvPr id="5" name="Text 2"/>
          <p:cNvSpPr/>
          <p:nvPr/>
        </p:nvSpPr>
        <p:spPr>
          <a:xfrm>
            <a:off x="640080" y="5989320"/>
            <a:ext cx="10881360" cy="502920"/>
          </a:xfrm>
          <a:prstGeom prst="rect">
            <a:avLst/>
          </a:prstGeom>
          <a:noFill/>
          <a:ln/>
        </p:spPr>
        <p:txBody>
          <a:bodyPr wrap="square" lIns="0" tIns="0" rIns="0" bIns="0" rtlCol="0" anchor="ctr"/>
          <a:lstStyle/>
          <a:p>
            <a:pPr marL="0" indent="0" algn="ctr">
              <a:buNone/>
            </a:pPr>
            <a:r>
              <a:rPr lang="en-US" sz="1050" i="1" dirty="0">
                <a:solidFill>
                  <a:srgbClr val="667085"/>
                </a:solidFill>
                <a:latin typeface="Calibri" pitchFamily="34" charset="0"/>
                <a:ea typeface="Calibri" pitchFamily="34" charset="-122"/>
                <a:cs typeface="Calibri" pitchFamily="34" charset="-120"/>
              </a:rPr>
              <a:t>Per-metric rank (1 = best) for each algorithm — K-Means stays near the top across every dimension, while DBSCAN trails consistently.</a:t>
            </a:r>
            <a:endParaRPr lang="en-US" sz="105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7" name="Text 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6670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Key Finding: Six Activities, Three Natural Clusters</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The most important result of this project</a:t>
            </a:r>
            <a:endParaRPr lang="en-US" sz="1300" dirty="0"/>
          </a:p>
        </p:txBody>
      </p:sp>
      <p:sp>
        <p:nvSpPr>
          <p:cNvPr id="5" name="Text 2"/>
          <p:cNvSpPr/>
          <p:nvPr/>
        </p:nvSpPr>
        <p:spPr>
          <a:xfrm>
            <a:off x="457200" y="1188720"/>
            <a:ext cx="11247120" cy="1097280"/>
          </a:xfrm>
          <a:prstGeom prst="rect">
            <a:avLst/>
          </a:prstGeom>
          <a:noFill/>
          <a:ln/>
        </p:spPr>
        <p:txBody>
          <a:bodyPr wrap="square" rtlCol="0" anchor="t"/>
          <a:lstStyle/>
          <a:p>
            <a:pPr marL="0" indent="0" algn="just">
              <a:lnSpc>
                <a:spcPct val="120000"/>
              </a:lnSpc>
              <a:buNone/>
            </a:pPr>
            <a:r>
              <a:rPr lang="en-US" sz="1350" dirty="0">
                <a:solidFill>
                  <a:srgbClr val="1B2A3D"/>
                </a:solidFill>
                <a:latin typeface="Calibri" pitchFamily="34" charset="0"/>
                <a:ea typeface="Calibri" pitchFamily="34" charset="-122"/>
                <a:cs typeface="Calibri" pitchFamily="34" charset="-120"/>
              </a:rPr>
              <a:t>Clustering is unsupervised — the algorithm never sees the six activity labels, it only groups observations by similarity. Since k = 3 produced the highest silhouette score of any value tested (including k = 6), the data itself indicates that the six labeled activities are not equally separable in feature space, and naturally collapse into three broader behavioral categories.</a:t>
            </a:r>
            <a:endParaRPr lang="en-US" sz="1350" dirty="0"/>
          </a:p>
        </p:txBody>
      </p:sp>
      <p:graphicFrame>
        <p:nvGraphicFramePr>
          <p:cNvPr id="15" name="Table 0"/>
          <p:cNvGraphicFramePr>
            <a:graphicFrameLocks noGrp="1"/>
          </p:cNvGraphicFramePr>
          <p:nvPr/>
        </p:nvGraphicFramePr>
        <p:xfrm>
          <a:off x="457200" y="2468880"/>
          <a:ext cx="1124712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1490472">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90472">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Cluster</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Walking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Upstairs</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Downstairs</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Sitting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Standing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Laying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C0 — Dynamic</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C1 — Upright/Static</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1B2A3D"/>
                          </a:solidFill>
                          <a:latin typeface="Calibri" pitchFamily="34" charset="0"/>
                          <a:ea typeface="Calibri" pitchFamily="34" charset="-122"/>
                          <a:cs typeface="Calibri" pitchFamily="34" charset="-120"/>
                        </a:rPr>
                        <a:t>C2 — Resting</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tc>
                  <a:txBody>
                    <a:bodyPr/>
                    <a:lstStyle/>
                    <a:p>
                      <a:pPr marL="0" indent="0" algn="ctr">
                        <a:buNone/>
                      </a:pPr>
                      <a:r>
                        <a:rPr lang="en-US" sz="1150" dirty="0">
                          <a:solidFill>
                            <a:srgbClr val="1B2A3D"/>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9525" cap="flat" cmpd="sng" algn="ctr">
                      <a:solidFill>
                        <a:srgbClr val="DCE7EE"/>
                      </a:solidFill>
                      <a:prstDash val="solid"/>
                      <a:round/>
                      <a:headEnd type="none" w="med" len="med"/>
                      <a:tailEnd type="none" w="med" len="med"/>
                    </a:lnL>
                    <a:lnR w="9525" cap="flat" cmpd="sng" algn="ctr">
                      <a:solidFill>
                        <a:srgbClr val="DCE7EE"/>
                      </a:solidFill>
                      <a:prstDash val="solid"/>
                      <a:round/>
                      <a:headEnd type="none" w="med" len="med"/>
                      <a:tailEnd type="none" w="med" len="med"/>
                    </a:lnR>
                    <a:lnT w="9525" cap="flat" cmpd="sng" algn="ctr">
                      <a:solidFill>
                        <a:srgbClr val="DCE7EE"/>
                      </a:solidFill>
                      <a:prstDash val="solid"/>
                      <a:round/>
                      <a:headEnd type="none" w="med" len="med"/>
                      <a:tailEnd type="none" w="med" len="med"/>
                    </a:lnT>
                    <a:lnB w="9525" cap="flat" cmpd="sng" algn="ctr">
                      <a:solidFill>
                        <a:srgbClr val="DCE7E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3"/>
          <p:cNvSpPr/>
          <p:nvPr/>
        </p:nvSpPr>
        <p:spPr>
          <a:xfrm>
            <a:off x="457200"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8" name="Text 4"/>
          <p:cNvSpPr/>
          <p:nvPr/>
        </p:nvSpPr>
        <p:spPr>
          <a:xfrm>
            <a:off x="640080"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Dynamic Activities</a:t>
            </a:r>
            <a:endParaRPr lang="en-US" sz="1350" dirty="0"/>
          </a:p>
        </p:txBody>
      </p:sp>
      <p:sp>
        <p:nvSpPr>
          <p:cNvPr id="9" name="Text 5"/>
          <p:cNvSpPr/>
          <p:nvPr/>
        </p:nvSpPr>
        <p:spPr>
          <a:xfrm>
            <a:off x="640080" y="4864608"/>
            <a:ext cx="3246120" cy="1280160"/>
          </a:xfrm>
          <a:prstGeom prst="rect">
            <a:avLst/>
          </a:prstGeom>
          <a:noFill/>
          <a:ln/>
        </p:spPr>
        <p:txBody>
          <a:bodyPr wrap="square" rtlCol="0" anchor="t"/>
          <a:lstStyle/>
          <a:p>
            <a:pPr marL="0" indent="0" algn="just">
              <a:lnSpc>
                <a:spcPct val="115000"/>
              </a:lnSpc>
              <a:buNone/>
            </a:pPr>
            <a:r>
              <a:rPr lang="en-US" sz="1100" dirty="0">
                <a:solidFill>
                  <a:srgbClr val="1B2A3D"/>
                </a:solidFill>
                <a:latin typeface="Calibri" pitchFamily="34" charset="0"/>
                <a:ea typeface="Calibri" pitchFamily="34" charset="-122"/>
                <a:cs typeface="Calibri" pitchFamily="34" charset="-120"/>
              </a:rPr>
              <a:t>Walking, Walking Upstairs, Walking Downstairs merge — all involve continuous, repetitive locomotion.</a:t>
            </a:r>
            <a:endParaRPr lang="en-US" sz="1100" dirty="0"/>
          </a:p>
        </p:txBody>
      </p:sp>
      <p:sp>
        <p:nvSpPr>
          <p:cNvPr id="10" name="Shape 6"/>
          <p:cNvSpPr/>
          <p:nvPr/>
        </p:nvSpPr>
        <p:spPr>
          <a:xfrm>
            <a:off x="4279392"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11" name="Text 7"/>
          <p:cNvSpPr/>
          <p:nvPr/>
        </p:nvSpPr>
        <p:spPr>
          <a:xfrm>
            <a:off x="4462272"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Static Upright</a:t>
            </a:r>
            <a:endParaRPr lang="en-US" sz="1350" dirty="0"/>
          </a:p>
        </p:txBody>
      </p:sp>
      <p:sp>
        <p:nvSpPr>
          <p:cNvPr id="12" name="Text 8"/>
          <p:cNvSpPr/>
          <p:nvPr/>
        </p:nvSpPr>
        <p:spPr>
          <a:xfrm>
            <a:off x="4462272" y="4864608"/>
            <a:ext cx="3246120" cy="1280160"/>
          </a:xfrm>
          <a:prstGeom prst="rect">
            <a:avLst/>
          </a:prstGeom>
          <a:noFill/>
          <a:ln/>
        </p:spPr>
        <p:txBody>
          <a:bodyPr wrap="square" rtlCol="0" anchor="t"/>
          <a:lstStyle/>
          <a:p>
            <a:pPr marL="0" indent="0" algn="just">
              <a:lnSpc>
                <a:spcPct val="115000"/>
              </a:lnSpc>
              <a:buNone/>
            </a:pPr>
            <a:r>
              <a:rPr lang="en-US" sz="1100" dirty="0">
                <a:solidFill>
                  <a:srgbClr val="1B2A3D"/>
                </a:solidFill>
                <a:latin typeface="Calibri" pitchFamily="34" charset="0"/>
                <a:ea typeface="Calibri" pitchFamily="34" charset="-122"/>
                <a:cs typeface="Calibri" pitchFamily="34" charset="-120"/>
              </a:rPr>
              <a:t>Sitting and Standing merge — both are still, upright postures hard to distinguish from accelerometer/gyroscope signal alone.</a:t>
            </a:r>
            <a:endParaRPr lang="en-US" sz="1100" dirty="0"/>
          </a:p>
        </p:txBody>
      </p:sp>
      <p:sp>
        <p:nvSpPr>
          <p:cNvPr id="13" name="Shape 9"/>
          <p:cNvSpPr/>
          <p:nvPr/>
        </p:nvSpPr>
        <p:spPr>
          <a:xfrm>
            <a:off x="8101584" y="4343400"/>
            <a:ext cx="3611880" cy="1920240"/>
          </a:xfrm>
          <a:prstGeom prst="roundRect">
            <a:avLst>
              <a:gd name="adj" fmla="val 3810"/>
            </a:avLst>
          </a:prstGeom>
          <a:solidFill>
            <a:srgbClr val="FFFFFF"/>
          </a:solidFill>
          <a:ln/>
          <a:effectLst>
            <a:outerShdw blurRad="101600" dist="38100" dir="2700000" algn="bl" rotWithShape="0">
              <a:srgbClr val="0B2545">
                <a:alpha val="15000"/>
              </a:srgbClr>
            </a:outerShdw>
          </a:effectLst>
        </p:spPr>
      </p:sp>
      <p:sp>
        <p:nvSpPr>
          <p:cNvPr id="14" name="Text 10"/>
          <p:cNvSpPr/>
          <p:nvPr/>
        </p:nvSpPr>
        <p:spPr>
          <a:xfrm>
            <a:off x="8284464" y="4498848"/>
            <a:ext cx="3246120" cy="365760"/>
          </a:xfrm>
          <a:prstGeom prst="rect">
            <a:avLst/>
          </a:prstGeom>
          <a:noFill/>
          <a:ln/>
        </p:spPr>
        <p:txBody>
          <a:bodyPr wrap="square"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Resting</a:t>
            </a:r>
            <a:endParaRPr lang="en-US" sz="1350" dirty="0"/>
          </a:p>
        </p:txBody>
      </p:sp>
      <p:sp>
        <p:nvSpPr>
          <p:cNvPr id="6" name="Text 11"/>
          <p:cNvSpPr/>
          <p:nvPr/>
        </p:nvSpPr>
        <p:spPr>
          <a:xfrm>
            <a:off x="8284464" y="4864608"/>
            <a:ext cx="3246120" cy="1280160"/>
          </a:xfrm>
          <a:prstGeom prst="rect">
            <a:avLst/>
          </a:prstGeom>
          <a:noFill/>
          <a:ln/>
        </p:spPr>
        <p:txBody>
          <a:bodyPr wrap="square" rtlCol="0" anchor="t"/>
          <a:lstStyle/>
          <a:p>
            <a:pPr marL="0" indent="0" algn="just">
              <a:lnSpc>
                <a:spcPct val="115000"/>
              </a:lnSpc>
              <a:buNone/>
            </a:pPr>
            <a:r>
              <a:rPr lang="en-US" sz="1100" dirty="0">
                <a:solidFill>
                  <a:srgbClr val="1B2A3D"/>
                </a:solidFill>
                <a:latin typeface="Calibri" pitchFamily="34" charset="0"/>
                <a:ea typeface="Calibri" pitchFamily="34" charset="-122"/>
                <a:cs typeface="Calibri" pitchFamily="34" charset="-120"/>
              </a:rPr>
              <a:t>Laying remains fully separate — its orientation relative to gravity is unmistakably different from all other postures.</a:t>
            </a:r>
            <a:endParaRPr lang="en-US" sz="1100" dirty="0"/>
          </a:p>
        </p:txBody>
      </p:sp>
      <p:sp>
        <p:nvSpPr>
          <p:cNvPr id="16" name="Text 12"/>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7" name="Text 13"/>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84048"/>
            <a:ext cx="457200" cy="457200"/>
          </a:xfrm>
          <a:prstGeom prst="rect">
            <a:avLst/>
          </a:prstGeom>
        </p:spPr>
      </p:pic>
      <p:sp>
        <p:nvSpPr>
          <p:cNvPr id="3" name="Text 0"/>
          <p:cNvSpPr/>
          <p:nvPr/>
        </p:nvSpPr>
        <p:spPr>
          <a:xfrm>
            <a:off x="1051560" y="292608"/>
            <a:ext cx="10607040" cy="502920"/>
          </a:xfrm>
          <a:prstGeom prst="rect">
            <a:avLst/>
          </a:prstGeom>
          <a:noFill/>
          <a:ln/>
        </p:spPr>
        <p:txBody>
          <a:bodyPr wrap="square" rtlCol="0" anchor="ctr"/>
          <a:lstStyle/>
          <a:p>
            <a:pPr marL="0" indent="0">
              <a:buNone/>
            </a:pPr>
            <a:r>
              <a:rPr lang="en-US" sz="2700" b="1" dirty="0">
                <a:solidFill>
                  <a:srgbClr val="1B2A3D"/>
                </a:solidFill>
                <a:latin typeface="Cambria" pitchFamily="34" charset="0"/>
                <a:ea typeface="Cambria" pitchFamily="34" charset="-122"/>
                <a:cs typeface="Cambria" pitchFamily="34" charset="-120"/>
              </a:rPr>
              <a:t>Cluster Composition at k = 3</a:t>
            </a:r>
            <a:endParaRPr lang="en-US" sz="2700" dirty="0"/>
          </a:p>
        </p:txBody>
      </p:sp>
      <p:sp>
        <p:nvSpPr>
          <p:cNvPr id="4" name="Text 1"/>
          <p:cNvSpPr/>
          <p:nvPr/>
        </p:nvSpPr>
        <p:spPr>
          <a:xfrm>
            <a:off x="1051560" y="749808"/>
            <a:ext cx="10607040" cy="320040"/>
          </a:xfrm>
          <a:prstGeom prst="rect">
            <a:avLst/>
          </a:prstGeom>
          <a:noFill/>
          <a:ln/>
        </p:spPr>
        <p:txBody>
          <a:bodyPr wrap="square" rtlCol="0" anchor="ctr"/>
          <a:lstStyle/>
          <a:p>
            <a:pPr marL="0" indent="0">
              <a:buNone/>
            </a:pPr>
            <a:r>
              <a:rPr lang="en-US" sz="1300" i="1" dirty="0">
                <a:solidFill>
                  <a:srgbClr val="5C7184"/>
                </a:solidFill>
                <a:latin typeface="Calibri" pitchFamily="34" charset="0"/>
                <a:ea typeface="Calibri" pitchFamily="34" charset="-122"/>
                <a:cs typeface="Calibri" pitchFamily="34" charset="-120"/>
              </a:rPr>
              <a:t>How the chosen KMeans solution distributes samples and aligns with activities</a:t>
            </a:r>
            <a:endParaRPr lang="en-US" sz="1300" dirty="0"/>
          </a:p>
        </p:txBody>
      </p:sp>
      <p:sp>
        <p:nvSpPr>
          <p:cNvPr id="5" name="Shape 2"/>
          <p:cNvSpPr/>
          <p:nvPr/>
        </p:nvSpPr>
        <p:spPr>
          <a:xfrm>
            <a:off x="457200" y="1188720"/>
            <a:ext cx="4297680" cy="4480560"/>
          </a:xfrm>
          <a:prstGeom prst="roundRect">
            <a:avLst>
              <a:gd name="adj" fmla="val 1702"/>
            </a:avLst>
          </a:prstGeom>
          <a:solidFill>
            <a:srgbClr val="FFFFFF"/>
          </a:solidFill>
          <a:ln/>
          <a:effectLst>
            <a:outerShdw blurRad="101600" dist="38100" dir="2700000" algn="bl" rotWithShape="0">
              <a:srgbClr val="0B2545">
                <a:alpha val="15000"/>
              </a:srgbClr>
            </a:outerShdw>
          </a:effectLst>
        </p:spPr>
      </p:sp>
      <p:pic>
        <p:nvPicPr>
          <p:cNvPr id="6" name="Image 1" descr="cell41_img15.png"/>
          <p:cNvPicPr>
            <a:picLocks noChangeAspect="1"/>
          </p:cNvPicPr>
          <p:nvPr/>
        </p:nvPicPr>
        <p:blipFill>
          <a:blip r:embed="rId4"/>
          <a:stretch>
            <a:fillRect/>
          </a:stretch>
        </p:blipFill>
        <p:spPr>
          <a:xfrm>
            <a:off x="905945" y="1417320"/>
            <a:ext cx="3292675" cy="2727960"/>
          </a:xfrm>
          <a:prstGeom prst="rect">
            <a:avLst/>
          </a:prstGeom>
        </p:spPr>
      </p:pic>
      <p:sp>
        <p:nvSpPr>
          <p:cNvPr id="7" name="Shape 3"/>
          <p:cNvSpPr/>
          <p:nvPr/>
        </p:nvSpPr>
        <p:spPr>
          <a:xfrm>
            <a:off x="5029200" y="1188720"/>
            <a:ext cx="4754880" cy="4480560"/>
          </a:xfrm>
          <a:prstGeom prst="roundRect">
            <a:avLst>
              <a:gd name="adj" fmla="val 1633"/>
            </a:avLst>
          </a:prstGeom>
          <a:solidFill>
            <a:srgbClr val="FFFFFF"/>
          </a:solidFill>
          <a:ln/>
          <a:effectLst>
            <a:outerShdw blurRad="101600" dist="38100" dir="2700000" algn="bl" rotWithShape="0">
              <a:srgbClr val="0B2545">
                <a:alpha val="15000"/>
              </a:srgbClr>
            </a:outerShdw>
          </a:effectLst>
        </p:spPr>
      </p:sp>
      <p:pic>
        <p:nvPicPr>
          <p:cNvPr id="8" name="Image 2" descr="cell42_img16.png"/>
          <p:cNvPicPr>
            <a:picLocks noChangeAspect="1"/>
          </p:cNvPicPr>
          <p:nvPr/>
        </p:nvPicPr>
        <p:blipFill>
          <a:blip r:embed="rId5"/>
          <a:stretch>
            <a:fillRect/>
          </a:stretch>
        </p:blipFill>
        <p:spPr>
          <a:xfrm>
            <a:off x="6355080" y="1325880"/>
            <a:ext cx="3374517" cy="3840480"/>
          </a:xfrm>
          <a:prstGeom prst="rect">
            <a:avLst/>
          </a:prstGeom>
        </p:spPr>
      </p:pic>
      <p:sp>
        <p:nvSpPr>
          <p:cNvPr id="9" name="Shape 4"/>
          <p:cNvSpPr/>
          <p:nvPr/>
        </p:nvSpPr>
        <p:spPr>
          <a:xfrm>
            <a:off x="10058400" y="1188720"/>
            <a:ext cx="1691640" cy="4480560"/>
          </a:xfrm>
          <a:prstGeom prst="roundRect">
            <a:avLst>
              <a:gd name="adj" fmla="val 4324"/>
            </a:avLst>
          </a:prstGeom>
          <a:solidFill>
            <a:srgbClr val="13315C"/>
          </a:solidFill>
          <a:ln/>
          <a:effectLst>
            <a:outerShdw blurRad="101600" dist="38100" dir="2700000" algn="bl" rotWithShape="0">
              <a:srgbClr val="0B2545">
                <a:alpha val="15000"/>
              </a:srgbClr>
            </a:outerShdw>
          </a:effectLst>
        </p:spPr>
      </p:sp>
      <p:sp>
        <p:nvSpPr>
          <p:cNvPr id="10" name="Text 5"/>
          <p:cNvSpPr/>
          <p:nvPr/>
        </p:nvSpPr>
        <p:spPr>
          <a:xfrm>
            <a:off x="10195560" y="1325880"/>
            <a:ext cx="1463040" cy="274320"/>
          </a:xfrm>
          <a:prstGeom prst="rect">
            <a:avLst/>
          </a:prstGeom>
          <a:noFill/>
          <a:ln/>
        </p:spPr>
        <p:txBody>
          <a:bodyPr wrap="square" rtlCol="0" anchor="ctr"/>
          <a:lstStyle/>
          <a:p>
            <a:pPr marL="0" indent="0">
              <a:buNone/>
            </a:pPr>
            <a:r>
              <a:rPr lang="en-US" sz="1100" b="1" dirty="0">
                <a:solidFill>
                  <a:srgbClr val="F2A541"/>
                </a:solidFill>
                <a:latin typeface="Calibri" pitchFamily="34" charset="0"/>
                <a:ea typeface="Calibri" pitchFamily="34" charset="-122"/>
                <a:cs typeface="Calibri" pitchFamily="34" charset="-120"/>
              </a:rPr>
              <a:t>Cluster Sizes</a:t>
            </a:r>
            <a:endParaRPr lang="en-US" sz="1100" dirty="0"/>
          </a:p>
        </p:txBody>
      </p:sp>
      <p:sp>
        <p:nvSpPr>
          <p:cNvPr id="11" name="Text 6"/>
          <p:cNvSpPr/>
          <p:nvPr/>
        </p:nvSpPr>
        <p:spPr>
          <a:xfrm>
            <a:off x="10195560" y="169164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C0</a:t>
            </a:r>
            <a:endParaRPr lang="en-US" sz="1300" dirty="0"/>
          </a:p>
        </p:txBody>
      </p:sp>
      <p:sp>
        <p:nvSpPr>
          <p:cNvPr id="12" name="Text 7"/>
          <p:cNvSpPr/>
          <p:nvPr/>
        </p:nvSpPr>
        <p:spPr>
          <a:xfrm>
            <a:off x="10195560" y="196596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4,563</a:t>
            </a:r>
            <a:endParaRPr lang="en-US" sz="1600" dirty="0"/>
          </a:p>
        </p:txBody>
      </p:sp>
      <p:sp>
        <p:nvSpPr>
          <p:cNvPr id="13" name="Text 8"/>
          <p:cNvSpPr/>
          <p:nvPr/>
        </p:nvSpPr>
        <p:spPr>
          <a:xfrm>
            <a:off x="10195560" y="256032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C1</a:t>
            </a:r>
            <a:endParaRPr lang="en-US" sz="1300" dirty="0"/>
          </a:p>
        </p:txBody>
      </p:sp>
      <p:sp>
        <p:nvSpPr>
          <p:cNvPr id="14" name="Text 9"/>
          <p:cNvSpPr/>
          <p:nvPr/>
        </p:nvSpPr>
        <p:spPr>
          <a:xfrm>
            <a:off x="10195560" y="283464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3,803</a:t>
            </a:r>
            <a:endParaRPr lang="en-US" sz="1600" dirty="0"/>
          </a:p>
        </p:txBody>
      </p:sp>
      <p:sp>
        <p:nvSpPr>
          <p:cNvPr id="15" name="Text 10"/>
          <p:cNvSpPr/>
          <p:nvPr/>
        </p:nvSpPr>
        <p:spPr>
          <a:xfrm>
            <a:off x="10195560" y="3429000"/>
            <a:ext cx="54864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C2</a:t>
            </a:r>
            <a:endParaRPr lang="en-US" sz="1300" dirty="0"/>
          </a:p>
        </p:txBody>
      </p:sp>
      <p:sp>
        <p:nvSpPr>
          <p:cNvPr id="16" name="Text 11"/>
          <p:cNvSpPr/>
          <p:nvPr/>
        </p:nvSpPr>
        <p:spPr>
          <a:xfrm>
            <a:off x="10195560" y="3703320"/>
            <a:ext cx="14630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1,933</a:t>
            </a:r>
            <a:endParaRPr lang="en-US" sz="1600" dirty="0"/>
          </a:p>
        </p:txBody>
      </p:sp>
      <p:sp>
        <p:nvSpPr>
          <p:cNvPr id="17" name="Text 12"/>
          <p:cNvSpPr/>
          <p:nvPr/>
        </p:nvSpPr>
        <p:spPr>
          <a:xfrm>
            <a:off x="10195560" y="4434840"/>
            <a:ext cx="1463040" cy="274320"/>
          </a:xfrm>
          <a:prstGeom prst="rect">
            <a:avLst/>
          </a:prstGeom>
          <a:noFill/>
          <a:ln/>
        </p:spPr>
        <p:txBody>
          <a:bodyPr wrap="square" rtlCol="0" anchor="ctr"/>
          <a:lstStyle/>
          <a:p>
            <a:pPr marL="0" indent="0">
              <a:buNone/>
            </a:pPr>
            <a:r>
              <a:rPr lang="en-US" sz="1100" b="1" dirty="0">
                <a:solidFill>
                  <a:srgbClr val="F2A541"/>
                </a:solidFill>
                <a:latin typeface="Calibri" pitchFamily="34" charset="0"/>
                <a:ea typeface="Calibri" pitchFamily="34" charset="-122"/>
                <a:cs typeface="Calibri" pitchFamily="34" charset="-120"/>
              </a:rPr>
              <a:t>Purity</a:t>
            </a:r>
            <a:endParaRPr lang="en-US" sz="1100" dirty="0"/>
          </a:p>
        </p:txBody>
      </p:sp>
      <p:sp>
        <p:nvSpPr>
          <p:cNvPr id="18" name="Text 13"/>
          <p:cNvSpPr/>
          <p:nvPr/>
        </p:nvSpPr>
        <p:spPr>
          <a:xfrm>
            <a:off x="10195560" y="4709160"/>
            <a:ext cx="146304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0.528</a:t>
            </a:r>
            <a:endParaRPr lang="en-US" sz="2200" dirty="0"/>
          </a:p>
        </p:txBody>
      </p:sp>
      <p:sp>
        <p:nvSpPr>
          <p:cNvPr id="19" name="Text 14"/>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20" name="Text 15"/>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rgbClr val="5C7184"/>
                </a:solidFill>
                <a:latin typeface="Calibri" pitchFamily="34" charset="0"/>
                <a:ea typeface="Calibri" pitchFamily="34" charset="-122"/>
                <a:cs typeface="Calibri" pitchFamily="34" charset="-120"/>
              </a:rPr>
              <a:t>20</a:t>
            </a:r>
            <a:endParaRPr lang="en-US" sz="900" dirty="0"/>
          </a:p>
        </p:txBody>
      </p:sp>
      <p:pic>
        <p:nvPicPr>
          <p:cNvPr id="24" name="Picture 23">
            <a:extLst>
              <a:ext uri="{FF2B5EF4-FFF2-40B4-BE49-F238E27FC236}">
                <a16:creationId xmlns:a16="http://schemas.microsoft.com/office/drawing/2014/main" id="{03B3F799-CACE-335E-9611-33AF75A23C6F}"/>
              </a:ext>
            </a:extLst>
          </p:cNvPr>
          <p:cNvPicPr>
            <a:picLocks noChangeAspect="1"/>
          </p:cNvPicPr>
          <p:nvPr/>
        </p:nvPicPr>
        <p:blipFill>
          <a:blip r:embed="rId6"/>
          <a:stretch>
            <a:fillRect/>
          </a:stretch>
        </p:blipFill>
        <p:spPr>
          <a:xfrm>
            <a:off x="816519" y="3958954"/>
            <a:ext cx="3618321" cy="15004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1217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0080" y="777240"/>
            <a:ext cx="640080" cy="640080"/>
          </a:xfrm>
          <a:prstGeom prst="rect">
            <a:avLst/>
          </a:prstGeom>
        </p:spPr>
      </p:pic>
      <p:sp>
        <p:nvSpPr>
          <p:cNvPr id="3" name="Text 0"/>
          <p:cNvSpPr/>
          <p:nvPr/>
        </p:nvSpPr>
        <p:spPr>
          <a:xfrm>
            <a:off x="1463040" y="86868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FINAL VERDICT</a:t>
            </a:r>
            <a:endParaRPr lang="en-US" sz="1200" dirty="0"/>
          </a:p>
        </p:txBody>
      </p:sp>
      <p:sp>
        <p:nvSpPr>
          <p:cNvPr id="4" name="Text 1"/>
          <p:cNvSpPr/>
          <p:nvPr/>
        </p:nvSpPr>
        <p:spPr>
          <a:xfrm>
            <a:off x="640080" y="1417320"/>
            <a:ext cx="73152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K-Means Wins</a:t>
            </a:r>
            <a:endParaRPr lang="en-US" sz="4000" dirty="0"/>
          </a:p>
        </p:txBody>
      </p:sp>
      <p:sp>
        <p:nvSpPr>
          <p:cNvPr id="5" name="Text 2"/>
          <p:cNvSpPr/>
          <p:nvPr/>
        </p:nvSpPr>
        <p:spPr>
          <a:xfrm>
            <a:off x="640080" y="2331720"/>
            <a:ext cx="6949440" cy="822960"/>
          </a:xfrm>
          <a:prstGeom prst="rect">
            <a:avLst/>
          </a:prstGeom>
          <a:noFill/>
          <a:ln/>
        </p:spPr>
        <p:txBody>
          <a:bodyPr wrap="square" lIns="0" tIns="0" rIns="0" bIns="0" rtlCol="0" anchor="ctr"/>
          <a:lstStyle/>
          <a:p>
            <a:pPr marL="0" indent="0">
              <a:lnSpc>
                <a:spcPct val="130000"/>
              </a:lnSpc>
              <a:buNone/>
            </a:pPr>
            <a:r>
              <a:rPr lang="en-US" sz="1400" dirty="0">
                <a:solidFill>
                  <a:srgbClr val="C7CCE8"/>
                </a:solidFill>
                <a:latin typeface="Calibri" pitchFamily="34" charset="0"/>
                <a:ea typeface="Calibri" pitchFamily="34" charset="-122"/>
                <a:cs typeface="Calibri" pitchFamily="34" charset="-120"/>
              </a:rPr>
              <a:t>Across all three evaluation metrics, K-Means delivered the most balanced, well-separated clustering of human activities from raw sensor signals.</a:t>
            </a:r>
            <a:endParaRPr lang="en-US" sz="1400" dirty="0"/>
          </a:p>
        </p:txBody>
      </p:sp>
      <p:sp>
        <p:nvSpPr>
          <p:cNvPr id="6" name="Shape 3"/>
          <p:cNvSpPr/>
          <p:nvPr/>
        </p:nvSpPr>
        <p:spPr>
          <a:xfrm>
            <a:off x="640080" y="3419856"/>
            <a:ext cx="201168" cy="201168"/>
          </a:xfrm>
          <a:prstGeom prst="ellipse">
            <a:avLst/>
          </a:prstGeom>
          <a:solidFill>
            <a:srgbClr val="0FB5AE"/>
          </a:solidFill>
          <a:ln/>
        </p:spPr>
      </p:sp>
      <p:sp>
        <p:nvSpPr>
          <p:cNvPr id="7" name="Text 4"/>
          <p:cNvSpPr/>
          <p:nvPr/>
        </p:nvSpPr>
        <p:spPr>
          <a:xfrm>
            <a:off x="1051560" y="3310128"/>
            <a:ext cx="6583680" cy="502920"/>
          </a:xfrm>
          <a:prstGeom prst="rect">
            <a:avLst/>
          </a:prstGeom>
          <a:noFill/>
          <a:ln/>
        </p:spPr>
        <p:txBody>
          <a:bodyPr wrap="square" lIns="0" tIns="0" rIns="0" bIns="0" rtlCol="0" anchor="ctr"/>
          <a:lstStyle/>
          <a:p>
            <a:pPr marL="0" indent="0">
              <a:lnSpc>
                <a:spcPct val="115000"/>
              </a:lnSpc>
              <a:buNone/>
            </a:pPr>
            <a:r>
              <a:rPr lang="en-US" sz="1200" dirty="0">
                <a:solidFill>
                  <a:srgbClr val="EDEFFA"/>
                </a:solidFill>
                <a:latin typeface="Calibri" pitchFamily="34" charset="0"/>
                <a:ea typeface="Calibri" pitchFamily="34" charset="-122"/>
                <a:cs typeface="Calibri" pitchFamily="34" charset="-120"/>
              </a:rPr>
              <a:t>Highest Silhouette Score (0.4239) — clusters are well-separated and internally tight</a:t>
            </a:r>
            <a:endParaRPr lang="en-US" sz="1200" dirty="0"/>
          </a:p>
        </p:txBody>
      </p:sp>
      <p:sp>
        <p:nvSpPr>
          <p:cNvPr id="8" name="Shape 5"/>
          <p:cNvSpPr/>
          <p:nvPr/>
        </p:nvSpPr>
        <p:spPr>
          <a:xfrm>
            <a:off x="640080" y="3986784"/>
            <a:ext cx="201168" cy="201168"/>
          </a:xfrm>
          <a:prstGeom prst="ellipse">
            <a:avLst/>
          </a:prstGeom>
          <a:solidFill>
            <a:srgbClr val="0FB5AE"/>
          </a:solidFill>
          <a:ln/>
        </p:spPr>
      </p:sp>
      <p:sp>
        <p:nvSpPr>
          <p:cNvPr id="9" name="Text 6"/>
          <p:cNvSpPr/>
          <p:nvPr/>
        </p:nvSpPr>
        <p:spPr>
          <a:xfrm>
            <a:off x="1051560" y="3877056"/>
            <a:ext cx="6583680" cy="502920"/>
          </a:xfrm>
          <a:prstGeom prst="rect">
            <a:avLst/>
          </a:prstGeom>
          <a:noFill/>
          <a:ln/>
        </p:spPr>
        <p:txBody>
          <a:bodyPr wrap="square" lIns="0" tIns="0" rIns="0" bIns="0" rtlCol="0" anchor="ctr"/>
          <a:lstStyle/>
          <a:p>
            <a:pPr marL="0" indent="0">
              <a:lnSpc>
                <a:spcPct val="115000"/>
              </a:lnSpc>
              <a:buNone/>
            </a:pPr>
            <a:r>
              <a:rPr lang="en-US" sz="1200" dirty="0">
                <a:solidFill>
                  <a:srgbClr val="EDEFFA"/>
                </a:solidFill>
                <a:latin typeface="Calibri" pitchFamily="34" charset="0"/>
                <a:ea typeface="Calibri" pitchFamily="34" charset="-122"/>
                <a:cs typeface="Calibri" pitchFamily="34" charset="-120"/>
              </a:rPr>
              <a:t>Highest Calinski-Harabasz Index (9,268.6) — strong between-cluster vs. within-cluster variance ratio</a:t>
            </a:r>
            <a:endParaRPr lang="en-US" sz="1200" dirty="0"/>
          </a:p>
        </p:txBody>
      </p:sp>
      <p:sp>
        <p:nvSpPr>
          <p:cNvPr id="10" name="Shape 7"/>
          <p:cNvSpPr/>
          <p:nvPr/>
        </p:nvSpPr>
        <p:spPr>
          <a:xfrm>
            <a:off x="640080" y="4553712"/>
            <a:ext cx="201168" cy="201168"/>
          </a:xfrm>
          <a:prstGeom prst="ellipse">
            <a:avLst/>
          </a:prstGeom>
          <a:solidFill>
            <a:srgbClr val="0FB5AE"/>
          </a:solidFill>
          <a:ln/>
        </p:spPr>
      </p:sp>
      <p:sp>
        <p:nvSpPr>
          <p:cNvPr id="11" name="Text 8"/>
          <p:cNvSpPr/>
          <p:nvPr/>
        </p:nvSpPr>
        <p:spPr>
          <a:xfrm>
            <a:off x="1051560" y="4443984"/>
            <a:ext cx="6583680" cy="502920"/>
          </a:xfrm>
          <a:prstGeom prst="rect">
            <a:avLst/>
          </a:prstGeom>
          <a:noFill/>
          <a:ln/>
        </p:spPr>
        <p:txBody>
          <a:bodyPr wrap="square" lIns="0" tIns="0" rIns="0" bIns="0" rtlCol="0" anchor="ctr"/>
          <a:lstStyle/>
          <a:p>
            <a:pPr marL="0" indent="0">
              <a:lnSpc>
                <a:spcPct val="115000"/>
              </a:lnSpc>
              <a:buNone/>
            </a:pPr>
            <a:r>
              <a:rPr lang="en-US" sz="1200" dirty="0">
                <a:solidFill>
                  <a:srgbClr val="EDEFFA"/>
                </a:solidFill>
                <a:latin typeface="Calibri" pitchFamily="34" charset="0"/>
                <a:ea typeface="Calibri" pitchFamily="34" charset="-122"/>
                <a:cs typeface="Calibri" pitchFamily="34" charset="-120"/>
              </a:rPr>
              <a:t>Lowest Davies-Bouldin Index (1.2948) — minimal cluster overlap</a:t>
            </a:r>
            <a:endParaRPr lang="en-US" sz="1200" dirty="0"/>
          </a:p>
        </p:txBody>
      </p:sp>
      <p:sp>
        <p:nvSpPr>
          <p:cNvPr id="12" name="Shape 9"/>
          <p:cNvSpPr/>
          <p:nvPr/>
        </p:nvSpPr>
        <p:spPr>
          <a:xfrm>
            <a:off x="640080" y="5120640"/>
            <a:ext cx="201168" cy="201168"/>
          </a:xfrm>
          <a:prstGeom prst="ellipse">
            <a:avLst/>
          </a:prstGeom>
          <a:solidFill>
            <a:srgbClr val="0FB5AE"/>
          </a:solidFill>
          <a:ln/>
        </p:spPr>
      </p:sp>
      <p:sp>
        <p:nvSpPr>
          <p:cNvPr id="13" name="Text 10"/>
          <p:cNvSpPr/>
          <p:nvPr/>
        </p:nvSpPr>
        <p:spPr>
          <a:xfrm>
            <a:off x="1051560" y="5010912"/>
            <a:ext cx="6583680" cy="502920"/>
          </a:xfrm>
          <a:prstGeom prst="rect">
            <a:avLst/>
          </a:prstGeom>
          <a:noFill/>
          <a:ln/>
        </p:spPr>
        <p:txBody>
          <a:bodyPr wrap="square" lIns="0" tIns="0" rIns="0" bIns="0" rtlCol="0" anchor="ctr"/>
          <a:lstStyle/>
          <a:p>
            <a:pPr marL="0" indent="0">
              <a:lnSpc>
                <a:spcPct val="115000"/>
              </a:lnSpc>
              <a:buNone/>
            </a:pPr>
            <a:r>
              <a:rPr lang="en-US" sz="1200" dirty="0">
                <a:solidFill>
                  <a:srgbClr val="EDEFFA"/>
                </a:solidFill>
                <a:latin typeface="Calibri" pitchFamily="34" charset="0"/>
                <a:ea typeface="Calibri" pitchFamily="34" charset="-122"/>
                <a:cs typeface="Calibri" pitchFamily="34" charset="-120"/>
              </a:rPr>
              <a:t>Activity signals form roughly spherical, evenly-sized groups in PCA space — exactly what K-Means assumes</a:t>
            </a:r>
            <a:endParaRPr lang="en-US" sz="1200" dirty="0"/>
          </a:p>
        </p:txBody>
      </p:sp>
      <p:sp>
        <p:nvSpPr>
          <p:cNvPr id="14" name="Shape 11"/>
          <p:cNvSpPr/>
          <p:nvPr/>
        </p:nvSpPr>
        <p:spPr>
          <a:xfrm>
            <a:off x="8046720" y="1463040"/>
            <a:ext cx="3520440" cy="4480560"/>
          </a:xfrm>
          <a:prstGeom prst="rect">
            <a:avLst/>
          </a:prstGeom>
          <a:solidFill>
            <a:srgbClr val="1B2156"/>
          </a:solidFill>
          <a:ln/>
        </p:spPr>
      </p:sp>
      <p:sp>
        <p:nvSpPr>
          <p:cNvPr id="15" name="Text 12"/>
          <p:cNvSpPr/>
          <p:nvPr/>
        </p:nvSpPr>
        <p:spPr>
          <a:xfrm>
            <a:off x="8275320" y="1737360"/>
            <a:ext cx="3017520" cy="320040"/>
          </a:xfrm>
          <a:prstGeom prst="rect">
            <a:avLst/>
          </a:prstGeom>
          <a:noFill/>
          <a:ln/>
        </p:spPr>
        <p:txBody>
          <a:bodyPr wrap="square" lIns="0" tIns="0" rIns="0" bIns="0" rtlCol="0" anchor="ctr"/>
          <a:lstStyle/>
          <a:p>
            <a:pPr marL="0" indent="0">
              <a:buNone/>
            </a:pPr>
            <a:r>
              <a:rPr lang="en-US" sz="1100" b="1" kern="0" spc="150" dirty="0">
                <a:solidFill>
                  <a:srgbClr val="0FB5AE"/>
                </a:solidFill>
                <a:latin typeface="Calibri" pitchFamily="34" charset="0"/>
                <a:ea typeface="Calibri" pitchFamily="34" charset="-122"/>
                <a:cs typeface="Calibri" pitchFamily="34" charset="-120"/>
              </a:rPr>
              <a:t>BEST ALGORITHM</a:t>
            </a:r>
            <a:endParaRPr lang="en-US" sz="1100" dirty="0"/>
          </a:p>
        </p:txBody>
      </p:sp>
      <p:sp>
        <p:nvSpPr>
          <p:cNvPr id="16" name="Text 13"/>
          <p:cNvSpPr/>
          <p:nvPr/>
        </p:nvSpPr>
        <p:spPr>
          <a:xfrm>
            <a:off x="8275320" y="2057400"/>
            <a:ext cx="301752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K-Means</a:t>
            </a:r>
            <a:endParaRPr lang="en-US" sz="2800" dirty="0"/>
          </a:p>
        </p:txBody>
      </p:sp>
      <p:sp>
        <p:nvSpPr>
          <p:cNvPr id="17" name="Shape 14"/>
          <p:cNvSpPr/>
          <p:nvPr/>
        </p:nvSpPr>
        <p:spPr>
          <a:xfrm>
            <a:off x="8275320" y="2788920"/>
            <a:ext cx="3017520" cy="0"/>
          </a:xfrm>
          <a:prstGeom prst="line">
            <a:avLst/>
          </a:prstGeom>
          <a:noFill/>
          <a:ln w="12700">
            <a:solidFill>
              <a:srgbClr val="3A4080"/>
            </a:solidFill>
            <a:prstDash val="solid"/>
          </a:ln>
        </p:spPr>
      </p:sp>
      <p:sp>
        <p:nvSpPr>
          <p:cNvPr id="18" name="Text 15"/>
          <p:cNvSpPr/>
          <p:nvPr/>
        </p:nvSpPr>
        <p:spPr>
          <a:xfrm>
            <a:off x="8275320" y="3017520"/>
            <a:ext cx="1828800" cy="365760"/>
          </a:xfrm>
          <a:prstGeom prst="rect">
            <a:avLst/>
          </a:prstGeom>
          <a:noFill/>
          <a:ln/>
        </p:spPr>
        <p:txBody>
          <a:bodyPr wrap="square" lIns="0" tIns="0" rIns="0" bIns="0" rtlCol="0" anchor="ctr"/>
          <a:lstStyle/>
          <a:p>
            <a:pPr marL="0" indent="0">
              <a:buNone/>
            </a:pPr>
            <a:r>
              <a:rPr lang="en-US" sz="1100" dirty="0">
                <a:solidFill>
                  <a:srgbClr val="9AA3D1"/>
                </a:solidFill>
                <a:latin typeface="Calibri" pitchFamily="34" charset="0"/>
                <a:ea typeface="Calibri" pitchFamily="34" charset="-122"/>
                <a:cs typeface="Calibri" pitchFamily="34" charset="-120"/>
              </a:rPr>
              <a:t>n_clusters</a:t>
            </a:r>
            <a:endParaRPr lang="en-US" sz="1100" dirty="0"/>
          </a:p>
        </p:txBody>
      </p:sp>
      <p:sp>
        <p:nvSpPr>
          <p:cNvPr id="19" name="Text 16"/>
          <p:cNvSpPr/>
          <p:nvPr/>
        </p:nvSpPr>
        <p:spPr>
          <a:xfrm>
            <a:off x="10058400" y="3017520"/>
            <a:ext cx="13716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7"/>
          <p:cNvSpPr/>
          <p:nvPr/>
        </p:nvSpPr>
        <p:spPr>
          <a:xfrm>
            <a:off x="8275320" y="3474720"/>
            <a:ext cx="1828800" cy="365760"/>
          </a:xfrm>
          <a:prstGeom prst="rect">
            <a:avLst/>
          </a:prstGeom>
          <a:noFill/>
          <a:ln/>
        </p:spPr>
        <p:txBody>
          <a:bodyPr wrap="square" lIns="0" tIns="0" rIns="0" bIns="0" rtlCol="0" anchor="ctr"/>
          <a:lstStyle/>
          <a:p>
            <a:pPr marL="0" indent="0">
              <a:buNone/>
            </a:pPr>
            <a:r>
              <a:rPr lang="en-US" sz="1100" dirty="0">
                <a:solidFill>
                  <a:srgbClr val="9AA3D1"/>
                </a:solidFill>
                <a:latin typeface="Calibri" pitchFamily="34" charset="0"/>
                <a:ea typeface="Calibri" pitchFamily="34" charset="-122"/>
                <a:cs typeface="Calibri" pitchFamily="34" charset="-120"/>
              </a:rPr>
              <a:t>Silhouette</a:t>
            </a:r>
            <a:endParaRPr lang="en-US" sz="1100" dirty="0"/>
          </a:p>
        </p:txBody>
      </p:sp>
      <p:sp>
        <p:nvSpPr>
          <p:cNvPr id="21" name="Text 18"/>
          <p:cNvSpPr/>
          <p:nvPr/>
        </p:nvSpPr>
        <p:spPr>
          <a:xfrm>
            <a:off x="10058400" y="3474720"/>
            <a:ext cx="13716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0.4239</a:t>
            </a:r>
            <a:endParaRPr lang="en-US" sz="1300" dirty="0"/>
          </a:p>
        </p:txBody>
      </p:sp>
      <p:sp>
        <p:nvSpPr>
          <p:cNvPr id="22" name="Text 19"/>
          <p:cNvSpPr/>
          <p:nvPr/>
        </p:nvSpPr>
        <p:spPr>
          <a:xfrm>
            <a:off x="8275320" y="3931920"/>
            <a:ext cx="1828800" cy="365760"/>
          </a:xfrm>
          <a:prstGeom prst="rect">
            <a:avLst/>
          </a:prstGeom>
          <a:noFill/>
          <a:ln/>
        </p:spPr>
        <p:txBody>
          <a:bodyPr wrap="square" lIns="0" tIns="0" rIns="0" bIns="0" rtlCol="0" anchor="ctr"/>
          <a:lstStyle/>
          <a:p>
            <a:pPr marL="0" indent="0">
              <a:buNone/>
            </a:pPr>
            <a:r>
              <a:rPr lang="en-US" sz="1100" dirty="0">
                <a:solidFill>
                  <a:srgbClr val="9AA3D1"/>
                </a:solidFill>
                <a:latin typeface="Calibri" pitchFamily="34" charset="0"/>
                <a:ea typeface="Calibri" pitchFamily="34" charset="-122"/>
                <a:cs typeface="Calibri" pitchFamily="34" charset="-120"/>
              </a:rPr>
              <a:t>Calinski-Harabasz</a:t>
            </a:r>
            <a:endParaRPr lang="en-US" sz="1100" dirty="0"/>
          </a:p>
        </p:txBody>
      </p:sp>
      <p:sp>
        <p:nvSpPr>
          <p:cNvPr id="23" name="Text 20"/>
          <p:cNvSpPr/>
          <p:nvPr/>
        </p:nvSpPr>
        <p:spPr>
          <a:xfrm>
            <a:off x="10058400" y="3931920"/>
            <a:ext cx="13716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9,268.6</a:t>
            </a:r>
            <a:endParaRPr lang="en-US" sz="1300" dirty="0"/>
          </a:p>
        </p:txBody>
      </p:sp>
      <p:sp>
        <p:nvSpPr>
          <p:cNvPr id="24" name="Text 21"/>
          <p:cNvSpPr/>
          <p:nvPr/>
        </p:nvSpPr>
        <p:spPr>
          <a:xfrm>
            <a:off x="8275320" y="4389120"/>
            <a:ext cx="1828800" cy="365760"/>
          </a:xfrm>
          <a:prstGeom prst="rect">
            <a:avLst/>
          </a:prstGeom>
          <a:noFill/>
          <a:ln/>
        </p:spPr>
        <p:txBody>
          <a:bodyPr wrap="square" lIns="0" tIns="0" rIns="0" bIns="0" rtlCol="0" anchor="ctr"/>
          <a:lstStyle/>
          <a:p>
            <a:pPr marL="0" indent="0">
              <a:buNone/>
            </a:pPr>
            <a:r>
              <a:rPr lang="en-US" sz="1100" dirty="0">
                <a:solidFill>
                  <a:srgbClr val="9AA3D1"/>
                </a:solidFill>
                <a:latin typeface="Calibri" pitchFamily="34" charset="0"/>
                <a:ea typeface="Calibri" pitchFamily="34" charset="-122"/>
                <a:cs typeface="Calibri" pitchFamily="34" charset="-120"/>
              </a:rPr>
              <a:t>Davies-Bouldin</a:t>
            </a:r>
            <a:endParaRPr lang="en-US" sz="1100" dirty="0"/>
          </a:p>
        </p:txBody>
      </p:sp>
      <p:sp>
        <p:nvSpPr>
          <p:cNvPr id="25" name="Text 22"/>
          <p:cNvSpPr/>
          <p:nvPr/>
        </p:nvSpPr>
        <p:spPr>
          <a:xfrm>
            <a:off x="10058400" y="4389120"/>
            <a:ext cx="13716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1.2948</a:t>
            </a:r>
            <a:endParaRPr lang="en-US" sz="1300" dirty="0"/>
          </a:p>
        </p:txBody>
      </p:sp>
      <p:sp>
        <p:nvSpPr>
          <p:cNvPr id="26" name="Text 23"/>
          <p:cNvSpPr/>
          <p:nvPr/>
        </p:nvSpPr>
        <p:spPr>
          <a:xfrm>
            <a:off x="8275320" y="4846320"/>
            <a:ext cx="1828800" cy="365760"/>
          </a:xfrm>
          <a:prstGeom prst="rect">
            <a:avLst/>
          </a:prstGeom>
          <a:noFill/>
          <a:ln/>
        </p:spPr>
        <p:txBody>
          <a:bodyPr wrap="square" lIns="0" tIns="0" rIns="0" bIns="0" rtlCol="0" anchor="ctr"/>
          <a:lstStyle/>
          <a:p>
            <a:pPr marL="0" indent="0">
              <a:buNone/>
            </a:pPr>
            <a:r>
              <a:rPr lang="en-US" sz="1100" dirty="0">
                <a:solidFill>
                  <a:srgbClr val="9AA3D1"/>
                </a:solidFill>
                <a:latin typeface="Calibri" pitchFamily="34" charset="0"/>
                <a:ea typeface="Calibri" pitchFamily="34" charset="-122"/>
                <a:cs typeface="Calibri" pitchFamily="34" charset="-120"/>
              </a:rPr>
              <a:t>Overall rank</a:t>
            </a:r>
            <a:endParaRPr lang="en-US" sz="1100" dirty="0"/>
          </a:p>
        </p:txBody>
      </p:sp>
      <p:sp>
        <p:nvSpPr>
          <p:cNvPr id="27" name="Text 24"/>
          <p:cNvSpPr/>
          <p:nvPr/>
        </p:nvSpPr>
        <p:spPr>
          <a:xfrm>
            <a:off x="10058400" y="4846320"/>
            <a:ext cx="1371600" cy="365760"/>
          </a:xfrm>
          <a:prstGeom prst="rect">
            <a:avLst/>
          </a:prstGeom>
          <a:noFill/>
          <a:ln/>
        </p:spPr>
        <p:txBody>
          <a:bodyPr wrap="square" lIns="0" tIns="0" rIns="0" bIns="0" rtlCol="0" anchor="ctr"/>
          <a:lstStyle/>
          <a:p>
            <a:pPr marL="0" indent="0" algn="r">
              <a:buNone/>
            </a:pPr>
            <a:r>
              <a:rPr lang="en-US" sz="1300" b="1" dirty="0">
                <a:solidFill>
                  <a:srgbClr val="FFFFFF"/>
                </a:solidFill>
                <a:latin typeface="Cambria" pitchFamily="34" charset="0"/>
                <a:ea typeface="Cambria" pitchFamily="34" charset="-122"/>
                <a:cs typeface="Cambria" pitchFamily="34" charset="-120"/>
              </a:rPr>
              <a:t>#1 of 4</a:t>
            </a:r>
            <a:endParaRPr lang="en-US" sz="1300" dirty="0"/>
          </a:p>
        </p:txBody>
      </p:sp>
      <p:sp>
        <p:nvSpPr>
          <p:cNvPr id="28" name="Text 25"/>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29" name="Text 26"/>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chemeClr val="bg1"/>
                </a:solidFill>
                <a:latin typeface="Calibri" pitchFamily="34" charset="0"/>
                <a:ea typeface="Calibri" pitchFamily="34" charset="-122"/>
                <a:cs typeface="Calibri" pitchFamily="34" charset="-120"/>
              </a:rPr>
              <a:t>21</a:t>
            </a:r>
            <a:endParaRPr lang="en-US" sz="9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3657600" cy="320040"/>
          </a:xfrm>
          <a:prstGeom prst="rect">
            <a:avLst/>
          </a:prstGeom>
          <a:noFill/>
          <a:ln/>
        </p:spPr>
        <p:txBody>
          <a:bodyPr wrap="square" lIns="0" tIns="0" rIns="0" bIns="0" rtlCol="0" anchor="ctr"/>
          <a:lstStyle/>
          <a:p>
            <a:pPr marL="0" indent="0">
              <a:buNone/>
            </a:pPr>
            <a:r>
              <a:rPr lang="en-US" sz="1200" b="1" kern="0" spc="200" dirty="0">
                <a:solidFill>
                  <a:srgbClr val="0FB5AE"/>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640080" y="777240"/>
            <a:ext cx="7315200" cy="822960"/>
          </a:xfrm>
          <a:prstGeom prst="rect">
            <a:avLst/>
          </a:prstGeom>
          <a:noFill/>
          <a:ln/>
        </p:spPr>
        <p:txBody>
          <a:bodyPr wrap="square" lIns="0" tIns="0" rIns="0" bIns="0" rtlCol="0" anchor="t"/>
          <a:lstStyle/>
          <a:p>
            <a:pPr marL="0" indent="0">
              <a:buNone/>
            </a:pPr>
            <a:r>
              <a:rPr lang="en-US" sz="3000" b="1" dirty="0">
                <a:solidFill>
                  <a:srgbClr val="1A1F36"/>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640080" y="1783080"/>
            <a:ext cx="5394960" cy="1828800"/>
          </a:xfrm>
          <a:prstGeom prst="rect">
            <a:avLst/>
          </a:prstGeom>
          <a:solidFill>
            <a:srgbClr val="F7F8FC"/>
          </a:solidFill>
          <a:ln/>
        </p:spPr>
      </p:sp>
      <p:sp>
        <p:nvSpPr>
          <p:cNvPr id="5" name="Shape 3"/>
          <p:cNvSpPr/>
          <p:nvPr/>
        </p:nvSpPr>
        <p:spPr>
          <a:xfrm>
            <a:off x="914400" y="2057400"/>
            <a:ext cx="548640" cy="548640"/>
          </a:xfrm>
          <a:prstGeom prst="ellipse">
            <a:avLst/>
          </a:prstGeom>
          <a:solidFill>
            <a:srgbClr val="1E2761"/>
          </a:solidFill>
          <a:ln/>
        </p:spPr>
      </p:sp>
      <p:pic>
        <p:nvPicPr>
          <p:cNvPr id="6" name="Image 0" descr="preencoded.png"/>
          <p:cNvPicPr>
            <a:picLocks noChangeAspect="1"/>
          </p:cNvPicPr>
          <p:nvPr/>
        </p:nvPicPr>
        <p:blipFill>
          <a:blip r:embed="rId3"/>
          <a:stretch>
            <a:fillRect/>
          </a:stretch>
        </p:blipFill>
        <p:spPr>
          <a:xfrm>
            <a:off x="1042416" y="2185416"/>
            <a:ext cx="292608" cy="292608"/>
          </a:xfrm>
          <a:prstGeom prst="rect">
            <a:avLst/>
          </a:prstGeom>
        </p:spPr>
      </p:pic>
      <p:sp>
        <p:nvSpPr>
          <p:cNvPr id="7" name="Text 4"/>
          <p:cNvSpPr/>
          <p:nvPr/>
        </p:nvSpPr>
        <p:spPr>
          <a:xfrm>
            <a:off x="1691640" y="2011680"/>
            <a:ext cx="4114800" cy="457200"/>
          </a:xfrm>
          <a:prstGeom prst="rect">
            <a:avLst/>
          </a:prstGeom>
          <a:noFill/>
          <a:ln/>
        </p:spPr>
        <p:txBody>
          <a:bodyPr wrap="square" lIns="0" tIns="0" rIns="0" bIns="0" rtlCol="0" anchor="ctr"/>
          <a:lstStyle/>
          <a:p>
            <a:pPr marL="0" indent="0">
              <a:buNone/>
            </a:pPr>
            <a:r>
              <a:rPr lang="en-US" sz="1450" b="1" dirty="0">
                <a:solidFill>
                  <a:srgbClr val="1A1F36"/>
                </a:solidFill>
                <a:latin typeface="Cambria" pitchFamily="34" charset="0"/>
                <a:ea typeface="Cambria" pitchFamily="34" charset="-122"/>
                <a:cs typeface="Cambria" pitchFamily="34" charset="-120"/>
              </a:rPr>
              <a:t>Preprocessing drives results</a:t>
            </a:r>
            <a:endParaRPr lang="en-US" sz="1450" dirty="0"/>
          </a:p>
        </p:txBody>
      </p:sp>
      <p:sp>
        <p:nvSpPr>
          <p:cNvPr id="8" name="Text 5"/>
          <p:cNvSpPr/>
          <p:nvPr/>
        </p:nvSpPr>
        <p:spPr>
          <a:xfrm>
            <a:off x="960120" y="2697480"/>
            <a:ext cx="4754880" cy="822960"/>
          </a:xfrm>
          <a:prstGeom prst="rect">
            <a:avLst/>
          </a:prstGeom>
          <a:noFill/>
          <a:ln/>
        </p:spPr>
        <p:txBody>
          <a:bodyPr wrap="square" lIns="0" tIns="0" rIns="0" bIns="0" rtlCol="0" anchor="ctr"/>
          <a:lstStyle/>
          <a:p>
            <a:pPr marL="0" indent="0">
              <a:lnSpc>
                <a:spcPct val="125000"/>
              </a:lnSpc>
              <a:buNone/>
            </a:pPr>
            <a:r>
              <a:rPr lang="en-US" sz="1100" dirty="0">
                <a:solidFill>
                  <a:srgbClr val="667085"/>
                </a:solidFill>
                <a:latin typeface="Calibri" pitchFamily="34" charset="0"/>
                <a:ea typeface="Calibri" pitchFamily="34" charset="-122"/>
                <a:cs typeface="Calibri" pitchFamily="34" charset="-120"/>
              </a:rPr>
              <a:t>Standardization + PCA (561 → 104 features, and using random forest finally 50 features) was essential before any algorithm could separate activities cleanly.</a:t>
            </a:r>
            <a:endParaRPr lang="en-US" sz="1100" dirty="0"/>
          </a:p>
        </p:txBody>
      </p:sp>
      <p:sp>
        <p:nvSpPr>
          <p:cNvPr id="9" name="Shape 6"/>
          <p:cNvSpPr/>
          <p:nvPr/>
        </p:nvSpPr>
        <p:spPr>
          <a:xfrm>
            <a:off x="6309360" y="1783080"/>
            <a:ext cx="5394960" cy="1828800"/>
          </a:xfrm>
          <a:prstGeom prst="rect">
            <a:avLst/>
          </a:prstGeom>
          <a:solidFill>
            <a:srgbClr val="F7F8FC"/>
          </a:solidFill>
          <a:ln/>
        </p:spPr>
      </p:sp>
      <p:sp>
        <p:nvSpPr>
          <p:cNvPr id="10" name="Shape 7"/>
          <p:cNvSpPr/>
          <p:nvPr/>
        </p:nvSpPr>
        <p:spPr>
          <a:xfrm>
            <a:off x="6583680" y="2057400"/>
            <a:ext cx="548640" cy="548640"/>
          </a:xfrm>
          <a:prstGeom prst="ellipse">
            <a:avLst/>
          </a:prstGeom>
          <a:solidFill>
            <a:srgbClr val="1E2761"/>
          </a:solidFill>
          <a:ln/>
        </p:spPr>
      </p:sp>
      <p:pic>
        <p:nvPicPr>
          <p:cNvPr id="11" name="Image 1" descr="preencoded.png"/>
          <p:cNvPicPr>
            <a:picLocks noChangeAspect="1"/>
          </p:cNvPicPr>
          <p:nvPr/>
        </p:nvPicPr>
        <p:blipFill>
          <a:blip r:embed="rId4"/>
          <a:stretch>
            <a:fillRect/>
          </a:stretch>
        </p:blipFill>
        <p:spPr>
          <a:xfrm>
            <a:off x="6711696" y="2185416"/>
            <a:ext cx="292608" cy="292608"/>
          </a:xfrm>
          <a:prstGeom prst="rect">
            <a:avLst/>
          </a:prstGeom>
        </p:spPr>
      </p:pic>
      <p:sp>
        <p:nvSpPr>
          <p:cNvPr id="12" name="Text 8"/>
          <p:cNvSpPr/>
          <p:nvPr/>
        </p:nvSpPr>
        <p:spPr>
          <a:xfrm>
            <a:off x="7360920" y="2011680"/>
            <a:ext cx="4114800" cy="457200"/>
          </a:xfrm>
          <a:prstGeom prst="rect">
            <a:avLst/>
          </a:prstGeom>
          <a:noFill/>
          <a:ln/>
        </p:spPr>
        <p:txBody>
          <a:bodyPr wrap="square" lIns="0" tIns="0" rIns="0" bIns="0" rtlCol="0" anchor="ctr"/>
          <a:lstStyle/>
          <a:p>
            <a:pPr marL="0" indent="0">
              <a:buNone/>
            </a:pPr>
            <a:r>
              <a:rPr lang="en-US" sz="1450" b="1" dirty="0">
                <a:solidFill>
                  <a:srgbClr val="1A1F36"/>
                </a:solidFill>
                <a:latin typeface="Cambria" pitchFamily="34" charset="0"/>
                <a:ea typeface="Cambria" pitchFamily="34" charset="-122"/>
                <a:cs typeface="Cambria" pitchFamily="34" charset="-120"/>
              </a:rPr>
              <a:t>Cluster geometry matters</a:t>
            </a:r>
            <a:endParaRPr lang="en-US" sz="1450" dirty="0"/>
          </a:p>
        </p:txBody>
      </p:sp>
      <p:sp>
        <p:nvSpPr>
          <p:cNvPr id="13" name="Text 9"/>
          <p:cNvSpPr/>
          <p:nvPr/>
        </p:nvSpPr>
        <p:spPr>
          <a:xfrm>
            <a:off x="6629400" y="2697480"/>
            <a:ext cx="4754880" cy="822960"/>
          </a:xfrm>
          <a:prstGeom prst="rect">
            <a:avLst/>
          </a:prstGeom>
          <a:noFill/>
          <a:ln/>
        </p:spPr>
        <p:txBody>
          <a:bodyPr wrap="square" lIns="0" tIns="0" rIns="0" bIns="0" rtlCol="0" anchor="ctr"/>
          <a:lstStyle/>
          <a:p>
            <a:pPr marL="0" indent="0">
              <a:lnSpc>
                <a:spcPct val="125000"/>
              </a:lnSpc>
              <a:buNone/>
            </a:pPr>
            <a:r>
              <a:rPr lang="en-US" sz="1100" dirty="0">
                <a:solidFill>
                  <a:srgbClr val="667085"/>
                </a:solidFill>
                <a:latin typeface="Calibri" pitchFamily="34" charset="0"/>
                <a:ea typeface="Calibri" pitchFamily="34" charset="-122"/>
                <a:cs typeface="Calibri" pitchFamily="34" charset="-120"/>
              </a:rPr>
              <a:t>Activity signals cluster into roughly spherical, evenly-distributed groups — favoring centroid-based methods like K-Means.</a:t>
            </a:r>
            <a:endParaRPr lang="en-US" sz="1100" dirty="0"/>
          </a:p>
        </p:txBody>
      </p:sp>
      <p:sp>
        <p:nvSpPr>
          <p:cNvPr id="14" name="Shape 10"/>
          <p:cNvSpPr/>
          <p:nvPr/>
        </p:nvSpPr>
        <p:spPr>
          <a:xfrm>
            <a:off x="640080" y="3931920"/>
            <a:ext cx="5394960" cy="1828800"/>
          </a:xfrm>
          <a:prstGeom prst="rect">
            <a:avLst/>
          </a:prstGeom>
          <a:solidFill>
            <a:srgbClr val="F7F8FC"/>
          </a:solidFill>
          <a:ln/>
        </p:spPr>
      </p:sp>
      <p:sp>
        <p:nvSpPr>
          <p:cNvPr id="15" name="Shape 11"/>
          <p:cNvSpPr/>
          <p:nvPr/>
        </p:nvSpPr>
        <p:spPr>
          <a:xfrm>
            <a:off x="914400" y="4206240"/>
            <a:ext cx="548640" cy="548640"/>
          </a:xfrm>
          <a:prstGeom prst="ellipse">
            <a:avLst/>
          </a:prstGeom>
          <a:solidFill>
            <a:srgbClr val="1E2761"/>
          </a:solidFill>
          <a:ln/>
        </p:spPr>
      </p:sp>
      <p:pic>
        <p:nvPicPr>
          <p:cNvPr id="16" name="Image 2" descr="preencoded.png"/>
          <p:cNvPicPr>
            <a:picLocks noChangeAspect="1"/>
          </p:cNvPicPr>
          <p:nvPr/>
        </p:nvPicPr>
        <p:blipFill>
          <a:blip r:embed="rId5"/>
          <a:stretch>
            <a:fillRect/>
          </a:stretch>
        </p:blipFill>
        <p:spPr>
          <a:xfrm>
            <a:off x="1042416" y="4334256"/>
            <a:ext cx="292608" cy="292608"/>
          </a:xfrm>
          <a:prstGeom prst="rect">
            <a:avLst/>
          </a:prstGeom>
        </p:spPr>
      </p:pic>
      <p:sp>
        <p:nvSpPr>
          <p:cNvPr id="17" name="Text 12"/>
          <p:cNvSpPr/>
          <p:nvPr/>
        </p:nvSpPr>
        <p:spPr>
          <a:xfrm>
            <a:off x="1691640" y="4160520"/>
            <a:ext cx="4114800" cy="457200"/>
          </a:xfrm>
          <a:prstGeom prst="rect">
            <a:avLst/>
          </a:prstGeom>
          <a:noFill/>
          <a:ln/>
        </p:spPr>
        <p:txBody>
          <a:bodyPr wrap="square" lIns="0" tIns="0" rIns="0" bIns="0" rtlCol="0" anchor="ctr"/>
          <a:lstStyle/>
          <a:p>
            <a:pPr marL="0" indent="0">
              <a:buNone/>
            </a:pPr>
            <a:r>
              <a:rPr lang="en-US" sz="1450" b="1" dirty="0">
                <a:solidFill>
                  <a:srgbClr val="1A1F36"/>
                </a:solidFill>
                <a:latin typeface="Cambria" pitchFamily="34" charset="0"/>
                <a:ea typeface="Cambria" pitchFamily="34" charset="-122"/>
                <a:cs typeface="Cambria" pitchFamily="34" charset="-120"/>
              </a:rPr>
              <a:t>Density methods underperform here</a:t>
            </a:r>
            <a:endParaRPr lang="en-US" sz="1450" dirty="0"/>
          </a:p>
        </p:txBody>
      </p:sp>
      <p:sp>
        <p:nvSpPr>
          <p:cNvPr id="18" name="Text 13"/>
          <p:cNvSpPr/>
          <p:nvPr/>
        </p:nvSpPr>
        <p:spPr>
          <a:xfrm>
            <a:off x="960120" y="4846320"/>
            <a:ext cx="4754880" cy="822960"/>
          </a:xfrm>
          <a:prstGeom prst="rect">
            <a:avLst/>
          </a:prstGeom>
          <a:noFill/>
          <a:ln/>
        </p:spPr>
        <p:txBody>
          <a:bodyPr wrap="square" lIns="0" tIns="0" rIns="0" bIns="0" rtlCol="0" anchor="ctr"/>
          <a:lstStyle/>
          <a:p>
            <a:pPr marL="0" indent="0">
              <a:lnSpc>
                <a:spcPct val="125000"/>
              </a:lnSpc>
              <a:buNone/>
            </a:pPr>
            <a:r>
              <a:rPr lang="en-US" sz="1100" dirty="0">
                <a:solidFill>
                  <a:srgbClr val="667085"/>
                </a:solidFill>
                <a:latin typeface="Calibri" pitchFamily="34" charset="0"/>
                <a:ea typeface="Calibri" pitchFamily="34" charset="-122"/>
                <a:cs typeface="Calibri" pitchFamily="34" charset="-120"/>
              </a:rPr>
              <a:t>DBSCAN struggled because high-dimensional PCA space lacks the sharp density contrast it needs.</a:t>
            </a:r>
            <a:endParaRPr lang="en-US" sz="1100" dirty="0"/>
          </a:p>
        </p:txBody>
      </p:sp>
      <p:sp>
        <p:nvSpPr>
          <p:cNvPr id="19" name="Shape 14"/>
          <p:cNvSpPr/>
          <p:nvPr/>
        </p:nvSpPr>
        <p:spPr>
          <a:xfrm>
            <a:off x="6309360" y="3931920"/>
            <a:ext cx="5394960" cy="1828800"/>
          </a:xfrm>
          <a:prstGeom prst="rect">
            <a:avLst/>
          </a:prstGeom>
          <a:solidFill>
            <a:srgbClr val="F7F8FC"/>
          </a:solidFill>
          <a:ln/>
        </p:spPr>
      </p:sp>
      <p:sp>
        <p:nvSpPr>
          <p:cNvPr id="20" name="Shape 15"/>
          <p:cNvSpPr/>
          <p:nvPr/>
        </p:nvSpPr>
        <p:spPr>
          <a:xfrm>
            <a:off x="6583680" y="4206240"/>
            <a:ext cx="548640" cy="548640"/>
          </a:xfrm>
          <a:prstGeom prst="ellipse">
            <a:avLst/>
          </a:prstGeom>
          <a:solidFill>
            <a:srgbClr val="1E2761"/>
          </a:solidFill>
          <a:ln/>
        </p:spPr>
      </p:sp>
      <p:pic>
        <p:nvPicPr>
          <p:cNvPr id="21" name="Image 3" descr="preencoded.png"/>
          <p:cNvPicPr>
            <a:picLocks noChangeAspect="1"/>
          </p:cNvPicPr>
          <p:nvPr/>
        </p:nvPicPr>
        <p:blipFill>
          <a:blip r:embed="rId6"/>
          <a:stretch>
            <a:fillRect/>
          </a:stretch>
        </p:blipFill>
        <p:spPr>
          <a:xfrm>
            <a:off x="6711696" y="4334256"/>
            <a:ext cx="292608" cy="292608"/>
          </a:xfrm>
          <a:prstGeom prst="rect">
            <a:avLst/>
          </a:prstGeom>
        </p:spPr>
      </p:pic>
      <p:sp>
        <p:nvSpPr>
          <p:cNvPr id="22" name="Text 16"/>
          <p:cNvSpPr/>
          <p:nvPr/>
        </p:nvSpPr>
        <p:spPr>
          <a:xfrm>
            <a:off x="7360920" y="4160520"/>
            <a:ext cx="4114800" cy="457200"/>
          </a:xfrm>
          <a:prstGeom prst="rect">
            <a:avLst/>
          </a:prstGeom>
          <a:noFill/>
          <a:ln/>
        </p:spPr>
        <p:txBody>
          <a:bodyPr wrap="square" lIns="0" tIns="0" rIns="0" bIns="0" rtlCol="0" anchor="ctr"/>
          <a:lstStyle/>
          <a:p>
            <a:pPr marL="0" indent="0">
              <a:buNone/>
            </a:pPr>
            <a:r>
              <a:rPr lang="en-US" sz="1450" b="1" dirty="0">
                <a:solidFill>
                  <a:srgbClr val="1A1F36"/>
                </a:solidFill>
                <a:latin typeface="Cambria" pitchFamily="34" charset="0"/>
                <a:ea typeface="Cambria" pitchFamily="34" charset="-122"/>
                <a:cs typeface="Cambria" pitchFamily="34" charset="-120"/>
              </a:rPr>
              <a:t>Multi-metric evaluation is essential</a:t>
            </a:r>
            <a:endParaRPr lang="en-US" sz="1450" dirty="0"/>
          </a:p>
        </p:txBody>
      </p:sp>
      <p:sp>
        <p:nvSpPr>
          <p:cNvPr id="23" name="Text 17"/>
          <p:cNvSpPr/>
          <p:nvPr/>
        </p:nvSpPr>
        <p:spPr>
          <a:xfrm>
            <a:off x="6629400" y="4846320"/>
            <a:ext cx="4754880" cy="822960"/>
          </a:xfrm>
          <a:prstGeom prst="rect">
            <a:avLst/>
          </a:prstGeom>
          <a:noFill/>
          <a:ln/>
        </p:spPr>
        <p:txBody>
          <a:bodyPr wrap="square" lIns="0" tIns="0" rIns="0" bIns="0" rtlCol="0" anchor="ctr"/>
          <a:lstStyle/>
          <a:p>
            <a:pPr marL="0" indent="0">
              <a:lnSpc>
                <a:spcPct val="125000"/>
              </a:lnSpc>
              <a:buNone/>
            </a:pPr>
            <a:r>
              <a:rPr lang="en-US" sz="1100" dirty="0">
                <a:solidFill>
                  <a:srgbClr val="667085"/>
                </a:solidFill>
                <a:latin typeface="Calibri" pitchFamily="34" charset="0"/>
                <a:ea typeface="Calibri" pitchFamily="34" charset="-122"/>
                <a:cs typeface="Calibri" pitchFamily="34" charset="-120"/>
              </a:rPr>
              <a:t>No single metric tells the full story — combining Silhouette, Calinski-Harabasz, and Davies-Bouldin gave a robust, balanced verdict.</a:t>
            </a:r>
            <a:endParaRPr lang="en-US" sz="1100" dirty="0"/>
          </a:p>
        </p:txBody>
      </p:sp>
      <p:sp>
        <p:nvSpPr>
          <p:cNvPr id="24" name="Text 18"/>
          <p:cNvSpPr/>
          <p:nvPr/>
        </p:nvSpPr>
        <p:spPr>
          <a:xfrm>
            <a:off x="457200" y="6510528"/>
            <a:ext cx="7315200" cy="274320"/>
          </a:xfrm>
          <a:prstGeom prst="rect">
            <a:avLst/>
          </a:prstGeom>
          <a:noFill/>
          <a:ln/>
        </p:spPr>
        <p:txBody>
          <a:bodyPr wrap="square" lIns="0" tIns="0" rIns="0" bIns="0" rtlCol="0" anchor="ctr"/>
          <a:lstStyle/>
          <a:p>
            <a:pPr marL="0" indent="0">
              <a:buNone/>
            </a:pPr>
            <a:r>
              <a:rPr lang="en-US" sz="900" dirty="0">
                <a:solidFill>
                  <a:srgbClr val="667085"/>
                </a:solidFill>
                <a:latin typeface="Calibri" pitchFamily="34" charset="0"/>
                <a:ea typeface="Calibri" pitchFamily="34" charset="-122"/>
                <a:cs typeface="Calibri" pitchFamily="34" charset="-120"/>
              </a:rPr>
              <a:t>Human Activity Pattern Discovery — A Comparative Clustering Analysis</a:t>
            </a:r>
            <a:endParaRPr lang="en-US" sz="900" dirty="0"/>
          </a:p>
        </p:txBody>
      </p:sp>
      <p:sp>
        <p:nvSpPr>
          <p:cNvPr id="25" name="Text 19"/>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12173B"/>
        </a:solidFill>
        <a:effectLst/>
      </p:bgPr>
    </p:bg>
    <p:spTree>
      <p:nvGrpSpPr>
        <p:cNvPr id="1" name=""/>
        <p:cNvGrpSpPr/>
        <p:nvPr/>
      </p:nvGrpSpPr>
      <p:grpSpPr>
        <a:xfrm>
          <a:off x="0" y="0"/>
          <a:ext cx="0" cy="0"/>
          <a:chOff x="0" y="0"/>
          <a:chExt cx="0" cy="0"/>
        </a:xfrm>
      </p:grpSpPr>
      <p:pic>
        <p:nvPicPr>
          <p:cNvPr id="7" name="Image 0" descr="preencoded.png"/>
          <p:cNvPicPr>
            <a:picLocks noChangeAspect="1"/>
          </p:cNvPicPr>
          <p:nvPr/>
        </p:nvPicPr>
        <p:blipFill>
          <a:blip r:embed="rId3"/>
          <a:stretch>
            <a:fillRect/>
          </a:stretch>
        </p:blipFill>
        <p:spPr>
          <a:xfrm>
            <a:off x="822960" y="640080"/>
            <a:ext cx="548640" cy="548640"/>
          </a:xfrm>
          <a:prstGeom prst="rect">
            <a:avLst/>
          </a:prstGeom>
        </p:spPr>
      </p:pic>
      <p:sp>
        <p:nvSpPr>
          <p:cNvPr id="8" name="Text 0"/>
          <p:cNvSpPr/>
          <p:nvPr/>
        </p:nvSpPr>
        <p:spPr>
          <a:xfrm>
            <a:off x="1554480" y="59436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9" name="Shape 1"/>
          <p:cNvSpPr/>
          <p:nvPr/>
        </p:nvSpPr>
        <p:spPr>
          <a:xfrm>
            <a:off x="868680" y="1371600"/>
            <a:ext cx="1188720" cy="32004"/>
          </a:xfrm>
          <a:prstGeom prst="rect">
            <a:avLst/>
          </a:prstGeom>
          <a:solidFill>
            <a:srgbClr val="F2A541"/>
          </a:solidFill>
          <a:ln/>
        </p:spPr>
      </p:sp>
      <p:sp>
        <p:nvSpPr>
          <p:cNvPr id="10" name="Text 2"/>
          <p:cNvSpPr/>
          <p:nvPr/>
        </p:nvSpPr>
        <p:spPr>
          <a:xfrm>
            <a:off x="822960" y="1737360"/>
            <a:ext cx="10515600" cy="1371600"/>
          </a:xfrm>
          <a:prstGeom prst="rect">
            <a:avLst/>
          </a:prstGeom>
          <a:noFill/>
          <a:ln/>
        </p:spPr>
        <p:txBody>
          <a:bodyPr wrap="square" rtlCol="0" anchor="t"/>
          <a:lstStyle/>
          <a:p>
            <a:pPr marL="0" indent="0" algn="just">
              <a:lnSpc>
                <a:spcPct val="130000"/>
              </a:lnSpc>
              <a:buNone/>
            </a:pPr>
            <a:r>
              <a:rPr lang="en-US" sz="1600" dirty="0">
                <a:solidFill>
                  <a:srgbClr val="CADCFC"/>
                </a:solidFill>
                <a:latin typeface="Calibri" pitchFamily="34" charset="0"/>
                <a:ea typeface="Calibri" pitchFamily="34" charset="-122"/>
                <a:cs typeface="Calibri" pitchFamily="34" charset="-120"/>
              </a:rPr>
              <a:t>Although the Human Activity Recognition dataset contains six labeled activities, silhouette analysis indicated that the optimal number of clusters was three (Silhouette Score = 0.4459). This suggests that the sensor measurements naturally form three broader behavioral groups rather than six completely distinct classes.</a:t>
            </a:r>
            <a:endParaRPr lang="en-US" sz="1600" dirty="0"/>
          </a:p>
        </p:txBody>
      </p:sp>
      <p:sp>
        <p:nvSpPr>
          <p:cNvPr id="11" name="Text 3"/>
          <p:cNvSpPr/>
          <p:nvPr/>
        </p:nvSpPr>
        <p:spPr>
          <a:xfrm>
            <a:off x="822960" y="3108960"/>
            <a:ext cx="10515600" cy="1554480"/>
          </a:xfrm>
          <a:prstGeom prst="rect">
            <a:avLst/>
          </a:prstGeom>
          <a:noFill/>
          <a:ln/>
        </p:spPr>
        <p:txBody>
          <a:bodyPr wrap="square" rtlCol="0" anchor="t"/>
          <a:lstStyle/>
          <a:p>
            <a:pPr marL="0" indent="0" algn="just">
              <a:lnSpc>
                <a:spcPct val="130000"/>
              </a:lnSpc>
              <a:buNone/>
            </a:pPr>
            <a:r>
              <a:rPr lang="en-US" sz="1600" dirty="0">
                <a:solidFill>
                  <a:srgbClr val="CADCFC"/>
                </a:solidFill>
                <a:latin typeface="Calibri" pitchFamily="34" charset="0"/>
                <a:ea typeface="Calibri" pitchFamily="34" charset="-122"/>
                <a:cs typeface="Calibri" pitchFamily="34" charset="-120"/>
              </a:rPr>
              <a:t>Walking-related activities (walking, walking upstairs, walking downstairs) grouped together as dynamic activities; sitting and standing grouped as static upright activities; and laying formed a separate resting cluster. The clustering process captured the intrinsic structure of the data, while the six-class labeling represents a finer-grained supervised categorization.</a:t>
            </a:r>
            <a:endParaRPr lang="en-US" sz="1600" dirty="0"/>
          </a:p>
        </p:txBody>
      </p:sp>
      <p:sp>
        <p:nvSpPr>
          <p:cNvPr id="12" name="Shape 4"/>
          <p:cNvSpPr/>
          <p:nvPr/>
        </p:nvSpPr>
        <p:spPr>
          <a:xfrm>
            <a:off x="822960" y="4937760"/>
            <a:ext cx="10515600" cy="1280160"/>
          </a:xfrm>
          <a:prstGeom prst="roundRect">
            <a:avLst>
              <a:gd name="adj" fmla="val 5714"/>
            </a:avLst>
          </a:prstGeom>
          <a:solidFill>
            <a:srgbClr val="13315C"/>
          </a:solidFill>
          <a:ln/>
          <a:effectLst>
            <a:outerShdw blurRad="101600" dist="38100" dir="2700000" algn="bl" rotWithShape="0">
              <a:srgbClr val="0B2545">
                <a:alpha val="15000"/>
              </a:srgbClr>
            </a:outerShdw>
          </a:effectLst>
        </p:spPr>
      </p:sp>
      <p:sp>
        <p:nvSpPr>
          <p:cNvPr id="13" name="Text 5"/>
          <p:cNvSpPr/>
          <p:nvPr/>
        </p:nvSpPr>
        <p:spPr>
          <a:xfrm>
            <a:off x="1051560" y="5074920"/>
            <a:ext cx="10058400" cy="100584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KMeans (k=3) was the strongest performer overall — highest Silhouette (0.4459), lowest Davies-Bouldin (0.8894), and highest external agreement (ARI 0.4765) among the three algorithms compared.</a:t>
            </a:r>
            <a:endParaRPr lang="en-US" sz="1300" dirty="0"/>
          </a:p>
        </p:txBody>
      </p:sp>
      <p:sp>
        <p:nvSpPr>
          <p:cNvPr id="14" name="Text 6"/>
          <p:cNvSpPr/>
          <p:nvPr/>
        </p:nvSpPr>
        <p:spPr>
          <a:xfrm>
            <a:off x="457200" y="6492240"/>
            <a:ext cx="8229600" cy="228600"/>
          </a:xfrm>
          <a:prstGeom prst="rect">
            <a:avLst/>
          </a:prstGeom>
          <a:noFill/>
          <a:ln/>
        </p:spPr>
        <p:txBody>
          <a:bodyPr wrap="square" rtlCol="0" anchor="ctr"/>
          <a:lstStyle/>
          <a:p>
            <a:pPr marL="0" indent="0">
              <a:buNone/>
            </a:pPr>
            <a:r>
              <a:rPr lang="en-US" sz="900" dirty="0">
                <a:solidFill>
                  <a:srgbClr val="5C7184"/>
                </a:solidFill>
                <a:latin typeface="Calibri" pitchFamily="34" charset="0"/>
                <a:ea typeface="Calibri" pitchFamily="34" charset="-122"/>
                <a:cs typeface="Calibri" pitchFamily="34" charset="-120"/>
              </a:rPr>
              <a:t>Human Activity Pattern Discovery — Clustering Analysis</a:t>
            </a:r>
            <a:endParaRPr lang="en-US" sz="900" dirty="0"/>
          </a:p>
        </p:txBody>
      </p:sp>
      <p:sp>
        <p:nvSpPr>
          <p:cNvPr id="15" name="Text 7"/>
          <p:cNvSpPr/>
          <p:nvPr/>
        </p:nvSpPr>
        <p:spPr>
          <a:xfrm>
            <a:off x="11365992" y="6492240"/>
            <a:ext cx="365760" cy="228600"/>
          </a:xfrm>
          <a:prstGeom prst="rect">
            <a:avLst/>
          </a:prstGeom>
          <a:noFill/>
          <a:ln/>
        </p:spPr>
        <p:txBody>
          <a:bodyPr wrap="square" rtlCol="0" anchor="ctr"/>
          <a:lstStyle/>
          <a:p>
            <a:pPr marL="0" indent="0" algn="r">
              <a:buNone/>
            </a:pPr>
            <a:r>
              <a:rPr lang="en-US" sz="900" dirty="0">
                <a:solidFill>
                  <a:schemeClr val="bg1"/>
                </a:solidFil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73B"/>
        </a:solidFill>
        <a:effectLst/>
      </p:bgPr>
    </p:bg>
    <p:spTree>
      <p:nvGrpSpPr>
        <p:cNvPr id="1" name="">
          <a:extLst>
            <a:ext uri="{FF2B5EF4-FFF2-40B4-BE49-F238E27FC236}">
              <a16:creationId xmlns:a16="http://schemas.microsoft.com/office/drawing/2014/main" id="{056DF4B4-EBEF-ADCC-F37B-916E3BB5FF7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D6CF7F9-EB90-8D6A-F6F9-ECA814458D0E}"/>
              </a:ext>
            </a:extLst>
          </p:cNvPr>
          <p:cNvSpPr/>
          <p:nvPr/>
        </p:nvSpPr>
        <p:spPr>
          <a:xfrm>
            <a:off x="9326880" y="-1371600"/>
            <a:ext cx="4114800" cy="4114800"/>
          </a:xfrm>
          <a:prstGeom prst="ellipse">
            <a:avLst/>
          </a:prstGeom>
          <a:ln w="19050">
            <a:solidFill>
              <a:srgbClr val="0FB5AE">
                <a:alpha val="60000"/>
              </a:srgbClr>
            </a:solidFill>
            <a:prstDash val="solid"/>
          </a:ln>
        </p:spPr>
      </p:sp>
      <p:sp>
        <p:nvSpPr>
          <p:cNvPr id="3" name="Shape 1">
            <a:extLst>
              <a:ext uri="{FF2B5EF4-FFF2-40B4-BE49-F238E27FC236}">
                <a16:creationId xmlns:a16="http://schemas.microsoft.com/office/drawing/2014/main" id="{46662137-F596-DCB8-68B5-501AA653C6CD}"/>
              </a:ext>
            </a:extLst>
          </p:cNvPr>
          <p:cNvSpPr/>
          <p:nvPr/>
        </p:nvSpPr>
        <p:spPr>
          <a:xfrm>
            <a:off x="-1097280" y="4572000"/>
            <a:ext cx="3657600" cy="3657600"/>
          </a:xfrm>
          <a:prstGeom prst="ellipse">
            <a:avLst/>
          </a:prstGeom>
          <a:ln w="19050">
            <a:solidFill>
              <a:srgbClr val="0FB5AE">
                <a:alpha val="50000"/>
              </a:srgbClr>
            </a:solidFill>
            <a:prstDash val="solid"/>
          </a:ln>
        </p:spPr>
      </p:sp>
      <p:sp>
        <p:nvSpPr>
          <p:cNvPr id="4" name="Text 2">
            <a:extLst>
              <a:ext uri="{FF2B5EF4-FFF2-40B4-BE49-F238E27FC236}">
                <a16:creationId xmlns:a16="http://schemas.microsoft.com/office/drawing/2014/main" id="{0FE1B387-8B1B-2CDC-D473-466C6853168F}"/>
              </a:ext>
            </a:extLst>
          </p:cNvPr>
          <p:cNvSpPr/>
          <p:nvPr/>
        </p:nvSpPr>
        <p:spPr>
          <a:xfrm>
            <a:off x="0" y="2468880"/>
            <a:ext cx="12191695"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a:extLst>
              <a:ext uri="{FF2B5EF4-FFF2-40B4-BE49-F238E27FC236}">
                <a16:creationId xmlns:a16="http://schemas.microsoft.com/office/drawing/2014/main" id="{0E3F0344-2FB2-F34A-1A32-A4FD1CA12A23}"/>
              </a:ext>
            </a:extLst>
          </p:cNvPr>
          <p:cNvSpPr/>
          <p:nvPr/>
        </p:nvSpPr>
        <p:spPr>
          <a:xfrm>
            <a:off x="1371600" y="3520440"/>
            <a:ext cx="9448495" cy="457200"/>
          </a:xfrm>
          <a:prstGeom prst="rect">
            <a:avLst/>
          </a:prstGeom>
          <a:noFill/>
          <a:ln/>
        </p:spPr>
        <p:txBody>
          <a:bodyPr wrap="square" lIns="0" tIns="0" rIns="0" bIns="0" rtlCol="0" anchor="ctr"/>
          <a:lstStyle/>
          <a:p>
            <a:pPr marL="0" indent="0" algn="ctr">
              <a:buNone/>
            </a:pPr>
            <a:r>
              <a:rPr lang="en-US" sz="1300" i="1" dirty="0">
                <a:solidFill>
                  <a:srgbClr val="B9C2E8"/>
                </a:solidFill>
                <a:latin typeface="Calibri" pitchFamily="34" charset="0"/>
                <a:ea typeface="Calibri" pitchFamily="34" charset="-122"/>
                <a:cs typeface="Calibri" pitchFamily="34" charset="-120"/>
              </a:rPr>
              <a:t>Human Activity Pattern Discovery Using Smartphone Sensor Data — A Comparative Clustering Analysis</a:t>
            </a:r>
            <a:endParaRPr lang="en-US" sz="1300" dirty="0"/>
          </a:p>
        </p:txBody>
      </p:sp>
      <p:sp>
        <p:nvSpPr>
          <p:cNvPr id="6" name="Text 4">
            <a:extLst>
              <a:ext uri="{FF2B5EF4-FFF2-40B4-BE49-F238E27FC236}">
                <a16:creationId xmlns:a16="http://schemas.microsoft.com/office/drawing/2014/main" id="{0D59F7B1-FCD3-288B-1707-FCADA7908144}"/>
              </a:ext>
            </a:extLst>
          </p:cNvPr>
          <p:cNvSpPr/>
          <p:nvPr/>
        </p:nvSpPr>
        <p:spPr>
          <a:xfrm>
            <a:off x="0" y="4297680"/>
            <a:ext cx="12191695" cy="457200"/>
          </a:xfrm>
          <a:prstGeom prst="rect">
            <a:avLst/>
          </a:prstGeom>
          <a:noFill/>
          <a:ln/>
        </p:spPr>
        <p:txBody>
          <a:bodyPr wrap="square" lIns="0" tIns="0" rIns="0" bIns="0" rtlCol="0" anchor="ctr"/>
          <a:lstStyle/>
          <a:p>
            <a:pPr marL="0" indent="0" algn="ctr">
              <a:buNone/>
            </a:pPr>
            <a:r>
              <a:rPr lang="en-US" sz="1400" dirty="0">
                <a:solidFill>
                  <a:srgbClr val="0FB5AE"/>
                </a:solidFill>
                <a:latin typeface="Calibri" pitchFamily="34" charset="0"/>
                <a:ea typeface="Calibri" pitchFamily="34" charset="-122"/>
                <a:cs typeface="Calibri" pitchFamily="34" charset="-120"/>
              </a:rPr>
              <a:t>Questions &amp; Discussion</a:t>
            </a:r>
            <a:endParaRPr lang="en-US" sz="1400" dirty="0"/>
          </a:p>
        </p:txBody>
      </p:sp>
    </p:spTree>
    <p:extLst>
      <p:ext uri="{BB962C8B-B14F-4D97-AF65-F5344CB8AC3E}">
        <p14:creationId xmlns:p14="http://schemas.microsoft.com/office/powerpoint/2010/main" val="2063363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2163</Words>
  <Application>Microsoft Office PowerPoint</Application>
  <PresentationFormat>Widescreen</PresentationFormat>
  <Paragraphs>400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Activity Pattern Discovery Using Smartphone Sensor Data</dc:title>
  <dc:subject>PptxGenJS Presentation</dc:subject>
  <dc:creator>Student Project</dc:creator>
  <cp:lastModifiedBy>Dipanwita</cp:lastModifiedBy>
  <cp:revision>6</cp:revision>
  <dcterms:created xsi:type="dcterms:W3CDTF">2026-06-20T17:58:54Z</dcterms:created>
  <dcterms:modified xsi:type="dcterms:W3CDTF">2026-06-23T06:34:38Z</dcterms:modified>
</cp:coreProperties>
</file>